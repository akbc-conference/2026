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78"/>
  </p:notesMasterIdLst>
  <p:sldIdLst>
    <p:sldId id="589" r:id="rId2"/>
    <p:sldId id="624" r:id="rId3"/>
    <p:sldId id="625" r:id="rId4"/>
    <p:sldId id="623" r:id="rId5"/>
    <p:sldId id="626" r:id="rId6"/>
    <p:sldId id="865" r:id="rId7"/>
    <p:sldId id="873" r:id="rId8"/>
    <p:sldId id="832" r:id="rId9"/>
    <p:sldId id="833" r:id="rId10"/>
    <p:sldId id="874" r:id="rId11"/>
    <p:sldId id="836" r:id="rId12"/>
    <p:sldId id="838" r:id="rId13"/>
    <p:sldId id="840" r:id="rId14"/>
    <p:sldId id="841" r:id="rId15"/>
    <p:sldId id="842" r:id="rId16"/>
    <p:sldId id="843" r:id="rId17"/>
    <p:sldId id="844" r:id="rId18"/>
    <p:sldId id="845" r:id="rId19"/>
    <p:sldId id="846" r:id="rId20"/>
    <p:sldId id="848" r:id="rId21"/>
    <p:sldId id="875" r:id="rId22"/>
    <p:sldId id="628" r:id="rId23"/>
    <p:sldId id="876" r:id="rId24"/>
    <p:sldId id="877" r:id="rId25"/>
    <p:sldId id="632" r:id="rId26"/>
    <p:sldId id="636" r:id="rId27"/>
    <p:sldId id="635" r:id="rId28"/>
    <p:sldId id="631" r:id="rId29"/>
    <p:sldId id="642" r:id="rId30"/>
    <p:sldId id="644" r:id="rId31"/>
    <p:sldId id="643" r:id="rId32"/>
    <p:sldId id="645" r:id="rId33"/>
    <p:sldId id="646" r:id="rId34"/>
    <p:sldId id="649" r:id="rId35"/>
    <p:sldId id="652" r:id="rId36"/>
    <p:sldId id="653" r:id="rId37"/>
    <p:sldId id="650" r:id="rId38"/>
    <p:sldId id="654" r:id="rId39"/>
    <p:sldId id="655" r:id="rId40"/>
    <p:sldId id="656" r:id="rId41"/>
    <p:sldId id="634" r:id="rId42"/>
    <p:sldId id="657" r:id="rId43"/>
    <p:sldId id="658" r:id="rId44"/>
    <p:sldId id="688" r:id="rId45"/>
    <p:sldId id="677" r:id="rId46"/>
    <p:sldId id="660" r:id="rId47"/>
    <p:sldId id="637" r:id="rId48"/>
    <p:sldId id="661" r:id="rId49"/>
    <p:sldId id="662" r:id="rId50"/>
    <p:sldId id="664" r:id="rId51"/>
    <p:sldId id="663" r:id="rId52"/>
    <p:sldId id="665" r:id="rId53"/>
    <p:sldId id="762" r:id="rId54"/>
    <p:sldId id="763" r:id="rId55"/>
    <p:sldId id="764" r:id="rId56"/>
    <p:sldId id="824" r:id="rId57"/>
    <p:sldId id="825" r:id="rId58"/>
    <p:sldId id="770" r:id="rId59"/>
    <p:sldId id="774" r:id="rId60"/>
    <p:sldId id="784" r:id="rId61"/>
    <p:sldId id="826" r:id="rId62"/>
    <p:sldId id="776" r:id="rId63"/>
    <p:sldId id="827" r:id="rId64"/>
    <p:sldId id="676" r:id="rId65"/>
    <p:sldId id="678" r:id="rId66"/>
    <p:sldId id="679" r:id="rId67"/>
    <p:sldId id="828" r:id="rId68"/>
    <p:sldId id="829" r:id="rId69"/>
    <p:sldId id="830" r:id="rId70"/>
    <p:sldId id="831" r:id="rId71"/>
    <p:sldId id="683" r:id="rId72"/>
    <p:sldId id="685" r:id="rId73"/>
    <p:sldId id="684" r:id="rId74"/>
    <p:sldId id="687" r:id="rId75"/>
    <p:sldId id="686" r:id="rId76"/>
    <p:sldId id="538" r:id="rId77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612" userDrawn="1">
          <p15:clr>
            <a:srgbClr val="A4A3A4"/>
          </p15:clr>
        </p15:guide>
        <p15:guide id="3" orient="horz" pos="919">
          <p15:clr>
            <a:srgbClr val="A4A3A4"/>
          </p15:clr>
        </p15:guide>
        <p15:guide id="4" pos="1052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A100"/>
    <a:srgbClr val="FFBF00"/>
    <a:srgbClr val="009EF3"/>
    <a:srgbClr val="2B1A79"/>
    <a:srgbClr val="FFAD00"/>
    <a:srgbClr val="000262"/>
    <a:srgbClr val="D6A64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76497" autoAdjust="0"/>
  </p:normalViewPr>
  <p:slideViewPr>
    <p:cSldViewPr>
      <p:cViewPr varScale="1">
        <p:scale>
          <a:sx n="47" d="100"/>
          <a:sy n="47" d="100"/>
        </p:scale>
        <p:origin x="499" y="53"/>
      </p:cViewPr>
      <p:guideLst>
        <p:guide orient="horz" pos="344"/>
        <p:guide pos="612"/>
        <p:guide orient="horz" pos="919"/>
        <p:guide pos="1052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6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24.10.2026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DD14ED-9F17-3C4B-92FE-F8C6D73CA7E0}" type="slidenum">
              <a:rPr lang="en-US"/>
              <a:pPr/>
              <a:t>1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432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of natural language question answering over knowledge bases (KBQA) has received a lot of interest in recent years. An important aspect of this task for real-world deployment is detecting answerability of questions. This problem arises for KBs due to various reasons, including schema-level and data-level incompleteness of KBs, limited KB scope, questions with false premises, etc. In such cases, a robust and trustworthy model should detect and report that a question is unanswerable, instead of outputting some incorrect answer. Answerability has been explored for different </a:t>
            </a:r>
            <a:r>
              <a:rPr lang="en-US" dirty="0" err="1"/>
              <a:t>qa</a:t>
            </a:r>
            <a:r>
              <a:rPr lang="en-US" dirty="0"/>
              <a:t> tasks such as extractive, conversational, </a:t>
            </a:r>
            <a:r>
              <a:rPr lang="en-US" dirty="0" err="1"/>
              <a:t>boolean</a:t>
            </a:r>
            <a:r>
              <a:rPr lang="en-US" dirty="0"/>
              <a:t> (Y/N) and MCQs (Raina and Gales, 2022). However, there is no existing work on answerability for KBQA. Benchmark KBQA datasets contain only answerable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035D-BD15-49C8-B2C7-F43B9CB8DE01}" type="slidenum"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81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of natural language question answering over knowledge bases (KBQA) has received a lot of interest in recent years. An important aspect of this task for real-world deployment is detecting answerability of questions. This problem arises for KBs due to various reasons, including schema-level and data-level incompleteness of KBs, limited KB scope, questions with false premises, etc. In such cases, a robust and trustworthy model should detect and report that a question is unanswerable, instead of outputting some incorrect answer. Answerability has been explored for different </a:t>
            </a:r>
            <a:r>
              <a:rPr lang="en-US" dirty="0" err="1"/>
              <a:t>qa</a:t>
            </a:r>
            <a:r>
              <a:rPr lang="en-US" dirty="0"/>
              <a:t> tasks such as extractive, conversational, </a:t>
            </a:r>
            <a:r>
              <a:rPr lang="en-US" dirty="0" err="1"/>
              <a:t>boolean</a:t>
            </a:r>
            <a:r>
              <a:rPr lang="en-US" dirty="0"/>
              <a:t> (Y/N) and MCQs (Raina and Gales, 2022). However, there is no existing work on answerability for KBQA. Benchmark KBQA datasets contain only answerable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035D-BD15-49C8-B2C7-F43B9CB8DE01}" type="slidenum"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87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of natural language question answering over knowledge bases (KBQA) has received a lot of interest in recent years. An important aspect of this task for real-world deployment is detecting answerability of questions. This problem arises for KBs due to various reasons, including schema-level and data-level incompleteness of KBs, limited KB scope, questions with false premises, etc. In such cases, a robust and trustworthy model should detect and report that a question is unanswerable, instead of outputting some incorrect answer. Answerability has been explored for different </a:t>
            </a:r>
            <a:r>
              <a:rPr lang="en-US" dirty="0" err="1"/>
              <a:t>qa</a:t>
            </a:r>
            <a:r>
              <a:rPr lang="en-US" dirty="0"/>
              <a:t> tasks such as extractive, conversational, </a:t>
            </a:r>
            <a:r>
              <a:rPr lang="en-US" dirty="0" err="1"/>
              <a:t>boolean</a:t>
            </a:r>
            <a:r>
              <a:rPr lang="en-US" dirty="0"/>
              <a:t> (Y/N) and MCQs (Raina and Gales, 2022). However, there is no existing work on answerability for KBQA. Benchmark KBQA datasets contain only answerable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035D-BD15-49C8-B2C7-F43B9CB8DE01}" type="slidenum"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88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cfad90cd0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cfad90cd0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693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cfad90cd0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cfad90cd0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0567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cfad90cd0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cfad90cd0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878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9c6d9e3c7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9c6d9e3c7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1802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cfad90cd0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cfad90cd0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297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of natural language question answering over knowledge bases (KBQA) has received a lot of interest in recent years. An important aspect of this task for real-world deployment is detecting answerability of questions. This problem arises for KBs due to various reasons, including schema-level and data-level incompleteness of KBs, limited KB scope, questions with false premises, etc. In such cases, a robust and trustworthy model should detect and report that a question is unanswerable, instead of outputting some incorrect answer. Answerability has been explored for different </a:t>
            </a:r>
            <a:r>
              <a:rPr lang="en-US" dirty="0" err="1"/>
              <a:t>qa</a:t>
            </a:r>
            <a:r>
              <a:rPr lang="en-US" dirty="0"/>
              <a:t> tasks such as extractive, conversational, </a:t>
            </a:r>
            <a:r>
              <a:rPr lang="en-US" dirty="0" err="1"/>
              <a:t>boolean</a:t>
            </a:r>
            <a:r>
              <a:rPr lang="en-US" dirty="0"/>
              <a:t> (Y/N) and MCQs (Raina and Gales, 2022). However, there is no existing work on answerability for KBQA. Benchmark KBQA datasets contain only answerable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035D-BD15-49C8-B2C7-F43B9CB8DE01}" type="slidenum"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00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of natural language question answering over knowledge bases (KBQA) has received a lot of interest in recent years. An important aspect of this task for real-world deployment is detecting answerability of questions. This problem arises for KBs due to various reasons, including schema-level and data-level incompleteness of KBs, limited KB scope, questions with false premises, etc. In such cases, a robust and trustworthy model should detect and report that a question is unanswerable, instead of outputting some incorrect answer. Answerability has been explored for different </a:t>
            </a:r>
            <a:r>
              <a:rPr lang="en-US" dirty="0" err="1"/>
              <a:t>qa</a:t>
            </a:r>
            <a:r>
              <a:rPr lang="en-US" dirty="0"/>
              <a:t> tasks such as extractive, conversational, </a:t>
            </a:r>
            <a:r>
              <a:rPr lang="en-US" dirty="0" err="1"/>
              <a:t>boolean</a:t>
            </a:r>
            <a:r>
              <a:rPr lang="en-US" dirty="0"/>
              <a:t> (Y/N) and MCQs (Raina and Gales, 2022). However, there is no existing work on answerability for KBQA. Benchmark KBQA datasets contain only answerable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035D-BD15-49C8-B2C7-F43B9CB8DE01}" type="slidenum"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9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of natural language question answering over knowledge bases (KBQA) has received a lot of interest in recent years. An important aspect of this task for real-world deployment is detecting answerability of questions. This problem arises for KBs due to various reasons, including schema-level and data-level incompleteness of KBs, limited KB scope, questions with false premises, etc. In such cases, a robust and trustworthy model should detect and report that a question is unanswerable, instead of outputting some incorrect answer. Answerability has been explored for different </a:t>
            </a:r>
            <a:r>
              <a:rPr lang="en-US" dirty="0" err="1"/>
              <a:t>qa</a:t>
            </a:r>
            <a:r>
              <a:rPr lang="en-US" dirty="0"/>
              <a:t> tasks such as extractive, conversational, </a:t>
            </a:r>
            <a:r>
              <a:rPr lang="en-US" dirty="0" err="1"/>
              <a:t>boolean</a:t>
            </a:r>
            <a:r>
              <a:rPr lang="en-US" dirty="0"/>
              <a:t> (Y/N) and MCQs (Raina and Gales, 2022). However, there is no existing work on answerability for KBQA. Benchmark KBQA datasets contain only answerable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035D-BD15-49C8-B2C7-F43B9CB8DE01}" type="slidenum"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54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58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9795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59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5991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60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4371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62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3538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</a:t>
            </a:r>
            <a:r>
              <a:rPr lang="en-US" baseline="0" dirty="0"/>
              <a:t> use</a:t>
            </a:r>
            <a:endParaRPr lang="en-US" dirty="0"/>
          </a:p>
          <a:p>
            <a:r>
              <a:rPr lang="en-US" dirty="0"/>
              <a:t>Planning</a:t>
            </a:r>
          </a:p>
          <a:p>
            <a:r>
              <a:rPr lang="en-US" dirty="0"/>
              <a:t>Hallucinations</a:t>
            </a:r>
          </a:p>
          <a:p>
            <a:r>
              <a:rPr lang="en-US" dirty="0"/>
              <a:t>Ethics/Alignment/Personalization</a:t>
            </a:r>
          </a:p>
          <a:p>
            <a:r>
              <a:rPr lang="en-US" dirty="0" err="1"/>
              <a:t>Agentic</a:t>
            </a:r>
            <a:r>
              <a:rPr lang="en-US" dirty="0"/>
              <a:t> architectures</a:t>
            </a:r>
          </a:p>
          <a:p>
            <a:r>
              <a:rPr lang="en-US" dirty="0"/>
              <a:t>Low-resource</a:t>
            </a:r>
            <a:r>
              <a:rPr lang="en-US" baseline="0" dirty="0"/>
              <a:t> languages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76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1409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0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6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6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7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084" y="-8493"/>
            <a:ext cx="1126570" cy="11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9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084" y="-8493"/>
            <a:ext cx="1126570" cy="11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6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084" y="-8493"/>
            <a:ext cx="1126570" cy="11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7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8" y="74583"/>
            <a:ext cx="1090835" cy="109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7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8" y="74583"/>
            <a:ext cx="1090835" cy="109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0" y="10480523"/>
            <a:ext cx="19010313" cy="212877"/>
            <a:chOff x="0" y="1751425"/>
            <a:chExt cx="19042416" cy="745579"/>
          </a:xfrm>
        </p:grpSpPr>
        <p:sp>
          <p:nvSpPr>
            <p:cNvPr id="26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8" y="74583"/>
            <a:ext cx="1090835" cy="109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0" y="10376045"/>
            <a:ext cx="19010313" cy="317355"/>
            <a:chOff x="0" y="1751425"/>
            <a:chExt cx="19042416" cy="745579"/>
          </a:xfrm>
        </p:grpSpPr>
        <p:sp>
          <p:nvSpPr>
            <p:cNvPr id="20" name="object 2"/>
            <p:cNvSpPr/>
            <p:nvPr/>
          </p:nvSpPr>
          <p:spPr>
            <a:xfrm flipH="1">
              <a:off x="14260144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D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 flipH="1">
              <a:off x="9509975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02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3"/>
            <p:cNvSpPr/>
            <p:nvPr/>
          </p:nvSpPr>
          <p:spPr>
            <a:xfrm>
              <a:off x="4750169" y="1751425"/>
              <a:ext cx="4759806" cy="745579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0" y="1751425"/>
              <a:ext cx="4782272" cy="745579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B1A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48022" y="925213"/>
            <a:ext cx="17714269" cy="1190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48022" y="2396010"/>
            <a:ext cx="17714269" cy="7102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950519" lvl="0" indent="-7128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901038" lvl="1" indent="-66008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851556" lvl="2" indent="-66008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802075" lvl="3" indent="-66008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752594" lvl="4" indent="-66008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5703113" lvl="5" indent="-66008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6653632" lvl="6" indent="-66008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7604150" lvl="7" indent="-66008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8554669" lvl="8" indent="-66008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7614182" y="9694886"/>
            <a:ext cx="1140744" cy="8182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918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48022" y="925213"/>
            <a:ext cx="17714269" cy="1190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48022" y="2396010"/>
            <a:ext cx="8315765" cy="7102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950519" lvl="0" indent="-66008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911"/>
            </a:lvl1pPr>
            <a:lvl2pPr marL="1901038" lvl="1" indent="-63367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495"/>
            </a:lvl2pPr>
            <a:lvl3pPr marL="2851556" lvl="2" indent="-63367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495"/>
            </a:lvl3pPr>
            <a:lvl4pPr marL="3802075" lvl="3" indent="-63367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495"/>
            </a:lvl4pPr>
            <a:lvl5pPr marL="4752594" lvl="4" indent="-63367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495"/>
            </a:lvl5pPr>
            <a:lvl6pPr marL="5703113" lvl="5" indent="-63367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495"/>
            </a:lvl6pPr>
            <a:lvl7pPr marL="6653632" lvl="6" indent="-63367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495"/>
            </a:lvl7pPr>
            <a:lvl8pPr marL="7604150" lvl="7" indent="-63367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495"/>
            </a:lvl8pPr>
            <a:lvl9pPr marL="8554669" lvl="8" indent="-63367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495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0046526" y="2396010"/>
            <a:ext cx="8315765" cy="7102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950519" lvl="0" indent="-66008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911"/>
            </a:lvl1pPr>
            <a:lvl2pPr marL="1901038" lvl="1" indent="-63367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495"/>
            </a:lvl2pPr>
            <a:lvl3pPr marL="2851556" lvl="2" indent="-63367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495"/>
            </a:lvl3pPr>
            <a:lvl4pPr marL="3802075" lvl="3" indent="-63367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495"/>
            </a:lvl4pPr>
            <a:lvl5pPr marL="4752594" lvl="4" indent="-63367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495"/>
            </a:lvl5pPr>
            <a:lvl6pPr marL="5703113" lvl="5" indent="-63367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495"/>
            </a:lvl6pPr>
            <a:lvl7pPr marL="6653632" lvl="6" indent="-63367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495"/>
            </a:lvl7pPr>
            <a:lvl8pPr marL="7604150" lvl="7" indent="-63367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495"/>
            </a:lvl8pPr>
            <a:lvl9pPr marL="8554669" lvl="8" indent="-63367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495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7614182" y="9694886"/>
            <a:ext cx="1140744" cy="8182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537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1465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394372"/>
            <a:ext cx="16396395" cy="7237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81.png"/><Relationship Id="rId4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11" Type="http://schemas.openxmlformats.org/officeDocument/2006/relationships/image" Target="../media/image32.png"/><Relationship Id="rId5" Type="http://schemas.openxmlformats.org/officeDocument/2006/relationships/image" Target="../media/image25.jpe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" y="4752628"/>
            <a:ext cx="19010313" cy="5202584"/>
          </a:xfrm>
        </p:spPr>
        <p:txBody>
          <a:bodyPr>
            <a:normAutofit/>
          </a:bodyPr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>
              <a:spcAft>
                <a:spcPts val="1247"/>
              </a:spcAft>
            </a:pPr>
            <a:r>
              <a:rPr lang="en-US" sz="6653" dirty="0">
                <a:solidFill>
                  <a:srgbClr val="C00000"/>
                </a:solidFill>
                <a:latin typeface="Calibri" charset="0"/>
              </a:rPr>
              <a:t>Mausam</a:t>
            </a:r>
          </a:p>
          <a:p>
            <a:pPr>
              <a:spcAft>
                <a:spcPts val="1247"/>
              </a:spcAft>
            </a:pPr>
            <a:r>
              <a:rPr lang="en-US" sz="4800" dirty="0">
                <a:latin typeface="Calibri" charset="0"/>
              </a:rPr>
              <a:t>IIT Delhi</a:t>
            </a:r>
          </a:p>
          <a:p>
            <a:pPr>
              <a:spcAft>
                <a:spcPts val="1247"/>
              </a:spcAft>
            </a:pPr>
            <a:r>
              <a:rPr lang="en-US" sz="3600" dirty="0">
                <a:latin typeface="Calibri" charset="0"/>
              </a:rPr>
              <a:t>Joint work with Indrajit Bhattacharya, Daniel </a:t>
            </a:r>
            <a:r>
              <a:rPr lang="en-US" sz="3600" dirty="0" err="1">
                <a:latin typeface="Calibri" charset="0"/>
              </a:rPr>
              <a:t>Preotiuc</a:t>
            </a:r>
            <a:r>
              <a:rPr lang="en-US" sz="3600" dirty="0">
                <a:latin typeface="Calibri" charset="0"/>
              </a:rPr>
              <a:t>-Pietro</a:t>
            </a:r>
            <a:br>
              <a:rPr lang="en-US" sz="3600" dirty="0">
                <a:latin typeface="Calibri" charset="0"/>
              </a:rPr>
            </a:br>
            <a:r>
              <a:rPr lang="en-US" sz="3600" dirty="0">
                <a:latin typeface="Calibri" charset="0"/>
              </a:rPr>
              <a:t>Prayushi Faldu, Mounica Maddela, Mayur Patidar, Riya Sawhney, </a:t>
            </a:r>
            <a:r>
              <a:rPr lang="en-US" sz="3600" dirty="0" err="1">
                <a:latin typeface="Calibri" charset="0"/>
              </a:rPr>
              <a:t>Lingjue</a:t>
            </a:r>
            <a:r>
              <a:rPr lang="en-US" sz="3600" dirty="0">
                <a:latin typeface="Calibri" charset="0"/>
              </a:rPr>
              <a:t> Xie,  </a:t>
            </a:r>
            <a:br>
              <a:rPr lang="en-US" sz="3600" dirty="0">
                <a:latin typeface="Calibri" charset="0"/>
              </a:rPr>
            </a:br>
            <a:r>
              <a:rPr lang="en-US" sz="3600" dirty="0">
                <a:latin typeface="Calibri" charset="0"/>
              </a:rPr>
              <a:t>Biswajit Chatterjee, Avinash Singh, Lovekesh Vig, Samrat Yadav.</a:t>
            </a:r>
            <a:endParaRPr lang="en-US" sz="4400" dirty="0">
              <a:latin typeface="Calibri" charset="0"/>
            </a:endParaRPr>
          </a:p>
          <a:p>
            <a:pPr>
              <a:spcAft>
                <a:spcPts val="1247"/>
              </a:spcAft>
            </a:pPr>
            <a:endParaRPr lang="en-US" sz="4800" dirty="0">
              <a:latin typeface="Calibri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495153"/>
            <a:ext cx="19010313" cy="2376289"/>
          </a:xfrm>
        </p:spPr>
        <p:txBody>
          <a:bodyPr>
            <a:normAutofit/>
          </a:bodyPr>
          <a:lstStyle/>
          <a:p>
            <a:r>
              <a:rPr lang="en-US" sz="6700" dirty="0"/>
              <a:t>Semantic Parsing for KBQA: </a:t>
            </a:r>
            <a:br>
              <a:rPr lang="en-US" sz="6700" dirty="0"/>
            </a:br>
            <a:r>
              <a:rPr lang="en-US" sz="6700" dirty="0"/>
              <a:t>Robustness, Reasoning &amp; Efficiency</a:t>
            </a:r>
            <a:endParaRPr sz="73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3410" y="0"/>
            <a:ext cx="1924219" cy="189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5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Conversational AI: Information at our Finger Tips!</a:t>
            </a:r>
            <a:endParaRPr lang="en-IN" dirty="0"/>
          </a:p>
        </p:txBody>
      </p:sp>
      <p:grpSp>
        <p:nvGrpSpPr>
          <p:cNvPr id="14" name="Group 13"/>
          <p:cNvGrpSpPr/>
          <p:nvPr/>
        </p:nvGrpSpPr>
        <p:grpSpPr>
          <a:xfrm>
            <a:off x="4608612" y="3834532"/>
            <a:ext cx="4395201" cy="4270053"/>
            <a:chOff x="6120780" y="3402484"/>
            <a:chExt cx="4395201" cy="4270053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0780" y="3402484"/>
              <a:ext cx="2230452" cy="217514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2085" y="5490716"/>
              <a:ext cx="2189148" cy="21336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1233" y="3406552"/>
              <a:ext cx="2164748" cy="2171081"/>
            </a:xfrm>
            <a:prstGeom prst="rect">
              <a:avLst/>
            </a:prstGeom>
          </p:spPr>
        </p:pic>
        <p:pic>
          <p:nvPicPr>
            <p:cNvPr id="13" name="Picture 2" descr="Google Gemini icon PNG and SVG Vector Free Downloa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856" y="5529412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9BDD0D-88BD-AD41-7AED-F9B738D67275}"/>
              </a:ext>
            </a:extLst>
          </p:cNvPr>
          <p:cNvSpPr txBox="1"/>
          <p:nvPr/>
        </p:nvSpPr>
        <p:spPr>
          <a:xfrm>
            <a:off x="10545356" y="3831850"/>
            <a:ext cx="771268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rgbClr val="3333FF"/>
                </a:solidFill>
              </a:rPr>
              <a:t>QA Paradigms</a:t>
            </a:r>
          </a:p>
          <a:p>
            <a:endParaRPr lang="en-IN" sz="4800" dirty="0"/>
          </a:p>
          <a:p>
            <a:pPr marL="285750" indent="-285750">
              <a:buFontTx/>
              <a:buChar char="-"/>
            </a:pPr>
            <a:r>
              <a:rPr lang="en-IN" sz="4800" dirty="0"/>
              <a:t>Parametric knowledge</a:t>
            </a:r>
          </a:p>
          <a:p>
            <a:pPr marL="285750" indent="-285750">
              <a:buFontTx/>
              <a:buChar char="-"/>
            </a:pPr>
            <a:r>
              <a:rPr lang="en-IN" sz="4800" dirty="0"/>
              <a:t>RAG over textual corpus</a:t>
            </a:r>
          </a:p>
          <a:p>
            <a:pPr marL="285750" indent="-285750">
              <a:buFontTx/>
              <a:buChar char="-"/>
            </a:pPr>
            <a:r>
              <a:rPr lang="en-IN" sz="4800" dirty="0"/>
              <a:t>Semantic Parsing over KB/DB</a:t>
            </a:r>
          </a:p>
        </p:txBody>
      </p:sp>
    </p:spTree>
    <p:extLst>
      <p:ext uri="{BB962C8B-B14F-4D97-AF65-F5344CB8AC3E}">
        <p14:creationId xmlns:p14="http://schemas.microsoft.com/office/powerpoint/2010/main" val="210175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Paradigms of Information-Seeking Conversational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0502453" cy="7237115"/>
          </a:xfrm>
        </p:spPr>
        <p:txBody>
          <a:bodyPr/>
          <a:lstStyle/>
          <a:p>
            <a:r>
              <a:rPr lang="en-US" dirty="0">
                <a:solidFill>
                  <a:srgbClr val="3333FF"/>
                </a:solidFill>
              </a:rPr>
              <a:t>LLM as a Know-It-All</a:t>
            </a:r>
            <a:endParaRPr lang="en-IN" dirty="0">
              <a:solidFill>
                <a:srgbClr val="3333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387676" y="3402484"/>
            <a:ext cx="3205712" cy="3096344"/>
            <a:chOff x="6120780" y="3402484"/>
            <a:chExt cx="4395201" cy="427005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0780" y="3402484"/>
              <a:ext cx="2230452" cy="217514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2085" y="5490716"/>
              <a:ext cx="2189148" cy="2133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1233" y="3406552"/>
              <a:ext cx="2164748" cy="2171081"/>
            </a:xfrm>
            <a:prstGeom prst="rect">
              <a:avLst/>
            </a:prstGeom>
          </p:spPr>
        </p:pic>
        <p:pic>
          <p:nvPicPr>
            <p:cNvPr id="9" name="Picture 2" descr="Google Gemini icon PNG and SVG Vector Free Downloa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856" y="5529412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6155428" y="4266580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6155428" y="5922764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1237" y="3546500"/>
            <a:ext cx="49895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What papers has Chris Manning written in EMNLP?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140" y="5130676"/>
            <a:ext cx="69127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/>
              <a:t>Here are a few notable papers by Chris Manning in EMNLP:</a:t>
            </a:r>
          </a:p>
          <a:p>
            <a:endParaRPr lang="en-US" sz="3200" i="1" dirty="0"/>
          </a:p>
          <a:p>
            <a:r>
              <a:rPr lang="en-US" sz="3200" i="1" dirty="0"/>
              <a:t>** Lookup-</a:t>
            </a:r>
            <a:r>
              <a:rPr lang="en-US" sz="3200" i="1" dirty="0" err="1"/>
              <a:t>Basedicens</a:t>
            </a:r>
            <a:r>
              <a:rPr lang="en-US" sz="3200" i="1" dirty="0"/>
              <a:t> : A Framework for Compositional Vector Representations** (2014) - This paper introduced the concept of lookup-based compositional vector representations, which has had a significant impact on NLP research.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3318693" y="2830984"/>
            <a:ext cx="55714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333FF"/>
                </a:solidFill>
              </a:rPr>
              <a:t>Knowledge in LLM Parameters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2313468" y="4050184"/>
            <a:ext cx="6432559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600" dirty="0"/>
              <a:t>humongous models</a:t>
            </a:r>
          </a:p>
          <a:p>
            <a:pPr lvl="1"/>
            <a:r>
              <a:rPr lang="en-US" sz="3600" dirty="0"/>
              <a:t>difficult to add/delete info</a:t>
            </a:r>
          </a:p>
          <a:p>
            <a:pPr lvl="1"/>
            <a:r>
              <a:rPr lang="en-US" sz="3600" dirty="0"/>
              <a:t>hallucinations</a:t>
            </a:r>
          </a:p>
          <a:p>
            <a:pPr lvl="1"/>
            <a:r>
              <a:rPr lang="en-US" sz="3600" dirty="0"/>
              <a:t>proprietary data</a:t>
            </a:r>
          </a:p>
          <a:p>
            <a:pPr lvl="1"/>
            <a:r>
              <a:rPr lang="en-US" sz="3600" dirty="0"/>
              <a:t>no provenance</a:t>
            </a:r>
          </a:p>
          <a:p>
            <a:pPr lvl="1"/>
            <a:r>
              <a:rPr lang="en-US" sz="3600" dirty="0"/>
              <a:t>good for popular info</a:t>
            </a:r>
          </a:p>
          <a:p>
            <a:pPr lvl="1"/>
            <a:r>
              <a:rPr lang="en-US" sz="3600" dirty="0"/>
              <a:t>less computation at test</a:t>
            </a:r>
          </a:p>
          <a:p>
            <a:pPr lvl="1"/>
            <a:r>
              <a:rPr lang="en-US" sz="3600" dirty="0"/>
              <a:t>one model for everything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616" y="4191117"/>
            <a:ext cx="385762" cy="38576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4744914"/>
            <a:ext cx="385762" cy="3857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5320978"/>
            <a:ext cx="385762" cy="3857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5969050"/>
            <a:ext cx="385762" cy="38576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6545114"/>
            <a:ext cx="385762" cy="38576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146528"/>
            <a:ext cx="385762" cy="38404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698956"/>
            <a:ext cx="385762" cy="3840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8299028"/>
            <a:ext cx="385762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Paradigms of Information-Seeking Conversational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0502453" cy="7237115"/>
          </a:xfrm>
        </p:spPr>
        <p:txBody>
          <a:bodyPr/>
          <a:lstStyle/>
          <a:p>
            <a:r>
              <a:rPr lang="en-US" dirty="0">
                <a:solidFill>
                  <a:srgbClr val="3333FF"/>
                </a:solidFill>
              </a:rPr>
              <a:t>LLM as an inference engine over context (RAG)</a:t>
            </a:r>
            <a:endParaRPr lang="en-IN" dirty="0">
              <a:solidFill>
                <a:srgbClr val="3333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387676" y="3402484"/>
            <a:ext cx="3205712" cy="3096344"/>
            <a:chOff x="6120780" y="3402484"/>
            <a:chExt cx="4395201" cy="427005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0780" y="3402484"/>
              <a:ext cx="2230452" cy="217514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2085" y="5490716"/>
              <a:ext cx="2189148" cy="2133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1233" y="3406552"/>
              <a:ext cx="2164748" cy="2171081"/>
            </a:xfrm>
            <a:prstGeom prst="rect">
              <a:avLst/>
            </a:prstGeom>
          </p:spPr>
        </p:pic>
        <p:pic>
          <p:nvPicPr>
            <p:cNvPr id="9" name="Picture 2" descr="Google Gemini icon PNG and SVG Vector Free Downloa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856" y="5529412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6155428" y="4266580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6155428" y="5922764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1237" y="3546500"/>
            <a:ext cx="49895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What papers has Chris Manning written in EMNLP?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140" y="5130676"/>
            <a:ext cx="69127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/>
              <a:t>Here are a few notable papers by Chris Manning in EMNLP:</a:t>
            </a:r>
          </a:p>
          <a:p>
            <a:endParaRPr lang="en-US" sz="3200" i="1" dirty="0"/>
          </a:p>
          <a:p>
            <a:r>
              <a:rPr lang="en-US" sz="3200" i="1" dirty="0"/>
              <a:t>** </a:t>
            </a:r>
            <a:r>
              <a:rPr lang="en-US" sz="3200" i="1" dirty="0" err="1"/>
              <a:t>GloVe</a:t>
            </a:r>
            <a:r>
              <a:rPr lang="en-US" sz="3200" i="1" dirty="0"/>
              <a:t>: Global Vectors for Word Representation** (2014) </a:t>
            </a:r>
          </a:p>
          <a:p>
            <a:endParaRPr lang="en-US" sz="3200" i="1" dirty="0"/>
          </a:p>
          <a:p>
            <a:r>
              <a:rPr lang="en-US" sz="3200" i="1" dirty="0"/>
              <a:t>** </a:t>
            </a:r>
            <a:r>
              <a:rPr lang="en-US" sz="3200" i="1" dirty="0" err="1"/>
              <a:t>HotpotQA</a:t>
            </a:r>
            <a:r>
              <a:rPr lang="en-US" sz="3200" i="1" dirty="0"/>
              <a:t>: A dataset for diverse, explainable multi-hop question answering ** (2018)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3318693" y="2830984"/>
            <a:ext cx="55714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3333FF"/>
                </a:solidFill>
              </a:rPr>
              <a:t>Knowledge in Corpus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2313468" y="4050184"/>
            <a:ext cx="684076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600" dirty="0"/>
              <a:t>very slow at test time</a:t>
            </a:r>
          </a:p>
          <a:p>
            <a:pPr lvl="1"/>
            <a:r>
              <a:rPr lang="en-US" sz="3600" dirty="0"/>
              <a:t>~difficult to add/delete info</a:t>
            </a:r>
          </a:p>
          <a:p>
            <a:pPr lvl="1"/>
            <a:r>
              <a:rPr lang="en-US" sz="3600" dirty="0"/>
              <a:t>errors multiply</a:t>
            </a:r>
          </a:p>
          <a:p>
            <a:pPr lvl="1"/>
            <a:r>
              <a:rPr lang="en-US" sz="3600" dirty="0"/>
              <a:t>context length issues</a:t>
            </a:r>
          </a:p>
          <a:p>
            <a:pPr lvl="1"/>
            <a:r>
              <a:rPr lang="en-US" sz="3600" dirty="0"/>
              <a:t>some hallucinations stay</a:t>
            </a:r>
          </a:p>
          <a:p>
            <a:pPr lvl="1"/>
            <a:r>
              <a:rPr lang="en-US" sz="3600" dirty="0"/>
              <a:t>provenance</a:t>
            </a:r>
          </a:p>
          <a:p>
            <a:pPr lvl="1"/>
            <a:r>
              <a:rPr lang="en-US" sz="3600" dirty="0"/>
              <a:t>proprietary data</a:t>
            </a:r>
          </a:p>
          <a:p>
            <a:pPr lvl="1"/>
            <a:r>
              <a:rPr lang="en-US" sz="3600" dirty="0"/>
              <a:t>one arch. for everything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616" y="4191117"/>
            <a:ext cx="385762" cy="38576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4744914"/>
            <a:ext cx="385762" cy="3857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5320978"/>
            <a:ext cx="385762" cy="3857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5969050"/>
            <a:ext cx="385762" cy="38576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698956"/>
            <a:ext cx="385762" cy="38404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8275020"/>
            <a:ext cx="385762" cy="384048"/>
          </a:xfrm>
          <a:prstGeom prst="rect">
            <a:avLst/>
          </a:prstGeom>
        </p:spPr>
      </p:pic>
      <p:sp>
        <p:nvSpPr>
          <p:cNvPr id="23" name="Line 5"/>
          <p:cNvSpPr>
            <a:spLocks noChangeShapeType="1"/>
          </p:cNvSpPr>
          <p:nvPr/>
        </p:nvSpPr>
        <p:spPr bwMode="auto">
          <a:xfrm flipV="1">
            <a:off x="9361140" y="6498828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AutoShape 2" descr="What is the world wide web(www) | Motiv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3108" y="8738480"/>
            <a:ext cx="1615228" cy="1551689"/>
          </a:xfrm>
          <a:prstGeom prst="rect">
            <a:avLst/>
          </a:prstGeom>
        </p:spPr>
      </p:pic>
      <p:sp>
        <p:nvSpPr>
          <p:cNvPr id="26" name="Line 5"/>
          <p:cNvSpPr>
            <a:spLocks noChangeShapeType="1"/>
          </p:cNvSpPr>
          <p:nvPr/>
        </p:nvSpPr>
        <p:spPr bwMode="auto">
          <a:xfrm flipV="1">
            <a:off x="10513268" y="6498828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146900"/>
            <a:ext cx="385762" cy="38404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1539" y="6489055"/>
            <a:ext cx="493439" cy="51382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203843" y="7146900"/>
            <a:ext cx="13786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query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135" y="7145703"/>
            <a:ext cx="22250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documents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0533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/>
      <p:bldP spid="15" grpId="0"/>
      <p:bldP spid="23" grpId="0" animBg="1"/>
      <p:bldP spid="26" grpId="0" animBg="1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Value of Semantic Parsing for QA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0502453" cy="7237115"/>
          </a:xfrm>
        </p:spPr>
        <p:txBody>
          <a:bodyPr/>
          <a:lstStyle/>
          <a:p>
            <a:r>
              <a:rPr lang="en-US" dirty="0">
                <a:solidFill>
                  <a:srgbClr val="3333FF"/>
                </a:solidFill>
              </a:rPr>
              <a:t>LM as a semantic parser (KBQA, Text2SQL..)</a:t>
            </a:r>
            <a:endParaRPr lang="en-IN" dirty="0">
              <a:solidFill>
                <a:srgbClr val="3333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387676" y="3402484"/>
            <a:ext cx="3205712" cy="3096344"/>
            <a:chOff x="6120780" y="3402484"/>
            <a:chExt cx="4395201" cy="427005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0780" y="3402484"/>
              <a:ext cx="2230452" cy="217514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2085" y="5490716"/>
              <a:ext cx="2189148" cy="2133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1233" y="3406552"/>
              <a:ext cx="2164748" cy="2171081"/>
            </a:xfrm>
            <a:prstGeom prst="rect">
              <a:avLst/>
            </a:prstGeom>
          </p:spPr>
        </p:pic>
        <p:pic>
          <p:nvPicPr>
            <p:cNvPr id="9" name="Picture 2" descr="Google Gemini icon PNG and SVG Vector Free Downloa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856" y="5529412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6155428" y="4266580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1237" y="3546500"/>
            <a:ext cx="49895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What papers has Chris Manning written in EMNLP?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140" y="5130676"/>
            <a:ext cx="69127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/>
              <a:t>** </a:t>
            </a:r>
            <a:r>
              <a:rPr lang="en-US" sz="3200" i="1" dirty="0" err="1"/>
              <a:t>GloVe</a:t>
            </a:r>
            <a:r>
              <a:rPr lang="en-US" sz="3200" i="1" dirty="0"/>
              <a:t>: Global Vectors for Word Representation** (2014) </a:t>
            </a:r>
          </a:p>
          <a:p>
            <a:endParaRPr lang="en-US" sz="3200" i="1" dirty="0"/>
          </a:p>
          <a:p>
            <a:r>
              <a:rPr lang="en-US" sz="3200" i="1" dirty="0"/>
              <a:t>** </a:t>
            </a:r>
            <a:r>
              <a:rPr lang="en-US" sz="3200" i="1" dirty="0" err="1"/>
              <a:t>HotpotQA</a:t>
            </a:r>
            <a:r>
              <a:rPr lang="en-US" sz="3200" i="1" dirty="0"/>
              <a:t>: A dataset for diverse, explainable multi-hop question answering ** (2018)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3318693" y="2830984"/>
            <a:ext cx="55714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3333FF"/>
                </a:solidFill>
              </a:rPr>
              <a:t>Knowledge in KB/DB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/>
              <p:cNvSpPr txBox="1">
                <a:spLocks/>
              </p:cNvSpPr>
              <p:nvPr/>
            </p:nvSpPr>
            <p:spPr>
              <a:xfrm>
                <a:off x="12313468" y="4050184"/>
                <a:ext cx="684076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56433" indent="-356433" algn="l" defTabSz="1425732" rtl="0" eaLnBrk="1" latinLnBrk="0" hangingPunct="1">
                  <a:lnSpc>
                    <a:spcPct val="90000"/>
                  </a:lnSpc>
                  <a:spcBef>
                    <a:spcPts val="1559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069299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782166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95032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207898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920764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633631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46497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59363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sz="3600" dirty="0"/>
                  <a:t>limited applicability</a:t>
                </a:r>
              </a:p>
              <a:p>
                <a:pPr lvl="1"/>
                <a:r>
                  <a:rPr lang="en-US" sz="3600" dirty="0"/>
                  <a:t>domain-specific training data</a:t>
                </a:r>
              </a:p>
              <a:p>
                <a:pPr lvl="1"/>
                <a:r>
                  <a:rPr lang="en-US" sz="3600" dirty="0"/>
                  <a:t>hallucinatory if </a:t>
                </a:r>
                <a:r>
                  <a:rPr lang="en-US" sz="3600" dirty="0" err="1"/>
                  <a:t>ans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KB</a:t>
                </a:r>
              </a:p>
              <a:p>
                <a:pPr lvl="1"/>
                <a:r>
                  <a:rPr lang="en-US" sz="3600" dirty="0"/>
                  <a:t>models can be lightweight</a:t>
                </a:r>
              </a:p>
              <a:p>
                <a:pPr lvl="1"/>
                <a:r>
                  <a:rPr lang="en-US" sz="3600" dirty="0"/>
                  <a:t>fast at test time</a:t>
                </a:r>
              </a:p>
              <a:p>
                <a:pPr lvl="1"/>
                <a:r>
                  <a:rPr lang="en-US" sz="3600" dirty="0"/>
                  <a:t>real-time data updates</a:t>
                </a:r>
              </a:p>
              <a:p>
                <a:pPr lvl="1"/>
                <a:r>
                  <a:rPr lang="en-US" sz="3600" dirty="0"/>
                  <a:t>provenance</a:t>
                </a:r>
              </a:p>
              <a:p>
                <a:pPr lvl="1"/>
                <a:r>
                  <a:rPr lang="en-US" sz="3600" dirty="0"/>
                  <a:t>proprietary data</a:t>
                </a:r>
              </a:p>
            </p:txBody>
          </p:sp>
        </mc:Choice>
        <mc:Fallback xmlns="">
          <p:sp>
            <p:nvSpPr>
              <p:cNvPr id="1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3468" y="4050184"/>
                <a:ext cx="6840760" cy="4525963"/>
              </a:xfrm>
              <a:prstGeom prst="rect">
                <a:avLst/>
              </a:prstGeom>
              <a:blipFill rotWithShape="0">
                <a:blip r:embed="rId10"/>
                <a:stretch>
                  <a:fillRect t="-3230" b="-10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616" y="4191117"/>
            <a:ext cx="385762" cy="3857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4770636"/>
            <a:ext cx="385762" cy="38576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8324750"/>
            <a:ext cx="385762" cy="384048"/>
          </a:xfrm>
          <a:prstGeom prst="rect">
            <a:avLst/>
          </a:prstGeom>
        </p:spPr>
      </p:pic>
      <p:sp>
        <p:nvSpPr>
          <p:cNvPr id="23" name="Line 5"/>
          <p:cNvSpPr>
            <a:spLocks noChangeShapeType="1"/>
          </p:cNvSpPr>
          <p:nvPr/>
        </p:nvSpPr>
        <p:spPr bwMode="auto">
          <a:xfrm flipV="1">
            <a:off x="9577164" y="6498828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AutoShape 2" descr="What is the world wide web(www) | Motiv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772694"/>
            <a:ext cx="385762" cy="38404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64996" y="7146900"/>
            <a:ext cx="13786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logical</a:t>
            </a:r>
          </a:p>
          <a:p>
            <a:r>
              <a:rPr lang="en-US" sz="3200" dirty="0"/>
              <a:t>form</a:t>
            </a:r>
            <a:endParaRPr lang="en-IN" sz="32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196630"/>
            <a:ext cx="385762" cy="38404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6596558"/>
            <a:ext cx="385762" cy="38404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6020494"/>
            <a:ext cx="385762" cy="3840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9370" y="8593261"/>
            <a:ext cx="1945946" cy="156829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61539" y="5300414"/>
            <a:ext cx="493439" cy="513829"/>
          </a:xfrm>
          <a:prstGeom prst="rect">
            <a:avLst/>
          </a:prstGeom>
        </p:spPr>
      </p:pic>
      <p:sp>
        <p:nvSpPr>
          <p:cNvPr id="36" name="Line 5"/>
          <p:cNvSpPr>
            <a:spLocks noChangeShapeType="1"/>
          </p:cNvSpPr>
          <p:nvPr/>
        </p:nvSpPr>
        <p:spPr bwMode="auto">
          <a:xfrm flipV="1">
            <a:off x="10297244" y="6426820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358788" y="7146900"/>
            <a:ext cx="16263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answers</a:t>
            </a:r>
            <a:endParaRPr lang="en-IN" sz="3200" dirty="0"/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6192788" y="5778748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B8704-A568-F786-2702-0758D475F871}"/>
              </a:ext>
            </a:extLst>
          </p:cNvPr>
          <p:cNvSpPr/>
          <p:nvPr/>
        </p:nvSpPr>
        <p:spPr>
          <a:xfrm>
            <a:off x="12793591" y="4050184"/>
            <a:ext cx="6144613" cy="176405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88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3" grpId="0" animBg="1"/>
      <p:bldP spid="29" grpId="0"/>
      <p:bldP spid="36" grpId="0" animBg="1"/>
      <p:bldP spid="37" grpId="0"/>
      <p:bldP spid="38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97F9-B7A6-72D2-1A98-11FAC01F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96BC-C165-987A-79E3-4733BC165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Studies in Semantic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BA4DF-A390-A38B-4031-4C3440A95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Reasoning: </a:t>
            </a:r>
            <a:r>
              <a:rPr lang="en-IN" dirty="0"/>
              <a:t>Answering complex analytical reasoning questions</a:t>
            </a:r>
            <a:endParaRPr lang="en-US" dirty="0"/>
          </a:p>
          <a:p>
            <a:pPr marL="712866" lvl="1" indent="0">
              <a:buNone/>
            </a:pPr>
            <a:endParaRPr lang="en-US" dirty="0"/>
          </a:p>
          <a:p>
            <a:r>
              <a:rPr lang="en-IN" dirty="0">
                <a:solidFill>
                  <a:srgbClr val="3333FF"/>
                </a:solidFill>
              </a:rPr>
              <a:t>Robustness: </a:t>
            </a:r>
            <a:r>
              <a:rPr lang="en-IN" dirty="0"/>
              <a:t>Handling unanswerable questions</a:t>
            </a:r>
          </a:p>
          <a:p>
            <a:endParaRPr lang="en-IN" dirty="0"/>
          </a:p>
          <a:p>
            <a:r>
              <a:rPr lang="en-IN" dirty="0">
                <a:solidFill>
                  <a:srgbClr val="3333FF"/>
                </a:solidFill>
              </a:rPr>
              <a:t>Transfer Learning: </a:t>
            </a:r>
            <a:r>
              <a:rPr lang="en-IN" dirty="0"/>
              <a:t>Limited training data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41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F923-317D-6CD3-4C27-AEDD3CC0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1B1A-F571-555B-D2CD-D8883A60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Studies in Semantic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AE04A-FCDF-999C-3C47-3FA98F790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Reasoning: </a:t>
            </a:r>
            <a:r>
              <a:rPr lang="en-IN" dirty="0">
                <a:solidFill>
                  <a:srgbClr val="3333FF"/>
                </a:solidFill>
              </a:rPr>
              <a:t>Answering complex analytical reasoning questions</a:t>
            </a:r>
            <a:endParaRPr lang="en-US" dirty="0">
              <a:solidFill>
                <a:srgbClr val="3333FF"/>
              </a:solidFill>
            </a:endParaRPr>
          </a:p>
          <a:p>
            <a:pPr marL="712866" lvl="1" indent="0">
              <a:buNone/>
            </a:pPr>
            <a:endParaRPr lang="en-US" dirty="0"/>
          </a:p>
          <a:p>
            <a:r>
              <a:rPr lang="en-IN" dirty="0"/>
              <a:t>Robustness: Handling unanswerable questions</a:t>
            </a:r>
          </a:p>
          <a:p>
            <a:endParaRPr lang="en-IN" dirty="0"/>
          </a:p>
          <a:p>
            <a:r>
              <a:rPr lang="en-IN" dirty="0"/>
              <a:t>Transfer Learning: Limited training data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20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4F50-AF68-F771-F727-85CBE23F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</a:t>
            </a:r>
            <a:r>
              <a:rPr lang="en-IN" dirty="0">
                <a:sym typeface="Wingdings" panose="05000000000000000000" pitchFamily="2" charset="2"/>
              </a:rPr>
              <a:t> Query Languages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77220-9A55-3285-FE1C-C004FD495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democratize access to databases</a:t>
            </a:r>
          </a:p>
          <a:p>
            <a:r>
              <a:rPr lang="en-IN" dirty="0"/>
              <a:t>also relevant to agentic environments with proprietary DBs/KBs</a:t>
            </a:r>
          </a:p>
          <a:p>
            <a:endParaRPr lang="en-IN" dirty="0"/>
          </a:p>
          <a:p>
            <a:r>
              <a:rPr lang="en-IN" dirty="0"/>
              <a:t>Text2SQL</a:t>
            </a:r>
          </a:p>
          <a:p>
            <a:pPr lvl="1"/>
            <a:r>
              <a:rPr lang="en-IN" dirty="0"/>
              <a:t>52% professional developers regularly use SQL</a:t>
            </a:r>
          </a:p>
          <a:p>
            <a:pPr lvl="1"/>
            <a:r>
              <a:rPr lang="en-IN" dirty="0"/>
              <a:t>1/3</a:t>
            </a:r>
            <a:r>
              <a:rPr lang="en-IN" baseline="30000" dirty="0"/>
              <a:t>rd</a:t>
            </a:r>
            <a:r>
              <a:rPr lang="en-IN" dirty="0"/>
              <a:t> professional developers must run complex SQL queries efficiently</a:t>
            </a:r>
          </a:p>
          <a:p>
            <a:pPr lvl="1"/>
            <a:endParaRPr lang="en-IN" dirty="0"/>
          </a:p>
          <a:p>
            <a:r>
              <a:rPr lang="en-IN" dirty="0"/>
              <a:t>Benchmark datasets for Text2SQL</a:t>
            </a:r>
          </a:p>
          <a:p>
            <a:pPr lvl="1"/>
            <a:r>
              <a:rPr lang="en-IN" dirty="0"/>
              <a:t>do not test complex reasoning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30597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D8E9C7-CED5-BC3E-3285-7928B1811A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dirty="0"/>
                  <a:t>STARQA: Structured Data Analytics &amp; Reasoning QA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D8E9C7-CED5-BC3E-3285-7928B1811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9487"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he image is a text diagram presenting various data analysis questions related to movies and television, including statistical correlations, string manipulations, complex queries, and temporal reasoning.&#10;&#10;AI-generated content may be incorrect.">
            <a:extLst>
              <a:ext uri="{FF2B5EF4-FFF2-40B4-BE49-F238E27FC236}">
                <a16:creationId xmlns:a16="http://schemas.microsoft.com/office/drawing/2014/main" id="{EC6E6F7C-5F82-0F4B-1F5A-B78004880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22" y="2826420"/>
            <a:ext cx="18074142" cy="636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3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51EA-DA58-8DD2-2C7B-32EF4B87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FB549-D8B0-BD4E-4357-5C376D540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3333FF"/>
                </a:solidFill>
              </a:rPr>
              <a:t>Stat / Math operations</a:t>
            </a:r>
          </a:p>
          <a:p>
            <a:pPr lvl="1"/>
            <a:r>
              <a:rPr lang="en-IN" i="1" dirty="0"/>
              <a:t>Is there a statistically significant </a:t>
            </a:r>
            <a:r>
              <a:rPr lang="en-IN" i="1" dirty="0">
                <a:solidFill>
                  <a:srgbClr val="3333FF"/>
                </a:solidFill>
              </a:rPr>
              <a:t>correlation</a:t>
            </a:r>
            <a:r>
              <a:rPr lang="en-IN" i="1" dirty="0"/>
              <a:t> (use Spearman’s) between a movie’s running time and its rating?</a:t>
            </a:r>
          </a:p>
          <a:p>
            <a:endParaRPr lang="en-IN" dirty="0"/>
          </a:p>
          <a:p>
            <a:r>
              <a:rPr lang="en-IN" dirty="0">
                <a:solidFill>
                  <a:srgbClr val="3333FF"/>
                </a:solidFill>
              </a:rPr>
              <a:t>Complex columns</a:t>
            </a:r>
          </a:p>
          <a:p>
            <a:pPr lvl="1"/>
            <a:r>
              <a:rPr lang="en-IN" i="1" dirty="0"/>
              <a:t>Identify the most popular co-occurring </a:t>
            </a:r>
            <a:r>
              <a:rPr lang="en-IN" i="1" dirty="0">
                <a:solidFill>
                  <a:srgbClr val="3333FF"/>
                </a:solidFill>
              </a:rPr>
              <a:t>genre pairs </a:t>
            </a:r>
            <a:r>
              <a:rPr lang="en-IN" i="1" dirty="0"/>
              <a:t>in TV series</a:t>
            </a:r>
          </a:p>
          <a:p>
            <a:pPr lvl="1"/>
            <a:endParaRPr lang="en-IN" dirty="0"/>
          </a:p>
          <a:p>
            <a:r>
              <a:rPr lang="en-IN" dirty="0">
                <a:solidFill>
                  <a:srgbClr val="3333FF"/>
                </a:solidFill>
              </a:rPr>
              <a:t>Time series analysis</a:t>
            </a:r>
          </a:p>
          <a:p>
            <a:pPr lvl="1"/>
            <a:r>
              <a:rPr lang="en-IN" i="1" dirty="0"/>
              <a:t>English Premier League teams that lost four matches </a:t>
            </a:r>
            <a:r>
              <a:rPr lang="en-IN" i="1" dirty="0">
                <a:solidFill>
                  <a:srgbClr val="3333FF"/>
                </a:solidFill>
              </a:rPr>
              <a:t>in a row </a:t>
            </a:r>
            <a:r>
              <a:rPr lang="en-IN" i="1" dirty="0"/>
              <a:t>after winning four in a row.</a:t>
            </a:r>
          </a:p>
        </p:txBody>
      </p:sp>
    </p:spTree>
    <p:extLst>
      <p:ext uri="{BB962C8B-B14F-4D97-AF65-F5344CB8AC3E}">
        <p14:creationId xmlns:p14="http://schemas.microsoft.com/office/powerpoint/2010/main" val="166115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3A4C0A-5D9C-B33D-9D2E-DE35962075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dirty="0"/>
                  <a:t>STARQA: Dataset Details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3A4C0A-5D9C-B33D-9D2E-DE3596207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9487"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2B48C-E325-00F5-B5F7-47F4233CD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362 hand-written questions</a:t>
            </a:r>
          </a:p>
          <a:p>
            <a:pPr lvl="1"/>
            <a:r>
              <a:rPr lang="en-IN" dirty="0"/>
              <a:t>100: IMDB (movies)</a:t>
            </a:r>
          </a:p>
          <a:p>
            <a:pPr lvl="1"/>
            <a:r>
              <a:rPr lang="en-IN" dirty="0"/>
              <a:t>162: </a:t>
            </a:r>
            <a:r>
              <a:rPr lang="en-IN" dirty="0" err="1"/>
              <a:t>EuroSoccer</a:t>
            </a:r>
            <a:r>
              <a:rPr lang="en-IN" dirty="0"/>
              <a:t> (sports)</a:t>
            </a:r>
          </a:p>
          <a:p>
            <a:pPr lvl="1"/>
            <a:r>
              <a:rPr lang="en-IN" dirty="0"/>
              <a:t>100: </a:t>
            </a:r>
            <a:r>
              <a:rPr lang="en-IN" dirty="0" err="1"/>
              <a:t>Olist</a:t>
            </a:r>
            <a:r>
              <a:rPr lang="en-IN" dirty="0"/>
              <a:t> (e-commerce)</a:t>
            </a:r>
          </a:p>
          <a:p>
            <a:pPr lvl="1"/>
            <a:endParaRPr lang="en-IN" dirty="0"/>
          </a:p>
          <a:p>
            <a:r>
              <a:rPr lang="en-IN" dirty="0"/>
              <a:t>Answer type:</a:t>
            </a:r>
          </a:p>
          <a:p>
            <a:pPr lvl="1"/>
            <a:r>
              <a:rPr lang="en-IN" dirty="0"/>
              <a:t>299: tuples as answer</a:t>
            </a:r>
          </a:p>
          <a:p>
            <a:pPr lvl="1"/>
            <a:r>
              <a:rPr lang="en-IN" dirty="0"/>
              <a:t>55: single numeric answer</a:t>
            </a:r>
          </a:p>
          <a:p>
            <a:pPr lvl="1"/>
            <a:r>
              <a:rPr lang="en-IN" dirty="0"/>
              <a:t>8: null answer</a:t>
            </a:r>
          </a:p>
        </p:txBody>
      </p:sp>
    </p:spTree>
    <p:extLst>
      <p:ext uri="{BB962C8B-B14F-4D97-AF65-F5344CB8AC3E}">
        <p14:creationId xmlns:p14="http://schemas.microsoft.com/office/powerpoint/2010/main" val="302351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1942-96BC-A7CD-92F6-5B1E838E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64C5-FC90-8241-10D3-2442E6A2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Text2SQL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26EEC3-0D91-F74D-45B9-2347D11564CD}"/>
              </a:ext>
            </a:extLst>
          </p:cNvPr>
          <p:cNvSpPr txBox="1"/>
          <p:nvPr/>
        </p:nvSpPr>
        <p:spPr>
          <a:xfrm>
            <a:off x="136825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DB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13C1C68A-F0EF-8318-F3E0-CCD7517E1130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5A14E8-25B6-C863-DC91-11E16B62B36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find teams that won a league after they were not in top 3 at the end of December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3A58FAB7-CB4C-DF31-8BE5-BA5E129511EF}"/>
              </a:ext>
            </a:extLst>
          </p:cNvPr>
          <p:cNvSpPr/>
          <p:nvPr/>
        </p:nvSpPr>
        <p:spPr>
          <a:xfrm>
            <a:off x="5184236" y="5665896"/>
            <a:ext cx="4176904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894D31-8E8E-CC07-69F6-79D45F000E25}"/>
              </a:ext>
            </a:extLst>
          </p:cNvPr>
          <p:cNvSpPr txBox="1"/>
          <p:nvPr/>
        </p:nvSpPr>
        <p:spPr>
          <a:xfrm>
            <a:off x="5312773" y="5687018"/>
            <a:ext cx="4336399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SQL: </a:t>
            </a:r>
          </a:p>
          <a:p>
            <a:r>
              <a:rPr lang="en-US" sz="3742" dirty="0"/>
              <a:t>select team from …</a:t>
            </a:r>
            <a:endParaRPr lang="en-IN" sz="3742" b="1" dirty="0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E8371C7E-5FF6-C7E3-2EB4-CDD0CFBC2DEA}"/>
              </a:ext>
            </a:extLst>
          </p:cNvPr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C154609-1912-3AA4-C2FB-1CBF1D8CE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CAA4137B-16A4-754A-0818-9E67E81DE0AF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A7E30B9-866B-A44B-3569-A94BE4878DF0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9133C389-5FB9-4CBD-8354-ADE67783E9EB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A0093D1-323B-5F5F-47DC-E82BB659906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…</a:t>
              </a:r>
              <a:endParaRPr lang="en-IN" sz="3742" dirty="0"/>
            </a:p>
          </p:txBody>
        </p:sp>
      </p:grpSp>
      <p:sp>
        <p:nvSpPr>
          <p:cNvPr id="19" name="Arrow: Down 153">
            <a:extLst>
              <a:ext uri="{FF2B5EF4-FFF2-40B4-BE49-F238E27FC236}">
                <a16:creationId xmlns:a16="http://schemas.microsoft.com/office/drawing/2014/main" id="{79DAB914-D0DE-DB3E-286E-FB6DB2FBB0CC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0" name="Arrow: Down 154">
            <a:extLst>
              <a:ext uri="{FF2B5EF4-FFF2-40B4-BE49-F238E27FC236}">
                <a16:creationId xmlns:a16="http://schemas.microsoft.com/office/drawing/2014/main" id="{FE222DCD-BA50-2E38-3AFB-4D758C27CD4E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AC7E64-1B73-B7BF-BE58-99C735E9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  <p:pic>
        <p:nvPicPr>
          <p:cNvPr id="5" name="Picture 4" descr="B&#10;&#10;AI-generated content may be incorrect.">
            <a:extLst>
              <a:ext uri="{FF2B5EF4-FFF2-40B4-BE49-F238E27FC236}">
                <a16:creationId xmlns:a16="http://schemas.microsoft.com/office/drawing/2014/main" id="{701600D3-B494-3DFF-B5BA-1FA7558DE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637" y="3718852"/>
            <a:ext cx="1754628" cy="1568296"/>
          </a:xfrm>
          <a:prstGeom prst="rect">
            <a:avLst/>
          </a:prstGeom>
        </p:spPr>
      </p:pic>
      <p:sp>
        <p:nvSpPr>
          <p:cNvPr id="6" name="Right Arrow 34">
            <a:extLst>
              <a:ext uri="{FF2B5EF4-FFF2-40B4-BE49-F238E27FC236}">
                <a16:creationId xmlns:a16="http://schemas.microsoft.com/office/drawing/2014/main" id="{16D1C482-2550-BD7C-530B-8147D5607F5D}"/>
              </a:ext>
            </a:extLst>
          </p:cNvPr>
          <p:cNvSpPr/>
          <p:nvPr/>
        </p:nvSpPr>
        <p:spPr>
          <a:xfrm rot="10800000" flipH="1">
            <a:off x="3331629" y="4235997"/>
            <a:ext cx="2181317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02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5DCDD-8D6A-7A5A-2387-E7F15423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26DE-C8B4-0F89-B9FF-5D94FF64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Text 2 SQL + Code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61A0A-1FB4-28D6-4245-43758108F5E6}"/>
              </a:ext>
            </a:extLst>
          </p:cNvPr>
          <p:cNvSpPr txBox="1"/>
          <p:nvPr/>
        </p:nvSpPr>
        <p:spPr>
          <a:xfrm>
            <a:off x="136825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DB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79F3C3A1-CD42-E369-5BA5-533AF3BA0C9F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19725-AD7F-F59F-B8B3-399D52E71280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find teams that won a league after they were not in top 3 at the end of December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4503B7E8-D4CB-CD09-E2B3-773764A59E54}"/>
              </a:ext>
            </a:extLst>
          </p:cNvPr>
          <p:cNvSpPr/>
          <p:nvPr/>
        </p:nvSpPr>
        <p:spPr>
          <a:xfrm>
            <a:off x="7272468" y="5665896"/>
            <a:ext cx="6409152" cy="414449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DBF625-780C-8257-C583-970A50994AD1}"/>
              </a:ext>
            </a:extLst>
          </p:cNvPr>
          <p:cNvSpPr txBox="1"/>
          <p:nvPr/>
        </p:nvSpPr>
        <p:spPr>
          <a:xfrm>
            <a:off x="7401005" y="5687018"/>
            <a:ext cx="6280615" cy="4123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Decomposition:</a:t>
            </a:r>
          </a:p>
          <a:p>
            <a:r>
              <a:rPr lang="en-IN" sz="3742" dirty="0"/>
              <a:t>DB: fetch sum of pts per league</a:t>
            </a:r>
          </a:p>
          <a:p>
            <a:r>
              <a:rPr lang="en-IN" sz="3742" dirty="0"/>
              <a:t>DB: fetch sum of pts until Dec</a:t>
            </a:r>
            <a:br>
              <a:rPr lang="en-IN" sz="3742" dirty="0"/>
            </a:br>
            <a:r>
              <a:rPr lang="en-IN" sz="3742" dirty="0"/>
              <a:t>Py: compute league winner</a:t>
            </a:r>
          </a:p>
          <a:p>
            <a:r>
              <a:rPr lang="en-IN" sz="3742" dirty="0"/>
              <a:t>Py: compute top 3 until Dec</a:t>
            </a:r>
            <a:br>
              <a:rPr lang="en-IN" sz="3742" dirty="0"/>
            </a:br>
            <a:r>
              <a:rPr lang="en-IN" sz="3742" dirty="0"/>
              <a:t>Py: find table 1 \ table 2</a:t>
            </a:r>
          </a:p>
          <a:p>
            <a:r>
              <a:rPr lang="en-IN" sz="3742" dirty="0"/>
              <a:t>Py: return list of teams</a:t>
            </a:r>
            <a:r>
              <a:rPr lang="en-IN" sz="3742" b="1" dirty="0"/>
              <a:t> 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A6094A1-2556-7D64-4677-366842579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FEF9ECD1-698F-30A7-7358-F6F946176CAF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72E7DD-839D-641E-B37E-3EDC7C87A4B5}"/>
              </a:ext>
            </a:extLst>
          </p:cNvPr>
          <p:cNvGrpSpPr/>
          <p:nvPr/>
        </p:nvGrpSpPr>
        <p:grpSpPr>
          <a:xfrm>
            <a:off x="1881940" y="8230375"/>
            <a:ext cx="1444574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D0E87A7F-D19E-F034-FDAA-63E5C2635F23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E4258DE-F826-6D71-3BD7-609B89618BD2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data</a:t>
              </a:r>
              <a:endParaRPr lang="en-IN" sz="3742" dirty="0"/>
            </a:p>
          </p:txBody>
        </p:sp>
      </p:grpSp>
      <p:sp>
        <p:nvSpPr>
          <p:cNvPr id="20" name="Arrow: Down 154">
            <a:extLst>
              <a:ext uri="{FF2B5EF4-FFF2-40B4-BE49-F238E27FC236}">
                <a16:creationId xmlns:a16="http://schemas.microsoft.com/office/drawing/2014/main" id="{BEF69A46-72F1-3767-7998-B3E24414A397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F1358-C5A9-32D6-E2AA-BE1AC6D4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  <p:pic>
        <p:nvPicPr>
          <p:cNvPr id="5" name="Picture 4" descr="B&#10;&#10;AI-generated content may be incorrect.">
            <a:extLst>
              <a:ext uri="{FF2B5EF4-FFF2-40B4-BE49-F238E27FC236}">
                <a16:creationId xmlns:a16="http://schemas.microsoft.com/office/drawing/2014/main" id="{4C9BF3E2-3E93-2F98-99C2-C04ED2871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637" y="3718852"/>
            <a:ext cx="1754628" cy="1568296"/>
          </a:xfrm>
          <a:prstGeom prst="rect">
            <a:avLst/>
          </a:prstGeom>
        </p:spPr>
      </p:pic>
      <p:sp>
        <p:nvSpPr>
          <p:cNvPr id="6" name="Right Arrow 34">
            <a:extLst>
              <a:ext uri="{FF2B5EF4-FFF2-40B4-BE49-F238E27FC236}">
                <a16:creationId xmlns:a16="http://schemas.microsoft.com/office/drawing/2014/main" id="{758A11D1-9AAD-6D86-8B94-16EFCDA5DDD1}"/>
              </a:ext>
            </a:extLst>
          </p:cNvPr>
          <p:cNvSpPr/>
          <p:nvPr/>
        </p:nvSpPr>
        <p:spPr>
          <a:xfrm rot="10800000" flipH="1">
            <a:off x="3331629" y="4235997"/>
            <a:ext cx="2181317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153">
            <a:extLst>
              <a:ext uri="{FF2B5EF4-FFF2-40B4-BE49-F238E27FC236}">
                <a16:creationId xmlns:a16="http://schemas.microsoft.com/office/drawing/2014/main" id="{AE164CB4-B5BD-5DDF-2746-EDCC9953F011}"/>
              </a:ext>
            </a:extLst>
          </p:cNvPr>
          <p:cNvSpPr/>
          <p:nvPr/>
        </p:nvSpPr>
        <p:spPr>
          <a:xfrm>
            <a:off x="9030982" y="3402484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0" name="Arrow: Down 154">
            <a:extLst>
              <a:ext uri="{FF2B5EF4-FFF2-40B4-BE49-F238E27FC236}">
                <a16:creationId xmlns:a16="http://schemas.microsoft.com/office/drawing/2014/main" id="{5F8FAA5B-EF7A-4D50-6248-C159279FCC9E}"/>
              </a:ext>
            </a:extLst>
          </p:cNvPr>
          <p:cNvSpPr/>
          <p:nvPr/>
        </p:nvSpPr>
        <p:spPr>
          <a:xfrm>
            <a:off x="9031818" y="5043614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82685B-63A8-EE28-212D-F261C5F5A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642" y="4050528"/>
            <a:ext cx="1154554" cy="1033929"/>
          </a:xfrm>
          <a:prstGeom prst="rect">
            <a:avLst/>
          </a:prstGeom>
        </p:spPr>
      </p:pic>
      <p:sp>
        <p:nvSpPr>
          <p:cNvPr id="12" name="Rectangle: Rounded Corners 147">
            <a:extLst>
              <a:ext uri="{FF2B5EF4-FFF2-40B4-BE49-F238E27FC236}">
                <a16:creationId xmlns:a16="http://schemas.microsoft.com/office/drawing/2014/main" id="{85D5CAB5-B87F-C2A9-8153-0C6E08010437}"/>
              </a:ext>
            </a:extLst>
          </p:cNvPr>
          <p:cNvSpPr/>
          <p:nvPr/>
        </p:nvSpPr>
        <p:spPr>
          <a:xfrm>
            <a:off x="5184236" y="5665897"/>
            <a:ext cx="1287965" cy="10339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EE03A-CABB-3C7D-7DE9-3850F534BF74}"/>
              </a:ext>
            </a:extLst>
          </p:cNvPr>
          <p:cNvSpPr txBox="1"/>
          <p:nvPr/>
        </p:nvSpPr>
        <p:spPr>
          <a:xfrm>
            <a:off x="5312773" y="5687018"/>
            <a:ext cx="4336399" cy="66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SQL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E071B0B5-7AA8-0F46-983D-1435FD5ACBAE}"/>
              </a:ext>
            </a:extLst>
          </p:cNvPr>
          <p:cNvSpPr/>
          <p:nvPr/>
        </p:nvSpPr>
        <p:spPr>
          <a:xfrm flipH="1">
            <a:off x="3331628" y="5958113"/>
            <a:ext cx="1756453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Bent Arrow 44">
            <a:extLst>
              <a:ext uri="{FF2B5EF4-FFF2-40B4-BE49-F238E27FC236}">
                <a16:creationId xmlns:a16="http://schemas.microsoft.com/office/drawing/2014/main" id="{DD100ADA-9797-B19E-35B5-7F49CF392497}"/>
              </a:ext>
            </a:extLst>
          </p:cNvPr>
          <p:cNvSpPr/>
          <p:nvPr/>
        </p:nvSpPr>
        <p:spPr>
          <a:xfrm rot="10800000" flipV="1">
            <a:off x="6661603" y="4386630"/>
            <a:ext cx="1376536" cy="1244058"/>
          </a:xfrm>
          <a:prstGeom prst="bentArrow">
            <a:avLst>
              <a:gd name="adj1" fmla="val 17499"/>
              <a:gd name="adj2" fmla="val 18749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3677C-D8DC-AFFD-77F6-8CBE8038470B}"/>
              </a:ext>
            </a:extLst>
          </p:cNvPr>
          <p:cNvSpPr txBox="1"/>
          <p:nvPr/>
        </p:nvSpPr>
        <p:spPr>
          <a:xfrm>
            <a:off x="7401005" y="5706740"/>
            <a:ext cx="6280615" cy="4123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Decomposition:</a:t>
            </a:r>
          </a:p>
          <a:p>
            <a:r>
              <a:rPr lang="en-IN" sz="3742" dirty="0">
                <a:solidFill>
                  <a:srgbClr val="3333FF"/>
                </a:solidFill>
              </a:rPr>
              <a:t>DB: fetch sum of pts per league</a:t>
            </a:r>
          </a:p>
          <a:p>
            <a:r>
              <a:rPr lang="en-IN" sz="3742" dirty="0">
                <a:solidFill>
                  <a:srgbClr val="3333FF"/>
                </a:solidFill>
              </a:rPr>
              <a:t>DB: fetch sum of pts until Dec</a:t>
            </a:r>
            <a:br>
              <a:rPr lang="en-IN" sz="3742" dirty="0"/>
            </a:br>
            <a:r>
              <a:rPr lang="en-IN" sz="3742" dirty="0"/>
              <a:t>Py: compute league winner</a:t>
            </a:r>
          </a:p>
          <a:p>
            <a:r>
              <a:rPr lang="en-IN" sz="3742" dirty="0"/>
              <a:t>Py: compute top 3 until Dec</a:t>
            </a:r>
            <a:br>
              <a:rPr lang="en-IN" sz="3742" dirty="0"/>
            </a:br>
            <a:r>
              <a:rPr lang="en-IN" sz="3742" dirty="0"/>
              <a:t>Py: find table 1 \ table 2</a:t>
            </a:r>
          </a:p>
          <a:p>
            <a:r>
              <a:rPr lang="en-IN" sz="3742" dirty="0"/>
              <a:t>Py: return list of teams</a:t>
            </a:r>
            <a:r>
              <a:rPr lang="en-IN" sz="3742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516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 animBg="1"/>
      <p:bldP spid="28" grpId="0"/>
      <p:bldP spid="41" grpId="0" animBg="1"/>
      <p:bldP spid="20" grpId="0" animBg="1"/>
      <p:bldP spid="6" grpId="0" animBg="1"/>
      <p:bldP spid="9" grpId="0" animBg="1"/>
      <p:bldP spid="10" grpId="0" animBg="1"/>
      <p:bldP spid="12" grpId="0" animBg="1"/>
      <p:bldP spid="13" grpId="0"/>
      <p:bldP spid="35" grpId="0" animBg="1"/>
      <p:bldP spid="37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F969A-B059-8AA9-915F-6109FFBB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B7D2-DCBC-0B1A-8541-6F23FC2A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Text 2 SQL + Code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0A3491-6EA0-9B15-8ACC-7BF690222AB1}"/>
              </a:ext>
            </a:extLst>
          </p:cNvPr>
          <p:cNvSpPr txBox="1"/>
          <p:nvPr/>
        </p:nvSpPr>
        <p:spPr>
          <a:xfrm>
            <a:off x="136825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DB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6E8436DE-D131-19F1-7A41-9FFD41D9A72A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4A2392-2240-8055-7297-CFF69FF8F8B1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find teams that won a league after they were not in top 3 at the end of December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BF13CB1E-385C-E0BD-A7FD-AE90D102ADE3}"/>
              </a:ext>
            </a:extLst>
          </p:cNvPr>
          <p:cNvSpPr/>
          <p:nvPr/>
        </p:nvSpPr>
        <p:spPr>
          <a:xfrm>
            <a:off x="7272468" y="5665896"/>
            <a:ext cx="6409152" cy="414449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F50FD2-007E-9719-55BA-4228719BC129}"/>
              </a:ext>
            </a:extLst>
          </p:cNvPr>
          <p:cNvSpPr txBox="1"/>
          <p:nvPr/>
        </p:nvSpPr>
        <p:spPr>
          <a:xfrm>
            <a:off x="7401005" y="5687018"/>
            <a:ext cx="6280615" cy="4123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Decomposition:</a:t>
            </a:r>
          </a:p>
          <a:p>
            <a:r>
              <a:rPr lang="en-IN" sz="3742" dirty="0"/>
              <a:t>DB: fetch sum of pts per league</a:t>
            </a:r>
          </a:p>
          <a:p>
            <a:r>
              <a:rPr lang="en-IN" sz="3742" dirty="0"/>
              <a:t>DB: fetch sum of pts until Dec</a:t>
            </a:r>
            <a:br>
              <a:rPr lang="en-IN" sz="3742" dirty="0"/>
            </a:br>
            <a:r>
              <a:rPr lang="en-IN" sz="3742" dirty="0"/>
              <a:t>Py: compute league winner</a:t>
            </a:r>
          </a:p>
          <a:p>
            <a:r>
              <a:rPr lang="en-IN" sz="3742" dirty="0"/>
              <a:t>Py: compute top 3 until Dec</a:t>
            </a:r>
            <a:br>
              <a:rPr lang="en-IN" sz="3742" dirty="0"/>
            </a:br>
            <a:r>
              <a:rPr lang="en-IN" sz="3742" dirty="0"/>
              <a:t>Py: find table 1 \ table 2</a:t>
            </a:r>
          </a:p>
          <a:p>
            <a:r>
              <a:rPr lang="en-IN" sz="3742" dirty="0"/>
              <a:t>Py: return list of teams</a:t>
            </a:r>
            <a:r>
              <a:rPr lang="en-IN" sz="3742" b="1" dirty="0"/>
              <a:t> 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1F76095-AED6-C058-1CDE-02A9702D9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A2B88359-B1ED-04AA-79B5-6A8475005D84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FCD4CF-B5C4-AF96-D549-89AC7501B65B}"/>
              </a:ext>
            </a:extLst>
          </p:cNvPr>
          <p:cNvGrpSpPr/>
          <p:nvPr/>
        </p:nvGrpSpPr>
        <p:grpSpPr>
          <a:xfrm>
            <a:off x="1881940" y="8230375"/>
            <a:ext cx="1444574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3FF1F9A7-E088-A150-9E37-FDF5BC9BEFD8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9EB498E-8165-482C-6F5A-3FC1A7A695CD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data</a:t>
              </a:r>
              <a:endParaRPr lang="en-IN" sz="3742" dirty="0"/>
            </a:p>
          </p:txBody>
        </p:sp>
      </p:grpSp>
      <p:sp>
        <p:nvSpPr>
          <p:cNvPr id="20" name="Arrow: Down 154">
            <a:extLst>
              <a:ext uri="{FF2B5EF4-FFF2-40B4-BE49-F238E27FC236}">
                <a16:creationId xmlns:a16="http://schemas.microsoft.com/office/drawing/2014/main" id="{55A7E988-F658-F331-FDBF-FE53CD38AF99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2F11A-833F-AF49-6915-550EDFFCE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  <p:pic>
        <p:nvPicPr>
          <p:cNvPr id="5" name="Picture 4" descr="B&#10;&#10;AI-generated content may be incorrect.">
            <a:extLst>
              <a:ext uri="{FF2B5EF4-FFF2-40B4-BE49-F238E27FC236}">
                <a16:creationId xmlns:a16="http://schemas.microsoft.com/office/drawing/2014/main" id="{E47049D0-9425-F68B-E074-087135D75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637" y="3718852"/>
            <a:ext cx="1754628" cy="1568296"/>
          </a:xfrm>
          <a:prstGeom prst="rect">
            <a:avLst/>
          </a:prstGeom>
        </p:spPr>
      </p:pic>
      <p:sp>
        <p:nvSpPr>
          <p:cNvPr id="6" name="Right Arrow 34">
            <a:extLst>
              <a:ext uri="{FF2B5EF4-FFF2-40B4-BE49-F238E27FC236}">
                <a16:creationId xmlns:a16="http://schemas.microsoft.com/office/drawing/2014/main" id="{5907E158-2E17-9F0B-815B-A1A8D78FC49C}"/>
              </a:ext>
            </a:extLst>
          </p:cNvPr>
          <p:cNvSpPr/>
          <p:nvPr/>
        </p:nvSpPr>
        <p:spPr>
          <a:xfrm rot="10800000" flipH="1">
            <a:off x="3331629" y="4235997"/>
            <a:ext cx="2181317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153">
            <a:extLst>
              <a:ext uri="{FF2B5EF4-FFF2-40B4-BE49-F238E27FC236}">
                <a16:creationId xmlns:a16="http://schemas.microsoft.com/office/drawing/2014/main" id="{250EBCD5-7DA3-1D87-2A6F-AC80511F0477}"/>
              </a:ext>
            </a:extLst>
          </p:cNvPr>
          <p:cNvSpPr/>
          <p:nvPr/>
        </p:nvSpPr>
        <p:spPr>
          <a:xfrm>
            <a:off x="11047206" y="3402484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7" name="Arrow: Down 154">
            <a:extLst>
              <a:ext uri="{FF2B5EF4-FFF2-40B4-BE49-F238E27FC236}">
                <a16:creationId xmlns:a16="http://schemas.microsoft.com/office/drawing/2014/main" id="{32030403-FEFA-64AC-A246-84280A4D47E4}"/>
              </a:ext>
            </a:extLst>
          </p:cNvPr>
          <p:cNvSpPr/>
          <p:nvPr/>
        </p:nvSpPr>
        <p:spPr>
          <a:xfrm rot="10800000">
            <a:off x="11048042" y="5043614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4D43A6-EA96-ED0E-7F0D-D941B682B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66" y="4050528"/>
            <a:ext cx="1154554" cy="1033929"/>
          </a:xfrm>
          <a:prstGeom prst="rect">
            <a:avLst/>
          </a:prstGeom>
        </p:spPr>
      </p:pic>
      <p:sp>
        <p:nvSpPr>
          <p:cNvPr id="9" name="Arrow: Down 153">
            <a:extLst>
              <a:ext uri="{FF2B5EF4-FFF2-40B4-BE49-F238E27FC236}">
                <a16:creationId xmlns:a16="http://schemas.microsoft.com/office/drawing/2014/main" id="{2FA003EF-C943-B7EC-7255-758A21A03A0A}"/>
              </a:ext>
            </a:extLst>
          </p:cNvPr>
          <p:cNvSpPr/>
          <p:nvPr/>
        </p:nvSpPr>
        <p:spPr>
          <a:xfrm>
            <a:off x="9030982" y="3402484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0" name="Arrow: Down 154">
            <a:extLst>
              <a:ext uri="{FF2B5EF4-FFF2-40B4-BE49-F238E27FC236}">
                <a16:creationId xmlns:a16="http://schemas.microsoft.com/office/drawing/2014/main" id="{20042D57-D51A-4D8D-6B6C-280549BB6888}"/>
              </a:ext>
            </a:extLst>
          </p:cNvPr>
          <p:cNvSpPr/>
          <p:nvPr/>
        </p:nvSpPr>
        <p:spPr>
          <a:xfrm>
            <a:off x="9031818" y="5043614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184D22-DD70-816F-7658-4412FF9F3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642" y="4050528"/>
            <a:ext cx="1154554" cy="1033929"/>
          </a:xfrm>
          <a:prstGeom prst="rect">
            <a:avLst/>
          </a:prstGeom>
        </p:spPr>
      </p:pic>
      <p:sp>
        <p:nvSpPr>
          <p:cNvPr id="12" name="Rectangle: Rounded Corners 147">
            <a:extLst>
              <a:ext uri="{FF2B5EF4-FFF2-40B4-BE49-F238E27FC236}">
                <a16:creationId xmlns:a16="http://schemas.microsoft.com/office/drawing/2014/main" id="{5F15392E-F823-E83B-0FBF-C55BAB905E43}"/>
              </a:ext>
            </a:extLst>
          </p:cNvPr>
          <p:cNvSpPr/>
          <p:nvPr/>
        </p:nvSpPr>
        <p:spPr>
          <a:xfrm>
            <a:off x="5184236" y="5665897"/>
            <a:ext cx="1287965" cy="10339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D49E0-5197-B660-FCBC-5A924EF8D633}"/>
              </a:ext>
            </a:extLst>
          </p:cNvPr>
          <p:cNvSpPr txBox="1"/>
          <p:nvPr/>
        </p:nvSpPr>
        <p:spPr>
          <a:xfrm>
            <a:off x="5312773" y="5687018"/>
            <a:ext cx="4336399" cy="66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SQL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8ABDFEB5-3232-35AE-76B3-00A4838548A2}"/>
              </a:ext>
            </a:extLst>
          </p:cNvPr>
          <p:cNvSpPr/>
          <p:nvPr/>
        </p:nvSpPr>
        <p:spPr>
          <a:xfrm flipH="1">
            <a:off x="3331628" y="5958113"/>
            <a:ext cx="1756453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34">
            <a:extLst>
              <a:ext uri="{FF2B5EF4-FFF2-40B4-BE49-F238E27FC236}">
                <a16:creationId xmlns:a16="http://schemas.microsoft.com/office/drawing/2014/main" id="{0F7E9A07-6B95-953D-923B-E63350D1D5E1}"/>
              </a:ext>
            </a:extLst>
          </p:cNvPr>
          <p:cNvSpPr/>
          <p:nvPr/>
        </p:nvSpPr>
        <p:spPr>
          <a:xfrm rot="10800000" flipH="1">
            <a:off x="11918852" y="4286832"/>
            <a:ext cx="2181317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23B146-635C-E1AD-98D8-29FB26792423}"/>
              </a:ext>
            </a:extLst>
          </p:cNvPr>
          <p:cNvGrpSpPr/>
          <p:nvPr/>
        </p:nvGrpSpPr>
        <p:grpSpPr>
          <a:xfrm>
            <a:off x="14186448" y="4088461"/>
            <a:ext cx="2087459" cy="1383899"/>
            <a:chOff x="944734" y="6077220"/>
            <a:chExt cx="1490436" cy="1149371"/>
          </a:xfrm>
        </p:grpSpPr>
        <p:sp>
          <p:nvSpPr>
            <p:cNvPr id="18" name="Rectangle: Rounded Corners 149">
              <a:extLst>
                <a:ext uri="{FF2B5EF4-FFF2-40B4-BE49-F238E27FC236}">
                  <a16:creationId xmlns:a16="http://schemas.microsoft.com/office/drawing/2014/main" id="{A10E578B-1161-9152-B127-36C8D0BB3D26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A9F48D-0555-5E89-A4ED-F8874EC2A6D9}"/>
                </a:ext>
              </a:extLst>
            </p:cNvPr>
            <p:cNvSpPr txBox="1"/>
            <p:nvPr/>
          </p:nvSpPr>
          <p:spPr>
            <a:xfrm>
              <a:off x="1085126" y="6193361"/>
              <a:ext cx="1317497" cy="1033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Python</a:t>
              </a:r>
              <a:endParaRPr lang="en-IN" sz="3742" dirty="0"/>
            </a:p>
          </p:txBody>
        </p:sp>
      </p:grpSp>
      <p:sp>
        <p:nvSpPr>
          <p:cNvPr id="22" name="Arrow: Down 155">
            <a:extLst>
              <a:ext uri="{FF2B5EF4-FFF2-40B4-BE49-F238E27FC236}">
                <a16:creationId xmlns:a16="http://schemas.microsoft.com/office/drawing/2014/main" id="{09419C6A-63FC-C1AA-13DE-13B4C998946B}"/>
              </a:ext>
            </a:extLst>
          </p:cNvPr>
          <p:cNvSpPr/>
          <p:nvPr/>
        </p:nvSpPr>
        <p:spPr>
          <a:xfrm>
            <a:off x="14991696" y="4912276"/>
            <a:ext cx="476961" cy="473498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52785B-3781-67BB-B55C-5793E3E2319D}"/>
              </a:ext>
            </a:extLst>
          </p:cNvPr>
          <p:cNvGrpSpPr/>
          <p:nvPr/>
        </p:nvGrpSpPr>
        <p:grpSpPr>
          <a:xfrm>
            <a:off x="14329692" y="9651433"/>
            <a:ext cx="1865122" cy="1383899"/>
            <a:chOff x="944734" y="6077220"/>
            <a:chExt cx="1490436" cy="1149371"/>
          </a:xfrm>
        </p:grpSpPr>
        <p:sp>
          <p:nvSpPr>
            <p:cNvPr id="29" name="Rectangle: Rounded Corners 149">
              <a:extLst>
                <a:ext uri="{FF2B5EF4-FFF2-40B4-BE49-F238E27FC236}">
                  <a16:creationId xmlns:a16="http://schemas.microsoft.com/office/drawing/2014/main" id="{C2BAF53C-CA2B-C9DA-1949-3D528051C6CD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43E0D7-1225-91A9-25C3-C484485BF015}"/>
                </a:ext>
              </a:extLst>
            </p:cNvPr>
            <p:cNvSpPr txBox="1"/>
            <p:nvPr/>
          </p:nvSpPr>
          <p:spPr>
            <a:xfrm>
              <a:off x="1085126" y="6193361"/>
              <a:ext cx="1317497" cy="1033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answer</a:t>
              </a:r>
              <a:endParaRPr lang="en-IN" sz="3742" dirty="0"/>
            </a:p>
          </p:txBody>
        </p:sp>
      </p:grpSp>
      <p:sp>
        <p:nvSpPr>
          <p:cNvPr id="31" name="Bent Arrow 44">
            <a:extLst>
              <a:ext uri="{FF2B5EF4-FFF2-40B4-BE49-F238E27FC236}">
                <a16:creationId xmlns:a16="http://schemas.microsoft.com/office/drawing/2014/main" id="{D780A074-BFBC-5CA1-ABB7-358147E44674}"/>
              </a:ext>
            </a:extLst>
          </p:cNvPr>
          <p:cNvSpPr/>
          <p:nvPr/>
        </p:nvSpPr>
        <p:spPr>
          <a:xfrm flipV="1">
            <a:off x="2316166" y="9115427"/>
            <a:ext cx="12013526" cy="1244058"/>
          </a:xfrm>
          <a:prstGeom prst="bentArrow">
            <a:avLst>
              <a:gd name="adj1" fmla="val 17499"/>
              <a:gd name="adj2" fmla="val 18749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Right Arrow 34">
            <a:extLst>
              <a:ext uri="{FF2B5EF4-FFF2-40B4-BE49-F238E27FC236}">
                <a16:creationId xmlns:a16="http://schemas.microsoft.com/office/drawing/2014/main" id="{CA1FAC8C-1025-718D-6D13-439F61E0116E}"/>
              </a:ext>
            </a:extLst>
          </p:cNvPr>
          <p:cNvSpPr/>
          <p:nvPr/>
        </p:nvSpPr>
        <p:spPr>
          <a:xfrm rot="9156639" flipH="1">
            <a:off x="2804442" y="6507177"/>
            <a:ext cx="8425262" cy="25571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197401-F8CF-59C7-38B4-3CB0E6C96D04}"/>
              </a:ext>
            </a:extLst>
          </p:cNvPr>
          <p:cNvSpPr txBox="1"/>
          <p:nvPr/>
        </p:nvSpPr>
        <p:spPr>
          <a:xfrm rot="20110154">
            <a:off x="4169983" y="6931301"/>
            <a:ext cx="1844215" cy="1244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>
                <a:solidFill>
                  <a:srgbClr val="3333FF"/>
                </a:solidFill>
              </a:rPr>
              <a:t>data shape</a:t>
            </a:r>
          </a:p>
        </p:txBody>
      </p:sp>
      <p:sp>
        <p:nvSpPr>
          <p:cNvPr id="37" name="Bent Arrow 44">
            <a:extLst>
              <a:ext uri="{FF2B5EF4-FFF2-40B4-BE49-F238E27FC236}">
                <a16:creationId xmlns:a16="http://schemas.microsoft.com/office/drawing/2014/main" id="{07236884-D413-828A-5A7A-0BE449F5898D}"/>
              </a:ext>
            </a:extLst>
          </p:cNvPr>
          <p:cNvSpPr/>
          <p:nvPr/>
        </p:nvSpPr>
        <p:spPr>
          <a:xfrm rot="10800000" flipV="1">
            <a:off x="6661603" y="4386630"/>
            <a:ext cx="1376536" cy="1244058"/>
          </a:xfrm>
          <a:prstGeom prst="bentArrow">
            <a:avLst>
              <a:gd name="adj1" fmla="val 17499"/>
              <a:gd name="adj2" fmla="val 18749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1E666-39ED-6C61-83E9-C43D2099B602}"/>
              </a:ext>
            </a:extLst>
          </p:cNvPr>
          <p:cNvSpPr txBox="1"/>
          <p:nvPr/>
        </p:nvSpPr>
        <p:spPr>
          <a:xfrm>
            <a:off x="7401005" y="5706740"/>
            <a:ext cx="6280615" cy="4123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Decomposition:</a:t>
            </a:r>
          </a:p>
          <a:p>
            <a:r>
              <a:rPr lang="en-IN" sz="3742" dirty="0"/>
              <a:t>DB: fetch sum of pts per league</a:t>
            </a:r>
          </a:p>
          <a:p>
            <a:r>
              <a:rPr lang="en-IN" sz="3742" dirty="0"/>
              <a:t>DB: fetch sum of pts until Dec</a:t>
            </a:r>
            <a:br>
              <a:rPr lang="en-IN" sz="3742" dirty="0">
                <a:solidFill>
                  <a:srgbClr val="3333FF"/>
                </a:solidFill>
              </a:rPr>
            </a:br>
            <a:r>
              <a:rPr lang="en-IN" sz="3742" dirty="0">
                <a:solidFill>
                  <a:srgbClr val="3333FF"/>
                </a:solidFill>
              </a:rPr>
              <a:t>Py: compute league winner</a:t>
            </a:r>
          </a:p>
          <a:p>
            <a:r>
              <a:rPr lang="en-IN" sz="3742" dirty="0">
                <a:solidFill>
                  <a:srgbClr val="3333FF"/>
                </a:solidFill>
              </a:rPr>
              <a:t>Py: compute top 3 until Dec</a:t>
            </a:r>
            <a:br>
              <a:rPr lang="en-IN" sz="3742" dirty="0">
                <a:solidFill>
                  <a:srgbClr val="3333FF"/>
                </a:solidFill>
              </a:rPr>
            </a:br>
            <a:r>
              <a:rPr lang="en-IN" sz="3742" dirty="0">
                <a:solidFill>
                  <a:srgbClr val="3333FF"/>
                </a:solidFill>
              </a:rPr>
              <a:t>Py: find table 1 \ table 2</a:t>
            </a:r>
          </a:p>
          <a:p>
            <a:r>
              <a:rPr lang="en-IN" sz="3742" dirty="0">
                <a:solidFill>
                  <a:srgbClr val="3333FF"/>
                </a:solidFill>
              </a:rPr>
              <a:t>Py: return list of teams</a:t>
            </a:r>
            <a:r>
              <a:rPr lang="en-IN" sz="3742" b="1" dirty="0">
                <a:solidFill>
                  <a:srgbClr val="3333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941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1" grpId="0" animBg="1"/>
      <p:bldP spid="33" grpId="0" animBg="1"/>
      <p:bldP spid="3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9D87-A9A1-1BDD-93CD-31F7A19D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D28EB-E1FD-AC05-0296-1034B660C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SQL: primarily used for data fetch and </a:t>
            </a:r>
            <a:r>
              <a:rPr lang="en-IN" dirty="0" err="1"/>
              <a:t>subselect</a:t>
            </a:r>
            <a:endParaRPr lang="en-IN" dirty="0"/>
          </a:p>
          <a:p>
            <a:r>
              <a:rPr lang="en-IN" dirty="0"/>
              <a:t>Python: used for downstream reasoning</a:t>
            </a:r>
          </a:p>
          <a:p>
            <a:endParaRPr lang="en-IN" dirty="0"/>
          </a:p>
          <a:p>
            <a:r>
              <a:rPr lang="en-IN" dirty="0"/>
              <a:t>Variants</a:t>
            </a:r>
          </a:p>
          <a:p>
            <a:pPr lvl="1"/>
            <a:r>
              <a:rPr lang="en-IN" dirty="0">
                <a:solidFill>
                  <a:srgbClr val="3333FF"/>
                </a:solidFill>
              </a:rPr>
              <a:t>Single: </a:t>
            </a:r>
            <a:r>
              <a:rPr lang="en-IN" dirty="0"/>
              <a:t>Run all three Text2SQLCode steps in a single LLM call</a:t>
            </a:r>
          </a:p>
          <a:p>
            <a:pPr lvl="1"/>
            <a:r>
              <a:rPr lang="en-IN" dirty="0">
                <a:solidFill>
                  <a:srgbClr val="3333FF"/>
                </a:solidFill>
              </a:rPr>
              <a:t>Multi: </a:t>
            </a:r>
            <a:r>
              <a:rPr lang="en-IN" dirty="0"/>
              <a:t>Run all three Text2SQLCode steps in independent LLM calls</a:t>
            </a:r>
          </a:p>
          <a:p>
            <a:pPr lvl="1"/>
            <a:endParaRPr lang="en-IN" dirty="0"/>
          </a:p>
          <a:p>
            <a:pPr lvl="1"/>
            <a:r>
              <a:rPr lang="en-IN" dirty="0">
                <a:solidFill>
                  <a:srgbClr val="3333FF"/>
                </a:solidFill>
              </a:rPr>
              <a:t>Hybrid: </a:t>
            </a:r>
            <a:r>
              <a:rPr lang="en-IN" dirty="0"/>
              <a:t>Run Text2SQLCode only if multiple Text2SQL outputs don’t match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37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EA36-5CEB-F608-00D6-36245D59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Results</a:t>
            </a:r>
            <a:br>
              <a:rPr lang="en-IN" dirty="0"/>
            </a:br>
            <a:r>
              <a:rPr lang="en-IN" sz="4400" dirty="0">
                <a:solidFill>
                  <a:schemeClr val="accent2">
                    <a:lumMod val="50000"/>
                  </a:schemeClr>
                </a:solidFill>
              </a:rPr>
              <a:t>[</a:t>
            </a:r>
            <a:r>
              <a:rPr lang="en-IN" sz="4400" dirty="0" err="1">
                <a:solidFill>
                  <a:schemeClr val="accent2">
                    <a:lumMod val="50000"/>
                  </a:schemeClr>
                </a:solidFill>
              </a:rPr>
              <a:t>Maddella</a:t>
            </a:r>
            <a:r>
              <a:rPr lang="en-IN" sz="4400" dirty="0">
                <a:solidFill>
                  <a:schemeClr val="accent2">
                    <a:lumMod val="50000"/>
                  </a:schemeClr>
                </a:solidFill>
              </a:rPr>
              <a:t> et al, EMNLP’25]</a:t>
            </a:r>
          </a:p>
        </p:txBody>
      </p:sp>
      <p:pic>
        <p:nvPicPr>
          <p:cNvPr id="5" name="Content Placeholder 4" descr="The text displays a table comparing various SQL query generation models, such as STARQA, Text2SQL, and Hybrid, along with their performance metrics (e.g., accuracy, execution time) for different types of queries.&#10;&#10;AI-generated content may be incorrect.">
            <a:extLst>
              <a:ext uri="{FF2B5EF4-FFF2-40B4-BE49-F238E27FC236}">
                <a16:creationId xmlns:a16="http://schemas.microsoft.com/office/drawing/2014/main" id="{79FB75B5-33B4-6EC5-5820-1FCD68256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316" y="2468499"/>
            <a:ext cx="7920881" cy="56145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CA307A8-4582-8C77-AD46-F5F1C9515DB7}"/>
              </a:ext>
            </a:extLst>
          </p:cNvPr>
          <p:cNvGrpSpPr/>
          <p:nvPr/>
        </p:nvGrpSpPr>
        <p:grpSpPr>
          <a:xfrm>
            <a:off x="9758006" y="2466380"/>
            <a:ext cx="7452006" cy="5544616"/>
            <a:chOff x="9876571" y="3507566"/>
            <a:chExt cx="2510287" cy="1836579"/>
          </a:xfrm>
        </p:grpSpPr>
        <p:pic>
          <p:nvPicPr>
            <p:cNvPr id="7" name="Picture 6" descr="The text appears to be a table or chart listing different types of knowledge or text data, their corresponding numerical values, and associated labels or categories such as GPT, Text2SQL, Hybrid, and Oracle.&#10;&#10;AI-generated content may be incorrect.">
              <a:extLst>
                <a:ext uri="{FF2B5EF4-FFF2-40B4-BE49-F238E27FC236}">
                  <a16:creationId xmlns:a16="http://schemas.microsoft.com/office/drawing/2014/main" id="{D7246351-67C3-0000-4D0F-49DB379E2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212" y="3698082"/>
              <a:ext cx="2377646" cy="164606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08C9378-8764-D4EF-E0F5-A32E73F7B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76571" y="3507566"/>
              <a:ext cx="2491956" cy="20575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B6FC2D6-1306-BFA5-D3FD-B5E1FFEB10E9}"/>
              </a:ext>
            </a:extLst>
          </p:cNvPr>
          <p:cNvSpPr/>
          <p:nvPr/>
        </p:nvSpPr>
        <p:spPr>
          <a:xfrm>
            <a:off x="4320580" y="3690516"/>
            <a:ext cx="5184576" cy="13681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D5FBD2-020E-0B19-C920-013006A65791}"/>
              </a:ext>
            </a:extLst>
          </p:cNvPr>
          <p:cNvSpPr/>
          <p:nvPr/>
        </p:nvSpPr>
        <p:spPr>
          <a:xfrm>
            <a:off x="12025436" y="3690516"/>
            <a:ext cx="5184576" cy="13681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6D595-CCD3-BB81-D415-18100397A5CA}"/>
              </a:ext>
            </a:extLst>
          </p:cNvPr>
          <p:cNvSpPr txBox="1"/>
          <p:nvPr/>
        </p:nvSpPr>
        <p:spPr>
          <a:xfrm>
            <a:off x="4922836" y="8731974"/>
            <a:ext cx="96703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3333FF"/>
                </a:solidFill>
              </a:rPr>
              <a:t>Text2SQLCode performs better than Text2SQL</a:t>
            </a:r>
          </a:p>
        </p:txBody>
      </p:sp>
    </p:spTree>
    <p:extLst>
      <p:ext uri="{BB962C8B-B14F-4D97-AF65-F5344CB8AC3E}">
        <p14:creationId xmlns:p14="http://schemas.microsoft.com/office/powerpoint/2010/main" val="416177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763C-8B21-8ABF-A509-0998F515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BB39-D279-4270-4339-3A64D6B5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Results</a:t>
            </a:r>
            <a:br>
              <a:rPr lang="en-IN" dirty="0"/>
            </a:br>
            <a:r>
              <a:rPr lang="en-IN" sz="4400" dirty="0">
                <a:solidFill>
                  <a:schemeClr val="accent2">
                    <a:lumMod val="50000"/>
                  </a:schemeClr>
                </a:solidFill>
              </a:rPr>
              <a:t>[</a:t>
            </a:r>
            <a:r>
              <a:rPr lang="en-IN" sz="4400" dirty="0" err="1">
                <a:solidFill>
                  <a:schemeClr val="accent2">
                    <a:lumMod val="50000"/>
                  </a:schemeClr>
                </a:solidFill>
              </a:rPr>
              <a:t>Maddella</a:t>
            </a:r>
            <a:r>
              <a:rPr lang="en-IN" sz="4400" dirty="0">
                <a:solidFill>
                  <a:schemeClr val="accent2">
                    <a:lumMod val="50000"/>
                  </a:schemeClr>
                </a:solidFill>
              </a:rPr>
              <a:t> et al, EMNLP’25]</a:t>
            </a:r>
          </a:p>
        </p:txBody>
      </p:sp>
      <p:pic>
        <p:nvPicPr>
          <p:cNvPr id="5" name="Content Placeholder 4" descr="The text displays a table comparing various SQL query generation models, such as STARQA, Text2SQL, and Hybrid, along with their performance metrics (e.g., accuracy, execution time) for different types of queries.&#10;&#10;AI-generated content may be incorrect.">
            <a:extLst>
              <a:ext uri="{FF2B5EF4-FFF2-40B4-BE49-F238E27FC236}">
                <a16:creationId xmlns:a16="http://schemas.microsoft.com/office/drawing/2014/main" id="{46095129-91DB-67EA-ACA4-BFAE82E35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316" y="2468499"/>
            <a:ext cx="7920881" cy="56145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AC0C339-ECD7-37EB-2960-7A19003F86E8}"/>
              </a:ext>
            </a:extLst>
          </p:cNvPr>
          <p:cNvGrpSpPr/>
          <p:nvPr/>
        </p:nvGrpSpPr>
        <p:grpSpPr>
          <a:xfrm>
            <a:off x="9758006" y="2466380"/>
            <a:ext cx="7452006" cy="5544616"/>
            <a:chOff x="9876571" y="3507566"/>
            <a:chExt cx="2510287" cy="1836579"/>
          </a:xfrm>
        </p:grpSpPr>
        <p:pic>
          <p:nvPicPr>
            <p:cNvPr id="7" name="Picture 6" descr="The text appears to be a table or chart listing different types of knowledge or text data, their corresponding numerical values, and associated labels or categories such as GPT, Text2SQL, Hybrid, and Oracle.&#10;&#10;AI-generated content may be incorrect.">
              <a:extLst>
                <a:ext uri="{FF2B5EF4-FFF2-40B4-BE49-F238E27FC236}">
                  <a16:creationId xmlns:a16="http://schemas.microsoft.com/office/drawing/2014/main" id="{57FACE2E-B809-F651-9946-D7B46128B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212" y="3698082"/>
              <a:ext cx="2377646" cy="164606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376B64-45A5-C7C8-6EA3-7191FBD48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76571" y="3507566"/>
              <a:ext cx="2491956" cy="20575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11DD728-6F64-435E-52C1-3B6ECECAA167}"/>
              </a:ext>
            </a:extLst>
          </p:cNvPr>
          <p:cNvSpPr/>
          <p:nvPr/>
        </p:nvSpPr>
        <p:spPr>
          <a:xfrm>
            <a:off x="4320580" y="5058668"/>
            <a:ext cx="5184576" cy="10081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6BDE5-38F3-BFB0-6BB7-3953BD2A8696}"/>
              </a:ext>
            </a:extLst>
          </p:cNvPr>
          <p:cNvSpPr txBox="1"/>
          <p:nvPr/>
        </p:nvSpPr>
        <p:spPr>
          <a:xfrm>
            <a:off x="4922836" y="8731974"/>
            <a:ext cx="7985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3333FF"/>
                </a:solidFill>
              </a:rPr>
              <a:t>Self Consistency over Text2SQL helps!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E290C-326E-2E31-75D9-E9AF79B3BDA8}"/>
              </a:ext>
            </a:extLst>
          </p:cNvPr>
          <p:cNvSpPr/>
          <p:nvPr/>
        </p:nvSpPr>
        <p:spPr>
          <a:xfrm>
            <a:off x="12025436" y="5058668"/>
            <a:ext cx="5184576" cy="10081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123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51611-048F-008B-92E7-6C617341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B657-DAE6-1853-B632-B97CD8A0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Results</a:t>
            </a:r>
            <a:br>
              <a:rPr lang="en-IN" dirty="0"/>
            </a:br>
            <a:r>
              <a:rPr lang="en-IN" sz="4400" dirty="0">
                <a:solidFill>
                  <a:schemeClr val="accent2">
                    <a:lumMod val="50000"/>
                  </a:schemeClr>
                </a:solidFill>
              </a:rPr>
              <a:t>[</a:t>
            </a:r>
            <a:r>
              <a:rPr lang="en-IN" sz="4400" dirty="0" err="1">
                <a:solidFill>
                  <a:schemeClr val="accent2">
                    <a:lumMod val="50000"/>
                  </a:schemeClr>
                </a:solidFill>
              </a:rPr>
              <a:t>Maddella</a:t>
            </a:r>
            <a:r>
              <a:rPr lang="en-IN" sz="4400" dirty="0">
                <a:solidFill>
                  <a:schemeClr val="accent2">
                    <a:lumMod val="50000"/>
                  </a:schemeClr>
                </a:solidFill>
              </a:rPr>
              <a:t> et al, EMNLP’25]</a:t>
            </a:r>
          </a:p>
        </p:txBody>
      </p:sp>
      <p:pic>
        <p:nvPicPr>
          <p:cNvPr id="5" name="Content Placeholder 4" descr="The text displays a table comparing various SQL query generation models, such as STARQA, Text2SQL, and Hybrid, along with their performance metrics (e.g., accuracy, execution time) for different types of queries.&#10;&#10;AI-generated content may be incorrect.">
            <a:extLst>
              <a:ext uri="{FF2B5EF4-FFF2-40B4-BE49-F238E27FC236}">
                <a16:creationId xmlns:a16="http://schemas.microsoft.com/office/drawing/2014/main" id="{3D20647F-C6B4-D81E-131B-1319DDD99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316" y="2468499"/>
            <a:ext cx="7920881" cy="56145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87D7699-3586-6A46-FA09-36B0AE81641A}"/>
              </a:ext>
            </a:extLst>
          </p:cNvPr>
          <p:cNvGrpSpPr/>
          <p:nvPr/>
        </p:nvGrpSpPr>
        <p:grpSpPr>
          <a:xfrm>
            <a:off x="9758006" y="2466380"/>
            <a:ext cx="7452006" cy="5544616"/>
            <a:chOff x="9876571" y="3507566"/>
            <a:chExt cx="2510287" cy="1836579"/>
          </a:xfrm>
        </p:grpSpPr>
        <p:pic>
          <p:nvPicPr>
            <p:cNvPr id="7" name="Picture 6" descr="The text appears to be a table or chart listing different types of knowledge or text data, their corresponding numerical values, and associated labels or categories such as GPT, Text2SQL, Hybrid, and Oracle.&#10;&#10;AI-generated content may be incorrect.">
              <a:extLst>
                <a:ext uri="{FF2B5EF4-FFF2-40B4-BE49-F238E27FC236}">
                  <a16:creationId xmlns:a16="http://schemas.microsoft.com/office/drawing/2014/main" id="{98B41EBD-20B5-368D-A51C-CB51679C9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212" y="3698082"/>
              <a:ext cx="2377646" cy="164606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C6281E-85B2-2391-7B08-28C01A400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76571" y="3507566"/>
              <a:ext cx="2491956" cy="20575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A281569-EC18-2E51-58D6-4150BF2B1444}"/>
              </a:ext>
            </a:extLst>
          </p:cNvPr>
          <p:cNvSpPr/>
          <p:nvPr/>
        </p:nvSpPr>
        <p:spPr>
          <a:xfrm>
            <a:off x="4320580" y="6066780"/>
            <a:ext cx="5184576" cy="10081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4147-EE49-3C4A-25F8-536D5D7AF1B4}"/>
              </a:ext>
            </a:extLst>
          </p:cNvPr>
          <p:cNvSpPr txBox="1"/>
          <p:nvPr/>
        </p:nvSpPr>
        <p:spPr>
          <a:xfrm>
            <a:off x="936204" y="8731974"/>
            <a:ext cx="17824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3333FF"/>
                </a:solidFill>
              </a:rPr>
              <a:t>Different LLMs vary </a:t>
            </a:r>
            <a:r>
              <a:rPr lang="en-IN" sz="4000" dirty="0" err="1">
                <a:solidFill>
                  <a:srgbClr val="3333FF"/>
                </a:solidFill>
              </a:rPr>
              <a:t>w.r.t.</a:t>
            </a:r>
            <a:r>
              <a:rPr lang="en-IN" sz="4000" dirty="0">
                <a:solidFill>
                  <a:srgbClr val="3333FF"/>
                </a:solidFill>
              </a:rPr>
              <a:t> single vs. multi</a:t>
            </a:r>
          </a:p>
          <a:p>
            <a:r>
              <a:rPr lang="en-IN" sz="4000" dirty="0">
                <a:solidFill>
                  <a:srgbClr val="3333FF"/>
                </a:solidFill>
              </a:rPr>
              <a:t>	</a:t>
            </a:r>
            <a:r>
              <a:rPr lang="en-IN" sz="4000" dirty="0" err="1">
                <a:solidFill>
                  <a:srgbClr val="3333FF"/>
                </a:solidFill>
              </a:rPr>
              <a:t>tradeoff</a:t>
            </a:r>
            <a:r>
              <a:rPr lang="en-IN" sz="4000" dirty="0">
                <a:solidFill>
                  <a:srgbClr val="3333FF"/>
                </a:solidFill>
              </a:rPr>
              <a:t> between one large prompt vs. error multiplication over pipelined prompts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1FD71-A04B-1D8C-3471-1747248E89C3}"/>
              </a:ext>
            </a:extLst>
          </p:cNvPr>
          <p:cNvSpPr/>
          <p:nvPr/>
        </p:nvSpPr>
        <p:spPr>
          <a:xfrm>
            <a:off x="12025436" y="6066780"/>
            <a:ext cx="5184576" cy="10081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61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E5D1-A9D7-6EB8-4A72-BE0DFFAB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E02A-2DF7-4674-0904-E4BB71D30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Logical errors</a:t>
            </a:r>
          </a:p>
          <a:p>
            <a:pPr lvl="1"/>
            <a:r>
              <a:rPr lang="en-IN" dirty="0"/>
              <a:t>missed clauses</a:t>
            </a:r>
          </a:p>
          <a:p>
            <a:pPr lvl="1"/>
            <a:r>
              <a:rPr lang="en-IN" dirty="0"/>
              <a:t>inaccurate null processing</a:t>
            </a:r>
          </a:p>
          <a:p>
            <a:pPr lvl="1"/>
            <a:r>
              <a:rPr lang="en-IN" dirty="0"/>
              <a:t>missed steps</a:t>
            </a:r>
          </a:p>
          <a:p>
            <a:r>
              <a:rPr lang="en-IN" dirty="0"/>
              <a:t>Inaccurate decomposition</a:t>
            </a:r>
          </a:p>
          <a:p>
            <a:pPr lvl="1"/>
            <a:r>
              <a:rPr lang="en-IN" dirty="0"/>
              <a:t>missed retaining information in SQL steps</a:t>
            </a:r>
          </a:p>
          <a:p>
            <a:r>
              <a:rPr lang="en-IN" dirty="0"/>
              <a:t>Text2SQL prompts that are inter-dependent</a:t>
            </a:r>
          </a:p>
        </p:txBody>
      </p:sp>
    </p:spTree>
    <p:extLst>
      <p:ext uri="{BB962C8B-B14F-4D97-AF65-F5344CB8AC3E}">
        <p14:creationId xmlns:p14="http://schemas.microsoft.com/office/powerpoint/2010/main" val="4247950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12C1-3E8B-4C39-015B-A97B4B1E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F11E-AC49-CE7C-A95B-A35D2132F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3333FF"/>
                </a:solidFill>
              </a:rPr>
              <a:t>Useful dataset for multi-agent system over a DB</a:t>
            </a:r>
          </a:p>
          <a:p>
            <a:endParaRPr lang="en-IN" dirty="0">
              <a:solidFill>
                <a:srgbClr val="3333FF"/>
              </a:solidFill>
            </a:endParaRPr>
          </a:p>
          <a:p>
            <a:r>
              <a:rPr lang="en-IN" dirty="0">
                <a:solidFill>
                  <a:srgbClr val="3333FF"/>
                </a:solidFill>
              </a:rPr>
              <a:t>Division of Labor</a:t>
            </a:r>
          </a:p>
          <a:p>
            <a:pPr lvl="1"/>
            <a:r>
              <a:rPr lang="en-IN" dirty="0"/>
              <a:t>Text2SQL: primarily for data </a:t>
            </a:r>
            <a:r>
              <a:rPr lang="en-IN" dirty="0" err="1"/>
              <a:t>subselection</a:t>
            </a:r>
            <a:r>
              <a:rPr lang="en-IN" dirty="0"/>
              <a:t> and fetch</a:t>
            </a:r>
          </a:p>
          <a:p>
            <a:pPr lvl="1"/>
            <a:r>
              <a:rPr lang="en-IN" dirty="0"/>
              <a:t>Text2Code: primarily for complex intents</a:t>
            </a:r>
          </a:p>
          <a:p>
            <a:pPr lvl="1"/>
            <a:r>
              <a:rPr lang="en-IN" dirty="0"/>
              <a:t>Plumbing: needed for smooth inter-operation</a:t>
            </a:r>
          </a:p>
          <a:p>
            <a:pPr lvl="1"/>
            <a:endParaRPr lang="en-IN" dirty="0"/>
          </a:p>
          <a:p>
            <a:r>
              <a:rPr lang="en-IN" dirty="0">
                <a:solidFill>
                  <a:srgbClr val="3333FF"/>
                </a:solidFill>
              </a:rPr>
              <a:t>Calibration of LLMs via self consistency</a:t>
            </a:r>
          </a:p>
        </p:txBody>
      </p:sp>
    </p:spTree>
    <p:extLst>
      <p:ext uri="{BB962C8B-B14F-4D97-AF65-F5344CB8AC3E}">
        <p14:creationId xmlns:p14="http://schemas.microsoft.com/office/powerpoint/2010/main" val="1182780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98B70-E72D-9B27-B0D3-37B63DF3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5D6F-27EA-9A43-8AEB-0DE0478E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Studies in Semantic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0D03A-D5A6-8141-B8E4-72DC6A5F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Reasoning: </a:t>
            </a:r>
            <a:r>
              <a:rPr lang="en-IN" dirty="0"/>
              <a:t>Answering complex analytical reasoning questions</a:t>
            </a:r>
            <a:endParaRPr lang="en-US" dirty="0"/>
          </a:p>
          <a:p>
            <a:pPr marL="712866" lvl="1" indent="0">
              <a:buNone/>
            </a:pPr>
            <a:endParaRPr lang="en-US" dirty="0"/>
          </a:p>
          <a:p>
            <a:r>
              <a:rPr lang="en-IN" dirty="0">
                <a:solidFill>
                  <a:srgbClr val="3333FF"/>
                </a:solidFill>
              </a:rPr>
              <a:t>Robustness: Handling unanswerable questions</a:t>
            </a:r>
          </a:p>
          <a:p>
            <a:endParaRPr lang="en-IN" dirty="0">
              <a:solidFill>
                <a:srgbClr val="3333FF"/>
              </a:solidFill>
            </a:endParaRPr>
          </a:p>
          <a:p>
            <a:r>
              <a:rPr lang="en-IN" dirty="0">
                <a:solidFill>
                  <a:srgbClr val="3333FF"/>
                </a:solidFill>
              </a:rPr>
              <a:t>Transfer Learning: Limited training data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115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07632"/>
              </p:ext>
            </p:extLst>
          </p:nvPr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/>
                        <a:t>SLM</a:t>
                      </a:r>
                      <a:endParaRPr lang="en-IN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6BE605-F9AF-CDC2-B1D1-C062B4E6CFCB}"/>
              </a:ext>
            </a:extLst>
          </p:cNvPr>
          <p:cNvSpPr/>
          <p:nvPr/>
        </p:nvSpPr>
        <p:spPr>
          <a:xfrm>
            <a:off x="11161340" y="1242244"/>
            <a:ext cx="5040561" cy="8352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35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FE56-E8CF-AE86-A008-0EAD8C1AD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6C85-628E-3AAC-ED7E-8F2EB111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DB74F1-1AB1-028B-4D17-AE6A980F60F7}"/>
              </a:ext>
            </a:extLst>
          </p:cNvPr>
          <p:cNvGraphicFramePr>
            <a:graphicFrameLocks noGrp="1"/>
          </p:cNvGraphicFramePr>
          <p:nvPr/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/>
                        <a:t>SLM</a:t>
                      </a:r>
                      <a:endParaRPr lang="en-IN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A4DEFE-FD64-2925-9E84-F0278F4844BF}"/>
              </a:ext>
            </a:extLst>
          </p:cNvPr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A4B3B-42B9-1754-AECF-65F573944185}"/>
              </a:ext>
            </a:extLst>
          </p:cNvPr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B9372-379B-1E1C-6E1A-D603C753ED83}"/>
              </a:ext>
            </a:extLst>
          </p:cNvPr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A56ABE-EDEA-B518-22FF-BA08DFECB823}"/>
              </a:ext>
            </a:extLst>
          </p:cNvPr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30C22-3F9C-6192-CA4D-1FE912272693}"/>
              </a:ext>
            </a:extLst>
          </p:cNvPr>
          <p:cNvSpPr/>
          <p:nvPr/>
        </p:nvSpPr>
        <p:spPr>
          <a:xfrm>
            <a:off x="11161340" y="1242244"/>
            <a:ext cx="5040561" cy="6696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33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06EF-88D2-E1E6-48FB-DFA9540F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A3A68-9652-F656-5167-AC653845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8E55AF-389E-0CA7-B9BB-5B7706C5DABA}"/>
              </a:ext>
            </a:extLst>
          </p:cNvPr>
          <p:cNvGraphicFramePr>
            <a:graphicFrameLocks noGrp="1"/>
          </p:cNvGraphicFramePr>
          <p:nvPr/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/>
                        <a:t>SLM</a:t>
                      </a:r>
                      <a:endParaRPr lang="en-IN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5C45FC3-DD11-01C8-31AD-1E0B76EA9E60}"/>
              </a:ext>
            </a:extLst>
          </p:cNvPr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0B5E6-CDE8-D5C8-F19D-61D48EA3AC42}"/>
              </a:ext>
            </a:extLst>
          </p:cNvPr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424AE-47D8-7533-7A91-E0D3F99D9030}"/>
              </a:ext>
            </a:extLst>
          </p:cNvPr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CB94F-E26A-E62C-4980-10D3E84AFFBE}"/>
              </a:ext>
            </a:extLst>
          </p:cNvPr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560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F800D65-F97D-1FE0-3E50-20A33F51027F}"/>
              </a:ext>
            </a:extLst>
          </p:cNvPr>
          <p:cNvSpPr txBox="1"/>
          <p:nvPr/>
        </p:nvSpPr>
        <p:spPr>
          <a:xfrm>
            <a:off x="14173401" y="1858490"/>
            <a:ext cx="6113871" cy="1676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650" indent="-534650">
              <a:buFont typeface="Arial" panose="020B0604020202020204" pitchFamily="34" charset="0"/>
              <a:buChar char="•"/>
            </a:pPr>
            <a:r>
              <a:rPr lang="en-US" sz="3742" dirty="0">
                <a:solidFill>
                  <a:srgbClr val="3333FF"/>
                </a:solidFill>
              </a:rPr>
              <a:t>Training Data:</a:t>
            </a:r>
          </a:p>
          <a:p>
            <a:pPr marL="1247516" lvl="1" indent="-534650">
              <a:buFont typeface="Arial" panose="020B0604020202020204" pitchFamily="34" charset="0"/>
              <a:buChar char="•"/>
            </a:pPr>
            <a:r>
              <a:rPr lang="en-US" sz="3742" dirty="0"/>
              <a:t>(Q, LF) pairs</a:t>
            </a:r>
          </a:p>
          <a:p>
            <a:endParaRPr lang="en-IN" sz="2807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B455678-1A24-C24A-C394-BFCC5435BB99}"/>
              </a:ext>
            </a:extLst>
          </p:cNvPr>
          <p:cNvSpPr/>
          <p:nvPr/>
        </p:nvSpPr>
        <p:spPr>
          <a:xfrm>
            <a:off x="5537707" y="6389939"/>
            <a:ext cx="207244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Researcher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D609F7-7777-0493-FABF-6E7AD1F0E4E2}"/>
              </a:ext>
            </a:extLst>
          </p:cNvPr>
          <p:cNvSpPr/>
          <p:nvPr/>
        </p:nvSpPr>
        <p:spPr>
          <a:xfrm>
            <a:off x="8619093" y="6393837"/>
            <a:ext cx="170625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Paper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EFD8B4B-9F3A-6D57-1640-8B58B86885AF}"/>
              </a:ext>
            </a:extLst>
          </p:cNvPr>
          <p:cNvSpPr/>
          <p:nvPr/>
        </p:nvSpPr>
        <p:spPr>
          <a:xfrm>
            <a:off x="11287545" y="6397735"/>
            <a:ext cx="207244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Conference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EB8773-AEDF-5D45-FEC3-ED918AA36397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706271" y="6679828"/>
            <a:ext cx="912822" cy="1949"/>
          </a:xfrm>
          <a:prstGeom prst="straightConnector1">
            <a:avLst/>
          </a:prstGeom>
          <a:ln w="38100" cmpd="dbl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9056A3-7D54-76DA-6B02-C1E5ADEB75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10325347" y="6677879"/>
            <a:ext cx="962197" cy="7796"/>
          </a:xfrm>
          <a:prstGeom prst="straightConnector1">
            <a:avLst/>
          </a:prstGeom>
          <a:ln w="38100" cmpd="dbl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C162241-6D1B-AE60-EF7E-C479142444A3}"/>
              </a:ext>
            </a:extLst>
          </p:cNvPr>
          <p:cNvSpPr txBox="1"/>
          <p:nvPr/>
        </p:nvSpPr>
        <p:spPr>
          <a:xfrm>
            <a:off x="7492674" y="6778139"/>
            <a:ext cx="1188851" cy="524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7" dirty="0"/>
              <a:t>writes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910155-4538-F9D5-2111-5D5A77FAE052}"/>
              </a:ext>
            </a:extLst>
          </p:cNvPr>
          <p:cNvSpPr txBox="1"/>
          <p:nvPr/>
        </p:nvSpPr>
        <p:spPr>
          <a:xfrm>
            <a:off x="10020194" y="6871974"/>
            <a:ext cx="1989519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/>
              <a:t>published at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15DBF02-C9C2-D72F-B489-A0AC292224AE}"/>
              </a:ext>
            </a:extLst>
          </p:cNvPr>
          <p:cNvSpPr/>
          <p:nvPr/>
        </p:nvSpPr>
        <p:spPr>
          <a:xfrm>
            <a:off x="5168467" y="6315823"/>
            <a:ext cx="8609177" cy="25782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694CE4C-CD91-4C62-B2AD-DB3B61DC3489}"/>
              </a:ext>
            </a:extLst>
          </p:cNvPr>
          <p:cNvSpPr/>
          <p:nvPr/>
        </p:nvSpPr>
        <p:spPr>
          <a:xfrm>
            <a:off x="5281252" y="7459603"/>
            <a:ext cx="8185319" cy="1186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7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708B5FA-B22F-E602-400D-82473AA0753D}"/>
              </a:ext>
            </a:extLst>
          </p:cNvPr>
          <p:cNvSpPr/>
          <p:nvPr/>
        </p:nvSpPr>
        <p:spPr>
          <a:xfrm>
            <a:off x="5405048" y="7551068"/>
            <a:ext cx="2331908" cy="8894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C. Manning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9445DB0-3BBD-AE1B-AB63-2857429EFD68}"/>
              </a:ext>
            </a:extLst>
          </p:cNvPr>
          <p:cNvSpPr/>
          <p:nvPr/>
        </p:nvSpPr>
        <p:spPr>
          <a:xfrm>
            <a:off x="8551413" y="7554966"/>
            <a:ext cx="1808768" cy="79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Glove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8DB3077-33D5-83B9-09FC-0F5E1554B083}"/>
              </a:ext>
            </a:extLst>
          </p:cNvPr>
          <p:cNvSpPr/>
          <p:nvPr/>
        </p:nvSpPr>
        <p:spPr>
          <a:xfrm>
            <a:off x="11373028" y="7558865"/>
            <a:ext cx="1901482" cy="79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EMNLP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B9CCB1-9ADA-2508-29F9-4A4116BAA6A7}"/>
              </a:ext>
            </a:extLst>
          </p:cNvPr>
          <p:cNvCxnSpPr>
            <a:cxnSpLocks/>
            <a:stCxn id="69" idx="6"/>
            <a:endCxn id="70" idx="2"/>
          </p:cNvCxnSpPr>
          <p:nvPr/>
        </p:nvCxnSpPr>
        <p:spPr>
          <a:xfrm flipV="1">
            <a:off x="7736956" y="7952314"/>
            <a:ext cx="814457" cy="43459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1843C73-4123-A731-D4DE-8A8A73AFE382}"/>
              </a:ext>
            </a:extLst>
          </p:cNvPr>
          <p:cNvCxnSpPr>
            <a:cxnSpLocks/>
            <a:stCxn id="70" idx="6"/>
            <a:endCxn id="71" idx="2"/>
          </p:cNvCxnSpPr>
          <p:nvPr/>
        </p:nvCxnSpPr>
        <p:spPr>
          <a:xfrm>
            <a:off x="10360181" y="7952313"/>
            <a:ext cx="1012846" cy="3898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09E649-70AC-263C-087B-AA0663B1E613}"/>
              </a:ext>
            </a:extLst>
          </p:cNvPr>
          <p:cNvSpPr txBox="1"/>
          <p:nvPr/>
        </p:nvSpPr>
        <p:spPr>
          <a:xfrm>
            <a:off x="7596706" y="8186614"/>
            <a:ext cx="1088118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/>
              <a:t>writes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A44BE1-9412-0D4F-E4BF-9EF7B0AA5CEF}"/>
              </a:ext>
            </a:extLst>
          </p:cNvPr>
          <p:cNvSpPr txBox="1"/>
          <p:nvPr/>
        </p:nvSpPr>
        <p:spPr>
          <a:xfrm>
            <a:off x="10016549" y="8175027"/>
            <a:ext cx="1989519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/>
              <a:t>published at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E943F11-0E9E-9E73-8DDC-561606B14032}"/>
              </a:ext>
            </a:extLst>
          </p:cNvPr>
          <p:cNvCxnSpPr>
            <a:cxnSpLocks/>
            <a:stCxn id="69" idx="0"/>
            <a:endCxn id="36" idx="2"/>
          </p:cNvCxnSpPr>
          <p:nvPr/>
        </p:nvCxnSpPr>
        <p:spPr>
          <a:xfrm flipV="1">
            <a:off x="6571003" y="6965819"/>
            <a:ext cx="2927" cy="585248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DBC7F73-22B4-E9F1-9F00-38CEB90D5AF3}"/>
              </a:ext>
            </a:extLst>
          </p:cNvPr>
          <p:cNvCxnSpPr>
            <a:cxnSpLocks/>
            <a:stCxn id="70" idx="0"/>
            <a:endCxn id="37" idx="2"/>
          </p:cNvCxnSpPr>
          <p:nvPr/>
        </p:nvCxnSpPr>
        <p:spPr>
          <a:xfrm flipV="1">
            <a:off x="9455797" y="6969716"/>
            <a:ext cx="16424" cy="58525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C58FEC8-F9D7-0741-96F9-CCE92E85180D}"/>
              </a:ext>
            </a:extLst>
          </p:cNvPr>
          <p:cNvCxnSpPr>
            <a:cxnSpLocks/>
            <a:stCxn id="71" idx="0"/>
            <a:endCxn id="38" idx="2"/>
          </p:cNvCxnSpPr>
          <p:nvPr/>
        </p:nvCxnSpPr>
        <p:spPr>
          <a:xfrm flipH="1" flipV="1">
            <a:off x="12323768" y="6973614"/>
            <a:ext cx="2" cy="58525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4229222" y="7216444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68467" y="3866302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297004" y="3887424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>
                <a:solidFill>
                  <a:srgbClr val="252423"/>
                </a:solidFill>
              </a:rPr>
              <a:t>(And </a:t>
            </a:r>
            <a:r>
              <a:rPr lang="en-US" sz="3742" dirty="0"/>
              <a:t>Paper</a:t>
            </a:r>
            <a:r>
              <a:rPr lang="en-US" sz="3742" dirty="0">
                <a:solidFill>
                  <a:srgbClr val="FF0000"/>
                </a:solidFill>
              </a:rPr>
              <a:t> </a:t>
            </a:r>
            <a:r>
              <a:rPr lang="en-US" sz="3742" dirty="0">
                <a:solidFill>
                  <a:srgbClr val="252423"/>
                </a:solidFill>
              </a:rPr>
              <a:t>(And (Join writes</a:t>
            </a:r>
            <a:r>
              <a:rPr lang="en-US" sz="3742" baseline="30000" dirty="0">
                <a:solidFill>
                  <a:srgbClr val="252423"/>
                </a:solidFill>
              </a:rPr>
              <a:t>-1</a:t>
            </a:r>
            <a:r>
              <a:rPr lang="en-US" sz="3742" dirty="0">
                <a:solidFill>
                  <a:srgbClr val="252423"/>
                </a:solidFill>
              </a:rPr>
              <a:t> C. Manning) (Join published at EMNLP)))</a:t>
            </a:r>
            <a:endParaRPr lang="en-IN" sz="3742" b="1" dirty="0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8060921" y="9635332"/>
            <a:ext cx="2323955" cy="844155"/>
            <a:chOff x="944734" y="6077220"/>
            <a:chExt cx="1490436" cy="701097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154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8978836" y="326907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5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8984418" y="5723775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8979672" y="8936092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D1576491-51CD-76E5-4FB2-986DDB4B9A40}"/>
              </a:ext>
            </a:extLst>
          </p:cNvPr>
          <p:cNvSpPr/>
          <p:nvPr/>
        </p:nvSpPr>
        <p:spPr>
          <a:xfrm>
            <a:off x="665920" y="1854073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Question</a:t>
            </a:r>
          </a:p>
          <a:p>
            <a:pPr algn="ctr"/>
            <a:r>
              <a:rPr lang="en-IN" sz="3742" b="1" dirty="0">
                <a:solidFill>
                  <a:schemeClr val="tx1"/>
                </a:solidFill>
              </a:rPr>
              <a:t>(Q)</a:t>
            </a:r>
          </a:p>
        </p:txBody>
      </p: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003A0417-D859-5312-D9E2-7852AAB37D04}"/>
              </a:ext>
            </a:extLst>
          </p:cNvPr>
          <p:cNvSpPr/>
          <p:nvPr/>
        </p:nvSpPr>
        <p:spPr>
          <a:xfrm>
            <a:off x="1772490" y="331917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DDFA2B0C-DC85-9302-23A1-E47ABFF56186}"/>
              </a:ext>
            </a:extLst>
          </p:cNvPr>
          <p:cNvSpPr/>
          <p:nvPr/>
        </p:nvSpPr>
        <p:spPr>
          <a:xfrm>
            <a:off x="665920" y="3939104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KB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B82768B1-5489-981D-8AE6-9E1ACFC6BF9B}"/>
              </a:ext>
            </a:extLst>
          </p:cNvPr>
          <p:cNvSpPr/>
          <p:nvPr/>
        </p:nvSpPr>
        <p:spPr>
          <a:xfrm>
            <a:off x="722033" y="6047861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Answer </a:t>
            </a:r>
          </a:p>
          <a:p>
            <a:pPr algn="ctr"/>
            <a:r>
              <a:rPr lang="en-IN" sz="3742" b="1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165" name="Arrow: Down 164">
            <a:extLst>
              <a:ext uri="{FF2B5EF4-FFF2-40B4-BE49-F238E27FC236}">
                <a16:creationId xmlns:a16="http://schemas.microsoft.com/office/drawing/2014/main" id="{82A618E2-3E31-BDE1-1B9F-C2DDB7DFADB0}"/>
              </a:ext>
            </a:extLst>
          </p:cNvPr>
          <p:cNvSpPr/>
          <p:nvPr/>
        </p:nvSpPr>
        <p:spPr>
          <a:xfrm>
            <a:off x="1778100" y="541243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1306959" y="569326"/>
            <a:ext cx="16396395" cy="14650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Background: Knowledge-Base Question Answering</a:t>
            </a:r>
            <a:endParaRPr lang="en-IN" dirty="0"/>
          </a:p>
        </p:txBody>
      </p:sp>
      <p:sp>
        <p:nvSpPr>
          <p:cNvPr id="44" name="Google Shape;84;p16"/>
          <p:cNvSpPr txBox="1"/>
          <p:nvPr/>
        </p:nvSpPr>
        <p:spPr>
          <a:xfrm>
            <a:off x="14123396" y="3712449"/>
            <a:ext cx="4960487" cy="676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n" sz="4000" dirty="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KB: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Facts, defined by Schema</a:t>
            </a:r>
            <a:endParaRPr lang="en"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endParaRPr lang="en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850" y="7866980"/>
            <a:ext cx="900895" cy="7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3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 animBg="1"/>
      <p:bldP spid="37" grpId="0" animBg="1"/>
      <p:bldP spid="38" grpId="0" animBg="1"/>
      <p:bldP spid="41" grpId="0"/>
      <p:bldP spid="42" grpId="0"/>
      <p:bldP spid="56" grpId="0" animBg="1"/>
      <p:bldP spid="68" grpId="0" animBg="1"/>
      <p:bldP spid="69" grpId="0" animBg="1"/>
      <p:bldP spid="70" grpId="0" animBg="1"/>
      <p:bldP spid="71" grpId="0" animBg="1"/>
      <p:bldP spid="75" grpId="0"/>
      <p:bldP spid="76" grpId="0"/>
      <p:bldP spid="136" grpId="0"/>
      <p:bldP spid="145" grpId="0" animBg="1"/>
      <p:bldP spid="147" grpId="0"/>
      <p:bldP spid="148" grpId="0" animBg="1"/>
      <p:bldP spid="149" grpId="0"/>
      <p:bldP spid="154" grpId="0" animBg="1"/>
      <p:bldP spid="155" grpId="0" animBg="1"/>
      <p:bldP spid="156" grpId="0" animBg="1"/>
      <p:bldP spid="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F800D65-F97D-1FE0-3E50-20A33F51027F}"/>
              </a:ext>
            </a:extLst>
          </p:cNvPr>
          <p:cNvSpPr txBox="1"/>
          <p:nvPr/>
        </p:nvSpPr>
        <p:spPr>
          <a:xfrm>
            <a:off x="14173401" y="1858490"/>
            <a:ext cx="6113871" cy="1676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650" indent="-534650">
              <a:buFont typeface="Arial" panose="020B0604020202020204" pitchFamily="34" charset="0"/>
              <a:buChar char="•"/>
            </a:pPr>
            <a:r>
              <a:rPr lang="en-US" sz="3742" dirty="0">
                <a:solidFill>
                  <a:srgbClr val="3333FF"/>
                </a:solidFill>
              </a:rPr>
              <a:t>Training Data:</a:t>
            </a:r>
          </a:p>
          <a:p>
            <a:pPr marL="1247516" lvl="1" indent="-534650">
              <a:buFont typeface="Arial" panose="020B0604020202020204" pitchFamily="34" charset="0"/>
              <a:buChar char="•"/>
            </a:pPr>
            <a:r>
              <a:rPr lang="en-US" sz="3742" dirty="0"/>
              <a:t>(Q, LF) pairs</a:t>
            </a:r>
          </a:p>
          <a:p>
            <a:endParaRPr lang="en-IN" sz="2807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B455678-1A24-C24A-C394-BFCC5435BB99}"/>
              </a:ext>
            </a:extLst>
          </p:cNvPr>
          <p:cNvSpPr/>
          <p:nvPr/>
        </p:nvSpPr>
        <p:spPr>
          <a:xfrm>
            <a:off x="5537707" y="6389939"/>
            <a:ext cx="207244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>
                <a:solidFill>
                  <a:srgbClr val="3333FF"/>
                </a:solidFill>
              </a:rPr>
              <a:t>Researcher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D609F7-7777-0493-FABF-6E7AD1F0E4E2}"/>
              </a:ext>
            </a:extLst>
          </p:cNvPr>
          <p:cNvSpPr/>
          <p:nvPr/>
        </p:nvSpPr>
        <p:spPr>
          <a:xfrm>
            <a:off x="8619093" y="6393837"/>
            <a:ext cx="170625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>
                <a:solidFill>
                  <a:srgbClr val="3333FF"/>
                </a:solidFill>
              </a:rPr>
              <a:t>Paper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EFD8B4B-9F3A-6D57-1640-8B58B86885AF}"/>
              </a:ext>
            </a:extLst>
          </p:cNvPr>
          <p:cNvSpPr/>
          <p:nvPr/>
        </p:nvSpPr>
        <p:spPr>
          <a:xfrm>
            <a:off x="11287545" y="6397735"/>
            <a:ext cx="207244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>
                <a:solidFill>
                  <a:srgbClr val="3333FF"/>
                </a:solidFill>
              </a:rPr>
              <a:t>Conference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EB8773-AEDF-5D45-FEC3-ED918AA36397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706271" y="6679828"/>
            <a:ext cx="912822" cy="1949"/>
          </a:xfrm>
          <a:prstGeom prst="straightConnector1">
            <a:avLst/>
          </a:prstGeom>
          <a:ln w="38100" cmpd="dbl">
            <a:solidFill>
              <a:srgbClr val="3333F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9056A3-7D54-76DA-6B02-C1E5ADEB75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10325347" y="6677879"/>
            <a:ext cx="962197" cy="7796"/>
          </a:xfrm>
          <a:prstGeom prst="straightConnector1">
            <a:avLst/>
          </a:prstGeom>
          <a:ln w="38100" cmpd="dbl">
            <a:solidFill>
              <a:srgbClr val="3333F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C162241-6D1B-AE60-EF7E-C479142444A3}"/>
              </a:ext>
            </a:extLst>
          </p:cNvPr>
          <p:cNvSpPr txBox="1"/>
          <p:nvPr/>
        </p:nvSpPr>
        <p:spPr>
          <a:xfrm>
            <a:off x="7492674" y="6778139"/>
            <a:ext cx="1188851" cy="524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7" dirty="0">
                <a:solidFill>
                  <a:srgbClr val="3333FF"/>
                </a:solidFill>
              </a:rPr>
              <a:t>writes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910155-4538-F9D5-2111-5D5A77FAE052}"/>
              </a:ext>
            </a:extLst>
          </p:cNvPr>
          <p:cNvSpPr txBox="1"/>
          <p:nvPr/>
        </p:nvSpPr>
        <p:spPr>
          <a:xfrm>
            <a:off x="10020194" y="6871974"/>
            <a:ext cx="1989519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>
                <a:solidFill>
                  <a:srgbClr val="3333FF"/>
                </a:solidFill>
              </a:rPr>
              <a:t>published at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15DBF02-C9C2-D72F-B489-A0AC292224AE}"/>
              </a:ext>
            </a:extLst>
          </p:cNvPr>
          <p:cNvSpPr/>
          <p:nvPr/>
        </p:nvSpPr>
        <p:spPr>
          <a:xfrm>
            <a:off x="5168467" y="6315823"/>
            <a:ext cx="8609177" cy="25782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694CE4C-CD91-4C62-B2AD-DB3B61DC3489}"/>
              </a:ext>
            </a:extLst>
          </p:cNvPr>
          <p:cNvSpPr/>
          <p:nvPr/>
        </p:nvSpPr>
        <p:spPr>
          <a:xfrm>
            <a:off x="5281252" y="7459603"/>
            <a:ext cx="8185319" cy="1186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7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708B5FA-B22F-E602-400D-82473AA0753D}"/>
              </a:ext>
            </a:extLst>
          </p:cNvPr>
          <p:cNvSpPr/>
          <p:nvPr/>
        </p:nvSpPr>
        <p:spPr>
          <a:xfrm>
            <a:off x="5405048" y="7551068"/>
            <a:ext cx="2331908" cy="8894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C. Manning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9445DB0-3BBD-AE1B-AB63-2857429EFD68}"/>
              </a:ext>
            </a:extLst>
          </p:cNvPr>
          <p:cNvSpPr/>
          <p:nvPr/>
        </p:nvSpPr>
        <p:spPr>
          <a:xfrm>
            <a:off x="8551413" y="7554966"/>
            <a:ext cx="1808768" cy="79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Glove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8DB3077-33D5-83B9-09FC-0F5E1554B083}"/>
              </a:ext>
            </a:extLst>
          </p:cNvPr>
          <p:cNvSpPr/>
          <p:nvPr/>
        </p:nvSpPr>
        <p:spPr>
          <a:xfrm>
            <a:off x="11373028" y="7558865"/>
            <a:ext cx="1901482" cy="79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EMNLP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B9CCB1-9ADA-2508-29F9-4A4116BAA6A7}"/>
              </a:ext>
            </a:extLst>
          </p:cNvPr>
          <p:cNvCxnSpPr>
            <a:cxnSpLocks/>
            <a:stCxn id="69" idx="6"/>
            <a:endCxn id="70" idx="2"/>
          </p:cNvCxnSpPr>
          <p:nvPr/>
        </p:nvCxnSpPr>
        <p:spPr>
          <a:xfrm flipV="1">
            <a:off x="7736956" y="7952314"/>
            <a:ext cx="814457" cy="43459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1843C73-4123-A731-D4DE-8A8A73AFE382}"/>
              </a:ext>
            </a:extLst>
          </p:cNvPr>
          <p:cNvCxnSpPr>
            <a:cxnSpLocks/>
            <a:stCxn id="70" idx="6"/>
            <a:endCxn id="71" idx="2"/>
          </p:cNvCxnSpPr>
          <p:nvPr/>
        </p:nvCxnSpPr>
        <p:spPr>
          <a:xfrm>
            <a:off x="10360181" y="7952313"/>
            <a:ext cx="1012846" cy="3898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09E649-70AC-263C-087B-AA0663B1E613}"/>
              </a:ext>
            </a:extLst>
          </p:cNvPr>
          <p:cNvSpPr txBox="1"/>
          <p:nvPr/>
        </p:nvSpPr>
        <p:spPr>
          <a:xfrm>
            <a:off x="7596706" y="8186614"/>
            <a:ext cx="1088118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/>
              <a:t>writes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A44BE1-9412-0D4F-E4BF-9EF7B0AA5CEF}"/>
              </a:ext>
            </a:extLst>
          </p:cNvPr>
          <p:cNvSpPr txBox="1"/>
          <p:nvPr/>
        </p:nvSpPr>
        <p:spPr>
          <a:xfrm>
            <a:off x="10016549" y="8175027"/>
            <a:ext cx="1989519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/>
              <a:t>published at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E943F11-0E9E-9E73-8DDC-561606B14032}"/>
              </a:ext>
            </a:extLst>
          </p:cNvPr>
          <p:cNvCxnSpPr>
            <a:cxnSpLocks/>
            <a:stCxn id="69" idx="0"/>
            <a:endCxn id="36" idx="2"/>
          </p:cNvCxnSpPr>
          <p:nvPr/>
        </p:nvCxnSpPr>
        <p:spPr>
          <a:xfrm flipV="1">
            <a:off x="6571003" y="6965819"/>
            <a:ext cx="2927" cy="585248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DBC7F73-22B4-E9F1-9F00-38CEB90D5AF3}"/>
              </a:ext>
            </a:extLst>
          </p:cNvPr>
          <p:cNvCxnSpPr>
            <a:cxnSpLocks/>
            <a:stCxn id="70" idx="0"/>
            <a:endCxn id="37" idx="2"/>
          </p:cNvCxnSpPr>
          <p:nvPr/>
        </p:nvCxnSpPr>
        <p:spPr>
          <a:xfrm flipV="1">
            <a:off x="9455797" y="6969716"/>
            <a:ext cx="16424" cy="58525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C58FEC8-F9D7-0741-96F9-CCE92E85180D}"/>
              </a:ext>
            </a:extLst>
          </p:cNvPr>
          <p:cNvCxnSpPr>
            <a:cxnSpLocks/>
            <a:stCxn id="71" idx="0"/>
            <a:endCxn id="38" idx="2"/>
          </p:cNvCxnSpPr>
          <p:nvPr/>
        </p:nvCxnSpPr>
        <p:spPr>
          <a:xfrm flipH="1" flipV="1">
            <a:off x="12323768" y="6973614"/>
            <a:ext cx="2" cy="58525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4229222" y="7216444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68467" y="3866302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297004" y="3887424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>
                <a:solidFill>
                  <a:srgbClr val="252423"/>
                </a:solidFill>
              </a:rPr>
              <a:t>(And </a:t>
            </a:r>
            <a:r>
              <a:rPr lang="en-US" sz="3742" dirty="0"/>
              <a:t>Paper</a:t>
            </a:r>
            <a:r>
              <a:rPr lang="en-US" sz="3742" dirty="0">
                <a:solidFill>
                  <a:srgbClr val="FF0000"/>
                </a:solidFill>
              </a:rPr>
              <a:t> </a:t>
            </a:r>
            <a:r>
              <a:rPr lang="en-US" sz="3742" dirty="0">
                <a:solidFill>
                  <a:srgbClr val="252423"/>
                </a:solidFill>
              </a:rPr>
              <a:t>(And (Join writes</a:t>
            </a:r>
            <a:r>
              <a:rPr lang="en-US" sz="3742" baseline="30000" dirty="0">
                <a:solidFill>
                  <a:srgbClr val="252423"/>
                </a:solidFill>
              </a:rPr>
              <a:t>-1</a:t>
            </a:r>
            <a:r>
              <a:rPr lang="en-US" sz="3742" dirty="0">
                <a:solidFill>
                  <a:srgbClr val="252423"/>
                </a:solidFill>
              </a:rPr>
              <a:t> C. Manning) (Join published at EMNLP)))</a:t>
            </a:r>
            <a:endParaRPr lang="en-IN" sz="3742" b="1" dirty="0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8060921" y="9635332"/>
            <a:ext cx="2323955" cy="844155"/>
            <a:chOff x="944734" y="6077220"/>
            <a:chExt cx="1490436" cy="701097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154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8978836" y="326907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5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8984418" y="5723775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8979672" y="8936092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D1576491-51CD-76E5-4FB2-986DDB4B9A40}"/>
              </a:ext>
            </a:extLst>
          </p:cNvPr>
          <p:cNvSpPr/>
          <p:nvPr/>
        </p:nvSpPr>
        <p:spPr>
          <a:xfrm>
            <a:off x="665920" y="1854073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Question</a:t>
            </a:r>
          </a:p>
          <a:p>
            <a:pPr algn="ctr"/>
            <a:r>
              <a:rPr lang="en-IN" sz="3742" b="1" dirty="0">
                <a:solidFill>
                  <a:schemeClr val="tx1"/>
                </a:solidFill>
              </a:rPr>
              <a:t>(Q)</a:t>
            </a:r>
          </a:p>
        </p:txBody>
      </p: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003A0417-D859-5312-D9E2-7852AAB37D04}"/>
              </a:ext>
            </a:extLst>
          </p:cNvPr>
          <p:cNvSpPr/>
          <p:nvPr/>
        </p:nvSpPr>
        <p:spPr>
          <a:xfrm>
            <a:off x="1772490" y="331917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DDFA2B0C-DC85-9302-23A1-E47ABFF56186}"/>
              </a:ext>
            </a:extLst>
          </p:cNvPr>
          <p:cNvSpPr/>
          <p:nvPr/>
        </p:nvSpPr>
        <p:spPr>
          <a:xfrm>
            <a:off x="665920" y="3939104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KB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B82768B1-5489-981D-8AE6-9E1ACFC6BF9B}"/>
              </a:ext>
            </a:extLst>
          </p:cNvPr>
          <p:cNvSpPr/>
          <p:nvPr/>
        </p:nvSpPr>
        <p:spPr>
          <a:xfrm>
            <a:off x="722033" y="6047861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Answer </a:t>
            </a:r>
          </a:p>
          <a:p>
            <a:pPr algn="ctr"/>
            <a:r>
              <a:rPr lang="en-IN" sz="3742" b="1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165" name="Arrow: Down 164">
            <a:extLst>
              <a:ext uri="{FF2B5EF4-FFF2-40B4-BE49-F238E27FC236}">
                <a16:creationId xmlns:a16="http://schemas.microsoft.com/office/drawing/2014/main" id="{82A618E2-3E31-BDE1-1B9F-C2DDB7DFADB0}"/>
              </a:ext>
            </a:extLst>
          </p:cNvPr>
          <p:cNvSpPr/>
          <p:nvPr/>
        </p:nvSpPr>
        <p:spPr>
          <a:xfrm>
            <a:off x="1778100" y="541243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1306959" y="569326"/>
            <a:ext cx="16396395" cy="14650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Background: Knowledge-Base Question Answering</a:t>
            </a:r>
            <a:endParaRPr lang="en-IN" dirty="0"/>
          </a:p>
        </p:txBody>
      </p:sp>
      <p:sp>
        <p:nvSpPr>
          <p:cNvPr id="44" name="Google Shape;84;p16"/>
          <p:cNvSpPr txBox="1"/>
          <p:nvPr/>
        </p:nvSpPr>
        <p:spPr>
          <a:xfrm>
            <a:off x="14123396" y="3712449"/>
            <a:ext cx="4960487" cy="676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n" sz="4000" dirty="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KB: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Facts, defined by Schema </a:t>
            </a:r>
            <a:endParaRPr lang="en"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endParaRPr lang="en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n" sz="4000" dirty="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Schema Elements 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Types </a:t>
            </a:r>
            <a:r>
              <a:rPr lang="en" sz="4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4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 </a:t>
            </a:r>
            <a:r>
              <a:rPr lang="en" sz="4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endParaRPr lang="en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850" y="7866980"/>
            <a:ext cx="900895" cy="7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57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F800D65-F97D-1FE0-3E50-20A33F51027F}"/>
              </a:ext>
            </a:extLst>
          </p:cNvPr>
          <p:cNvSpPr txBox="1"/>
          <p:nvPr/>
        </p:nvSpPr>
        <p:spPr>
          <a:xfrm>
            <a:off x="14173401" y="1858490"/>
            <a:ext cx="6113871" cy="1676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650" indent="-534650">
              <a:buFont typeface="Arial" panose="020B0604020202020204" pitchFamily="34" charset="0"/>
              <a:buChar char="•"/>
            </a:pPr>
            <a:r>
              <a:rPr lang="en-US" sz="3742" dirty="0">
                <a:solidFill>
                  <a:srgbClr val="3333FF"/>
                </a:solidFill>
              </a:rPr>
              <a:t>Training Data:</a:t>
            </a:r>
          </a:p>
          <a:p>
            <a:pPr marL="1247516" lvl="1" indent="-534650">
              <a:buFont typeface="Arial" panose="020B0604020202020204" pitchFamily="34" charset="0"/>
              <a:buChar char="•"/>
            </a:pPr>
            <a:r>
              <a:rPr lang="en-US" sz="3742" dirty="0"/>
              <a:t>(Q, LF) pairs</a:t>
            </a:r>
          </a:p>
          <a:p>
            <a:endParaRPr lang="en-IN" sz="2807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B455678-1A24-C24A-C394-BFCC5435BB99}"/>
              </a:ext>
            </a:extLst>
          </p:cNvPr>
          <p:cNvSpPr/>
          <p:nvPr/>
        </p:nvSpPr>
        <p:spPr>
          <a:xfrm>
            <a:off x="5537707" y="6389939"/>
            <a:ext cx="207244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Researcher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D609F7-7777-0493-FABF-6E7AD1F0E4E2}"/>
              </a:ext>
            </a:extLst>
          </p:cNvPr>
          <p:cNvSpPr/>
          <p:nvPr/>
        </p:nvSpPr>
        <p:spPr>
          <a:xfrm>
            <a:off x="8619093" y="6393837"/>
            <a:ext cx="170625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Paper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EFD8B4B-9F3A-6D57-1640-8B58B86885AF}"/>
              </a:ext>
            </a:extLst>
          </p:cNvPr>
          <p:cNvSpPr/>
          <p:nvPr/>
        </p:nvSpPr>
        <p:spPr>
          <a:xfrm>
            <a:off x="11287545" y="6397735"/>
            <a:ext cx="2072444" cy="575879"/>
          </a:xfrm>
          <a:prstGeom prst="roundRect">
            <a:avLst/>
          </a:prstGeom>
          <a:ln w="381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/>
              <a:t>Conference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EB8773-AEDF-5D45-FEC3-ED918AA36397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706271" y="6679828"/>
            <a:ext cx="912822" cy="1949"/>
          </a:xfrm>
          <a:prstGeom prst="straightConnector1">
            <a:avLst/>
          </a:prstGeom>
          <a:ln w="38100" cmpd="dbl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9056A3-7D54-76DA-6B02-C1E5ADEB75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10325347" y="6677879"/>
            <a:ext cx="962197" cy="7796"/>
          </a:xfrm>
          <a:prstGeom prst="straightConnector1">
            <a:avLst/>
          </a:prstGeom>
          <a:ln w="38100" cmpd="dbl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C162241-6D1B-AE60-EF7E-C479142444A3}"/>
              </a:ext>
            </a:extLst>
          </p:cNvPr>
          <p:cNvSpPr txBox="1"/>
          <p:nvPr/>
        </p:nvSpPr>
        <p:spPr>
          <a:xfrm>
            <a:off x="7492674" y="6778139"/>
            <a:ext cx="1188851" cy="524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7" dirty="0"/>
              <a:t>writes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910155-4538-F9D5-2111-5D5A77FAE052}"/>
              </a:ext>
            </a:extLst>
          </p:cNvPr>
          <p:cNvSpPr txBox="1"/>
          <p:nvPr/>
        </p:nvSpPr>
        <p:spPr>
          <a:xfrm>
            <a:off x="10020194" y="6871974"/>
            <a:ext cx="1989519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/>
              <a:t>published at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15DBF02-C9C2-D72F-B489-A0AC292224AE}"/>
              </a:ext>
            </a:extLst>
          </p:cNvPr>
          <p:cNvSpPr/>
          <p:nvPr/>
        </p:nvSpPr>
        <p:spPr>
          <a:xfrm>
            <a:off x="5168467" y="6315823"/>
            <a:ext cx="8609177" cy="25782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694CE4C-CD91-4C62-B2AD-DB3B61DC3489}"/>
              </a:ext>
            </a:extLst>
          </p:cNvPr>
          <p:cNvSpPr/>
          <p:nvPr/>
        </p:nvSpPr>
        <p:spPr>
          <a:xfrm>
            <a:off x="5281252" y="7459603"/>
            <a:ext cx="8185319" cy="11863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7" dirty="0">
              <a:solidFill>
                <a:srgbClr val="3333FF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708B5FA-B22F-E602-400D-82473AA0753D}"/>
              </a:ext>
            </a:extLst>
          </p:cNvPr>
          <p:cNvSpPr/>
          <p:nvPr/>
        </p:nvSpPr>
        <p:spPr>
          <a:xfrm>
            <a:off x="5405048" y="7551068"/>
            <a:ext cx="2331908" cy="8894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>
                <a:solidFill>
                  <a:srgbClr val="3333FF"/>
                </a:solidFill>
              </a:rPr>
              <a:t>C. Manning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9445DB0-3BBD-AE1B-AB63-2857429EFD68}"/>
              </a:ext>
            </a:extLst>
          </p:cNvPr>
          <p:cNvSpPr/>
          <p:nvPr/>
        </p:nvSpPr>
        <p:spPr>
          <a:xfrm>
            <a:off x="8551413" y="7554966"/>
            <a:ext cx="1808768" cy="79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>
                <a:solidFill>
                  <a:srgbClr val="3333FF"/>
                </a:solidFill>
              </a:rPr>
              <a:t>Glove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8DB3077-33D5-83B9-09FC-0F5E1554B083}"/>
              </a:ext>
            </a:extLst>
          </p:cNvPr>
          <p:cNvSpPr/>
          <p:nvPr/>
        </p:nvSpPr>
        <p:spPr>
          <a:xfrm>
            <a:off x="11373028" y="7558865"/>
            <a:ext cx="1901482" cy="79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7" dirty="0">
                <a:solidFill>
                  <a:srgbClr val="3333FF"/>
                </a:solidFill>
              </a:rPr>
              <a:t>EMNLP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B9CCB1-9ADA-2508-29F9-4A4116BAA6A7}"/>
              </a:ext>
            </a:extLst>
          </p:cNvPr>
          <p:cNvCxnSpPr>
            <a:cxnSpLocks/>
            <a:stCxn id="69" idx="6"/>
            <a:endCxn id="70" idx="2"/>
          </p:cNvCxnSpPr>
          <p:nvPr/>
        </p:nvCxnSpPr>
        <p:spPr>
          <a:xfrm flipV="1">
            <a:off x="7736956" y="7952314"/>
            <a:ext cx="814457" cy="43459"/>
          </a:xfrm>
          <a:prstGeom prst="straightConnector1">
            <a:avLst/>
          </a:prstGeom>
          <a:ln w="38100">
            <a:solidFill>
              <a:srgbClr val="3333FF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1843C73-4123-A731-D4DE-8A8A73AFE382}"/>
              </a:ext>
            </a:extLst>
          </p:cNvPr>
          <p:cNvCxnSpPr>
            <a:cxnSpLocks/>
            <a:stCxn id="70" idx="6"/>
            <a:endCxn id="71" idx="2"/>
          </p:cNvCxnSpPr>
          <p:nvPr/>
        </p:nvCxnSpPr>
        <p:spPr>
          <a:xfrm>
            <a:off x="10360181" y="7952313"/>
            <a:ext cx="1012846" cy="3898"/>
          </a:xfrm>
          <a:prstGeom prst="straightConnector1">
            <a:avLst/>
          </a:prstGeom>
          <a:ln w="38100">
            <a:solidFill>
              <a:srgbClr val="3333FF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09E649-70AC-263C-087B-AA0663B1E613}"/>
              </a:ext>
            </a:extLst>
          </p:cNvPr>
          <p:cNvSpPr txBox="1"/>
          <p:nvPr/>
        </p:nvSpPr>
        <p:spPr>
          <a:xfrm>
            <a:off x="7596706" y="8186614"/>
            <a:ext cx="1088118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>
                <a:solidFill>
                  <a:srgbClr val="3333FF"/>
                </a:solidFill>
              </a:rPr>
              <a:t>writes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A44BE1-9412-0D4F-E4BF-9EF7B0AA5CEF}"/>
              </a:ext>
            </a:extLst>
          </p:cNvPr>
          <p:cNvSpPr txBox="1"/>
          <p:nvPr/>
        </p:nvSpPr>
        <p:spPr>
          <a:xfrm>
            <a:off x="10016549" y="8175027"/>
            <a:ext cx="1989519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7" dirty="0">
                <a:solidFill>
                  <a:srgbClr val="3333FF"/>
                </a:solidFill>
              </a:rPr>
              <a:t>published at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E943F11-0E9E-9E73-8DDC-561606B14032}"/>
              </a:ext>
            </a:extLst>
          </p:cNvPr>
          <p:cNvCxnSpPr>
            <a:cxnSpLocks/>
            <a:stCxn id="69" idx="0"/>
            <a:endCxn id="36" idx="2"/>
          </p:cNvCxnSpPr>
          <p:nvPr/>
        </p:nvCxnSpPr>
        <p:spPr>
          <a:xfrm flipV="1">
            <a:off x="6571003" y="6965819"/>
            <a:ext cx="2927" cy="585248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DBC7F73-22B4-E9F1-9F00-38CEB90D5AF3}"/>
              </a:ext>
            </a:extLst>
          </p:cNvPr>
          <p:cNvCxnSpPr>
            <a:cxnSpLocks/>
            <a:stCxn id="70" idx="0"/>
            <a:endCxn id="37" idx="2"/>
          </p:cNvCxnSpPr>
          <p:nvPr/>
        </p:nvCxnSpPr>
        <p:spPr>
          <a:xfrm flipV="1">
            <a:off x="9455797" y="6969716"/>
            <a:ext cx="16424" cy="58525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C58FEC8-F9D7-0741-96F9-CCE92E85180D}"/>
              </a:ext>
            </a:extLst>
          </p:cNvPr>
          <p:cNvCxnSpPr>
            <a:cxnSpLocks/>
            <a:stCxn id="71" idx="0"/>
            <a:endCxn id="38" idx="2"/>
          </p:cNvCxnSpPr>
          <p:nvPr/>
        </p:nvCxnSpPr>
        <p:spPr>
          <a:xfrm flipH="1" flipV="1">
            <a:off x="12323768" y="6973614"/>
            <a:ext cx="2" cy="58525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4229222" y="7216444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68467" y="3866302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297004" y="3887424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>
                <a:solidFill>
                  <a:srgbClr val="252423"/>
                </a:solidFill>
              </a:rPr>
              <a:t>(And </a:t>
            </a:r>
            <a:r>
              <a:rPr lang="en-US" sz="3742" dirty="0"/>
              <a:t>Paper</a:t>
            </a:r>
            <a:r>
              <a:rPr lang="en-US" sz="3742" dirty="0">
                <a:solidFill>
                  <a:srgbClr val="FF0000"/>
                </a:solidFill>
              </a:rPr>
              <a:t> </a:t>
            </a:r>
            <a:r>
              <a:rPr lang="en-US" sz="3742" dirty="0">
                <a:solidFill>
                  <a:srgbClr val="252423"/>
                </a:solidFill>
              </a:rPr>
              <a:t>(And (Join writes</a:t>
            </a:r>
            <a:r>
              <a:rPr lang="en-US" sz="3742" baseline="30000" dirty="0">
                <a:solidFill>
                  <a:srgbClr val="252423"/>
                </a:solidFill>
              </a:rPr>
              <a:t>-1</a:t>
            </a:r>
            <a:r>
              <a:rPr lang="en-US" sz="3742" dirty="0">
                <a:solidFill>
                  <a:srgbClr val="252423"/>
                </a:solidFill>
              </a:rPr>
              <a:t> C. Manning) (Join published at EMNLP)))</a:t>
            </a:r>
            <a:endParaRPr lang="en-IN" sz="3742" b="1" dirty="0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8060921" y="9635332"/>
            <a:ext cx="2323955" cy="844155"/>
            <a:chOff x="944734" y="6077220"/>
            <a:chExt cx="1490436" cy="701097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154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8978836" y="326907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5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8984418" y="5723775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8979672" y="8936092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D1576491-51CD-76E5-4FB2-986DDB4B9A40}"/>
              </a:ext>
            </a:extLst>
          </p:cNvPr>
          <p:cNvSpPr/>
          <p:nvPr/>
        </p:nvSpPr>
        <p:spPr>
          <a:xfrm>
            <a:off x="665920" y="1854073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Question</a:t>
            </a:r>
          </a:p>
          <a:p>
            <a:pPr algn="ctr"/>
            <a:r>
              <a:rPr lang="en-IN" sz="3742" b="1" dirty="0">
                <a:solidFill>
                  <a:schemeClr val="tx1"/>
                </a:solidFill>
              </a:rPr>
              <a:t>(Q)</a:t>
            </a:r>
          </a:p>
        </p:txBody>
      </p: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003A0417-D859-5312-D9E2-7852AAB37D04}"/>
              </a:ext>
            </a:extLst>
          </p:cNvPr>
          <p:cNvSpPr/>
          <p:nvPr/>
        </p:nvSpPr>
        <p:spPr>
          <a:xfrm>
            <a:off x="1772490" y="331917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DDFA2B0C-DC85-9302-23A1-E47ABFF56186}"/>
              </a:ext>
            </a:extLst>
          </p:cNvPr>
          <p:cNvSpPr/>
          <p:nvPr/>
        </p:nvSpPr>
        <p:spPr>
          <a:xfrm>
            <a:off x="665920" y="3939104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KB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B82768B1-5489-981D-8AE6-9E1ACFC6BF9B}"/>
              </a:ext>
            </a:extLst>
          </p:cNvPr>
          <p:cNvSpPr/>
          <p:nvPr/>
        </p:nvSpPr>
        <p:spPr>
          <a:xfrm>
            <a:off x="722033" y="6047861"/>
            <a:ext cx="269560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742" b="1" dirty="0">
                <a:solidFill>
                  <a:schemeClr val="tx1"/>
                </a:solidFill>
              </a:rPr>
              <a:t>Answer </a:t>
            </a:r>
          </a:p>
          <a:p>
            <a:pPr algn="ctr"/>
            <a:r>
              <a:rPr lang="en-IN" sz="3742" b="1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165" name="Arrow: Down 164">
            <a:extLst>
              <a:ext uri="{FF2B5EF4-FFF2-40B4-BE49-F238E27FC236}">
                <a16:creationId xmlns:a16="http://schemas.microsoft.com/office/drawing/2014/main" id="{82A618E2-3E31-BDE1-1B9F-C2DDB7DFADB0}"/>
              </a:ext>
            </a:extLst>
          </p:cNvPr>
          <p:cNvSpPr/>
          <p:nvPr/>
        </p:nvSpPr>
        <p:spPr>
          <a:xfrm>
            <a:off x="1778100" y="5412439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1306959" y="569326"/>
            <a:ext cx="16396395" cy="14650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Background: Knowledge-Base Question Answering</a:t>
            </a:r>
            <a:endParaRPr lang="en-IN" dirty="0"/>
          </a:p>
        </p:txBody>
      </p:sp>
      <p:sp>
        <p:nvSpPr>
          <p:cNvPr id="44" name="Google Shape;84;p16"/>
          <p:cNvSpPr txBox="1"/>
          <p:nvPr/>
        </p:nvSpPr>
        <p:spPr>
          <a:xfrm>
            <a:off x="14123396" y="3712449"/>
            <a:ext cx="4960487" cy="676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n" sz="4000" dirty="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KB: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Facts, defined by Schema</a:t>
            </a:r>
            <a:endParaRPr lang="en"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endParaRPr lang="en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n" sz="4000" dirty="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Schema Elements 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Types</a:t>
            </a:r>
            <a:r>
              <a:rPr lang="en" sz="4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4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</a:t>
            </a:r>
            <a:r>
              <a:rPr lang="en" sz="4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endParaRPr lang="en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n" sz="4000" dirty="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Data Elements  </a:t>
            </a: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r>
              <a:rPr lang="en" sz="4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4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</a:t>
            </a:r>
            <a:endParaRPr sz="40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850" y="7866980"/>
            <a:ext cx="900895" cy="7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9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888623"/>
              </p:ext>
            </p:extLst>
          </p:nvPr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3" name="Right Arrow 2"/>
          <p:cNvSpPr/>
          <p:nvPr/>
        </p:nvSpPr>
        <p:spPr>
          <a:xfrm>
            <a:off x="193710" y="6348715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datasets</a:t>
            </a:r>
            <a:endParaRPr lang="en-IN" sz="4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49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Existing Data </a:t>
            </a:r>
            <a:r>
              <a:rPr lang="en-US" dirty="0" err="1"/>
              <a:t>Curation</a:t>
            </a:r>
            <a:r>
              <a:rPr lang="en-US" dirty="0"/>
              <a:t>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6396395" cy="77768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 Design</a:t>
            </a:r>
          </a:p>
          <a:p>
            <a:pPr lvl="1"/>
            <a:r>
              <a:rPr lang="en-US" dirty="0"/>
              <a:t>all questions are answerable!</a:t>
            </a:r>
          </a:p>
          <a:p>
            <a:pPr lvl="1"/>
            <a:endParaRPr lang="en-US" dirty="0"/>
          </a:p>
          <a:p>
            <a:r>
              <a:rPr lang="en-US" dirty="0"/>
              <a:t>Cannot be true in real world</a:t>
            </a:r>
          </a:p>
          <a:p>
            <a:pPr lvl="1"/>
            <a:r>
              <a:rPr lang="en-US" dirty="0"/>
              <a:t>User doesn’t always know what is inside KB and what is not?</a:t>
            </a:r>
          </a:p>
          <a:p>
            <a:pPr lvl="1"/>
            <a:r>
              <a:rPr lang="en-US" dirty="0"/>
              <a:t>KBs are incomplete</a:t>
            </a:r>
          </a:p>
          <a:p>
            <a:pPr marL="712866" lvl="1" indent="0">
              <a:buNone/>
            </a:pPr>
            <a:endParaRPr lang="en-US" dirty="0"/>
          </a:p>
          <a:p>
            <a:r>
              <a:rPr lang="en-US" dirty="0"/>
              <a:t>Consequence</a:t>
            </a:r>
          </a:p>
          <a:p>
            <a:pPr lvl="1"/>
            <a:r>
              <a:rPr lang="en-US" dirty="0"/>
              <a:t>models believe every question is answerable!</a:t>
            </a:r>
          </a:p>
          <a:p>
            <a:pPr lvl="1"/>
            <a:r>
              <a:rPr lang="en-US" dirty="0"/>
              <a:t>researchers exploit this via </a:t>
            </a:r>
            <a:r>
              <a:rPr lang="en-US" dirty="0">
                <a:solidFill>
                  <a:srgbClr val="3333FF"/>
                </a:solidFill>
              </a:rPr>
              <a:t>execution guided feedback (EGF) </a:t>
            </a:r>
          </a:p>
          <a:p>
            <a:pPr lvl="2"/>
            <a:r>
              <a:rPr lang="en-US" dirty="0"/>
              <a:t>showing “inflated” performance </a:t>
            </a:r>
          </a:p>
          <a:p>
            <a:pPr lvl="2"/>
            <a:r>
              <a:rPr lang="en-US" dirty="0"/>
              <a:t>making models even less robust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00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02434" y="4626620"/>
            <a:ext cx="1918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3333FF"/>
                </a:solidFill>
              </a:rPr>
              <a:t>no answer</a:t>
            </a:r>
            <a:endParaRPr lang="en-IN" sz="3200" dirty="0">
              <a:solidFill>
                <a:srgbClr val="3333FF"/>
              </a:solidFill>
            </a:endParaRPr>
          </a:p>
        </p:txBody>
      </p:sp>
      <p:sp>
        <p:nvSpPr>
          <p:cNvPr id="3" name="Bent Arrow 2"/>
          <p:cNvSpPr/>
          <p:nvPr/>
        </p:nvSpPr>
        <p:spPr>
          <a:xfrm>
            <a:off x="2464951" y="4122549"/>
            <a:ext cx="5901714" cy="1715452"/>
          </a:xfrm>
          <a:prstGeom prst="bentArrow">
            <a:avLst>
              <a:gd name="adj1" fmla="val 17499"/>
              <a:gd name="adj2" fmla="val 18749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Guided Feedback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99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>
                <a:solidFill>
                  <a:srgbClr val="252423"/>
                </a:solidFill>
              </a:rPr>
              <a:t>(And </a:t>
            </a:r>
            <a:r>
              <a:rPr lang="en-US" sz="3742" dirty="0"/>
              <a:t>Paper</a:t>
            </a:r>
            <a:r>
              <a:rPr lang="en-US" sz="3742" dirty="0">
                <a:solidFill>
                  <a:srgbClr val="FF0000"/>
                </a:solidFill>
              </a:rPr>
              <a:t> </a:t>
            </a:r>
            <a:r>
              <a:rPr lang="en-US" sz="3742" dirty="0">
                <a:solidFill>
                  <a:srgbClr val="252423"/>
                </a:solidFill>
              </a:rPr>
              <a:t>(And (Join writes</a:t>
            </a:r>
            <a:r>
              <a:rPr lang="en-US" sz="3742" baseline="30000" dirty="0">
                <a:solidFill>
                  <a:srgbClr val="252423"/>
                </a:solidFill>
              </a:rPr>
              <a:t>-1</a:t>
            </a:r>
            <a:r>
              <a:rPr lang="en-US" sz="3742" dirty="0">
                <a:solidFill>
                  <a:srgbClr val="252423"/>
                </a:solidFill>
              </a:rPr>
              <a:t> </a:t>
            </a:r>
            <a:r>
              <a:rPr lang="en-IN" sz="4000" dirty="0">
                <a:solidFill>
                  <a:srgbClr val="3333FF"/>
                </a:solidFill>
              </a:rPr>
              <a:t>C.G. Neville-Manning</a:t>
            </a:r>
            <a:r>
              <a:rPr lang="en-US" sz="3742" dirty="0">
                <a:solidFill>
                  <a:srgbClr val="252423"/>
                </a:solidFill>
              </a:rPr>
              <a:t>) (Join published at EMNLP)))</a:t>
            </a:r>
            <a:endParaRPr lang="en-IN" sz="3742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8405337" y="4050556"/>
            <a:ext cx="2323955" cy="844155"/>
            <a:chOff x="944734" y="6077220"/>
            <a:chExt cx="1490436" cy="701097"/>
          </a:xfrm>
        </p:grpSpPr>
        <p:sp>
          <p:nvSpPr>
            <p:cNvPr id="30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18803" y="6154786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>
                  <a:solidFill>
                    <a:srgbClr val="3333FF"/>
                  </a:solidFill>
                </a:rPr>
                <a:t>AI Model</a:t>
              </a:r>
              <a:endParaRPr lang="en-IN" sz="3742" dirty="0">
                <a:solidFill>
                  <a:srgbClr val="3333FF"/>
                </a:solidFill>
              </a:endParaRPr>
            </a:p>
          </p:txBody>
        </p:sp>
      </p:grpSp>
      <p:sp>
        <p:nvSpPr>
          <p:cNvPr id="32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9328835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3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9329671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8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24" grpId="0"/>
      <p:bldP spid="27" grpId="0" animBg="1"/>
      <p:bldP spid="28" grpId="0"/>
      <p:bldP spid="33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Guided Feedback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>
                <a:solidFill>
                  <a:srgbClr val="252423"/>
                </a:solidFill>
              </a:rPr>
              <a:t>(And </a:t>
            </a:r>
            <a:r>
              <a:rPr lang="en-US" sz="3742" dirty="0"/>
              <a:t>Paper</a:t>
            </a:r>
            <a:r>
              <a:rPr lang="en-US" sz="3742" dirty="0">
                <a:solidFill>
                  <a:srgbClr val="FF0000"/>
                </a:solidFill>
              </a:rPr>
              <a:t> </a:t>
            </a:r>
            <a:r>
              <a:rPr lang="en-US" sz="3742" dirty="0">
                <a:solidFill>
                  <a:srgbClr val="252423"/>
                </a:solidFill>
              </a:rPr>
              <a:t>(And (Join writes</a:t>
            </a:r>
            <a:r>
              <a:rPr lang="en-US" sz="3742" baseline="30000" dirty="0">
                <a:solidFill>
                  <a:srgbClr val="252423"/>
                </a:solidFill>
              </a:rPr>
              <a:t>-1</a:t>
            </a:r>
            <a:r>
              <a:rPr lang="en-US" sz="3742" dirty="0">
                <a:solidFill>
                  <a:srgbClr val="252423"/>
                </a:solidFill>
              </a:rPr>
              <a:t> </a:t>
            </a:r>
            <a:r>
              <a:rPr lang="en-US" sz="3742" dirty="0">
                <a:solidFill>
                  <a:srgbClr val="3333FF"/>
                </a:solidFill>
              </a:rPr>
              <a:t>C. Manning</a:t>
            </a:r>
            <a:r>
              <a:rPr lang="en-US" sz="3742" dirty="0">
                <a:solidFill>
                  <a:srgbClr val="252423"/>
                </a:solidFill>
              </a:rPr>
              <a:t>) (Join published at EMNLP)))</a:t>
            </a:r>
            <a:endParaRPr lang="en-IN" sz="3742" b="1" dirty="0"/>
          </a:p>
        </p:txBody>
      </p:sp>
      <p:sp>
        <p:nvSpPr>
          <p:cNvPr id="32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9328835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3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9329671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8405337" y="4050556"/>
            <a:ext cx="2323955" cy="844155"/>
            <a:chOff x="944734" y="6077220"/>
            <a:chExt cx="1490436" cy="701097"/>
          </a:xfrm>
        </p:grpSpPr>
        <p:sp>
          <p:nvSpPr>
            <p:cNvPr id="39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18803" y="6154786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>
                  <a:solidFill>
                    <a:srgbClr val="3333FF"/>
                  </a:solidFill>
                </a:rPr>
                <a:t>AI Model</a:t>
              </a:r>
              <a:endParaRPr lang="en-IN" sz="3742" dirty="0">
                <a:solidFill>
                  <a:srgbClr val="3333FF"/>
                </a:solidFill>
              </a:endParaRPr>
            </a:p>
          </p:txBody>
        </p:sp>
      </p:grpSp>
      <p:sp>
        <p:nvSpPr>
          <p:cNvPr id="41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45" name="Bent Arrow 44"/>
          <p:cNvSpPr/>
          <p:nvPr/>
        </p:nvSpPr>
        <p:spPr>
          <a:xfrm>
            <a:off x="2464951" y="4122549"/>
            <a:ext cx="5901714" cy="1715452"/>
          </a:xfrm>
          <a:prstGeom prst="bentArrow">
            <a:avLst>
              <a:gd name="adj1" fmla="val 17499"/>
              <a:gd name="adj2" fmla="val 18749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202434" y="4626620"/>
            <a:ext cx="1918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 answer</a:t>
            </a:r>
            <a:endParaRPr lang="en-IN" sz="3200" dirty="0"/>
          </a:p>
        </p:txBody>
      </p:sp>
      <p:sp>
        <p:nvSpPr>
          <p:cNvPr id="47" name="TextBox 46"/>
          <p:cNvSpPr txBox="1"/>
          <p:nvPr/>
        </p:nvSpPr>
        <p:spPr>
          <a:xfrm>
            <a:off x="7344916" y="8327170"/>
            <a:ext cx="11383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Leads to “inflated” performance estimation of models</a:t>
            </a:r>
            <a:endParaRPr lang="en-IN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3" grpId="0" animBg="1"/>
      <p:bldP spid="35" grpId="0" animBg="1"/>
      <p:bldP spid="41" grpId="0" animBg="1"/>
      <p:bldP spid="4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Data </a:t>
            </a:r>
            <a:r>
              <a:rPr lang="en-US" dirty="0" err="1"/>
              <a:t>Curation</a:t>
            </a:r>
            <a:r>
              <a:rPr lang="en-US" dirty="0"/>
              <a:t>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6396395" cy="77768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By Design</a:t>
            </a:r>
          </a:p>
          <a:p>
            <a:pPr lvl="1"/>
            <a:r>
              <a:rPr lang="en-US" dirty="0"/>
              <a:t>all questions are answerable!</a:t>
            </a:r>
          </a:p>
          <a:p>
            <a:pPr lvl="1"/>
            <a:endParaRPr lang="en-US" dirty="0"/>
          </a:p>
          <a:p>
            <a:r>
              <a:rPr lang="en-US" dirty="0"/>
              <a:t>Cannot be true in real world</a:t>
            </a:r>
          </a:p>
          <a:p>
            <a:pPr lvl="1"/>
            <a:r>
              <a:rPr lang="en-US" dirty="0"/>
              <a:t>User doesn’t always know what is inside KB and what is not?</a:t>
            </a:r>
          </a:p>
          <a:p>
            <a:pPr lvl="1"/>
            <a:r>
              <a:rPr lang="en-US" dirty="0"/>
              <a:t>KBs are incomplete</a:t>
            </a:r>
          </a:p>
          <a:p>
            <a:pPr marL="712866" lvl="1" indent="0">
              <a:buNone/>
            </a:pPr>
            <a:endParaRPr lang="en-US" dirty="0"/>
          </a:p>
          <a:p>
            <a:r>
              <a:rPr lang="en-US" dirty="0"/>
              <a:t>Consequence</a:t>
            </a:r>
          </a:p>
          <a:p>
            <a:pPr lvl="1"/>
            <a:r>
              <a:rPr lang="en-US" dirty="0"/>
              <a:t>models believe every question is answerable!</a:t>
            </a:r>
          </a:p>
          <a:p>
            <a:pPr lvl="1"/>
            <a:r>
              <a:rPr lang="en-US" dirty="0"/>
              <a:t>researchers exploit this via execution guided feedback (EGF) </a:t>
            </a:r>
          </a:p>
          <a:p>
            <a:pPr lvl="2"/>
            <a:r>
              <a:rPr lang="en-US" dirty="0"/>
              <a:t>showing “inflated” performance </a:t>
            </a:r>
          </a:p>
          <a:p>
            <a:pPr lvl="2"/>
            <a:r>
              <a:rPr lang="en-US" dirty="0"/>
              <a:t>making models even less robust </a:t>
            </a:r>
          </a:p>
          <a:p>
            <a:pPr lvl="2"/>
            <a:endParaRPr lang="en-US" dirty="0"/>
          </a:p>
          <a:p>
            <a:r>
              <a:rPr lang="en-US" dirty="0">
                <a:solidFill>
                  <a:srgbClr val="3333FF"/>
                </a:solidFill>
              </a:rPr>
              <a:t>Goal: curate a dataset with both answerable + unanswerable questions</a:t>
            </a:r>
            <a:endParaRPr lang="en-IN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9465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Forms of </a:t>
            </a:r>
            <a:r>
              <a:rPr lang="en-US" dirty="0" err="1"/>
              <a:t>Unanswerability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333FF"/>
                </a:solidFill>
              </a:rPr>
              <a:t>answerable:</a:t>
            </a:r>
            <a:r>
              <a:rPr lang="en-US" dirty="0">
                <a:solidFill>
                  <a:srgbClr val="3333FF"/>
                </a:solidFill>
              </a:rPr>
              <a:t> </a:t>
            </a:r>
          </a:p>
          <a:p>
            <a:pPr lvl="1"/>
            <a:r>
              <a:rPr lang="en-US" dirty="0"/>
              <a:t>Q admits a valid logical form l for KB </a:t>
            </a:r>
          </a:p>
          <a:p>
            <a:pPr marL="712866" lvl="1" indent="0">
              <a:buNone/>
            </a:pPr>
            <a:r>
              <a:rPr lang="en-US" dirty="0"/>
              <a:t>   AND </a:t>
            </a:r>
          </a:p>
          <a:p>
            <a:pPr lvl="1"/>
            <a:r>
              <a:rPr lang="en-US" dirty="0"/>
              <a:t>l returns a non-empty answer set when executed over KB.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3333FF"/>
                </a:solidFill>
              </a:rPr>
              <a:t>unanswerable:</a:t>
            </a:r>
            <a:r>
              <a:rPr lang="en-US" dirty="0">
                <a:solidFill>
                  <a:srgbClr val="3333FF"/>
                </a:solidFill>
              </a:rPr>
              <a:t> </a:t>
            </a:r>
          </a:p>
          <a:p>
            <a:pPr lvl="1"/>
            <a:r>
              <a:rPr lang="en-US" dirty="0"/>
              <a:t>q does not admit a valid logical form l for G </a:t>
            </a:r>
          </a:p>
          <a:p>
            <a:pPr marL="712866" lvl="1" indent="0">
              <a:buNone/>
            </a:pPr>
            <a:r>
              <a:rPr lang="en-US" dirty="0"/>
              <a:t>   OR </a:t>
            </a:r>
          </a:p>
          <a:p>
            <a:pPr lvl="1"/>
            <a:r>
              <a:rPr lang="en-US" dirty="0"/>
              <a:t>l returns an empty answer when executed over 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201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Google Shape;152;p23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</p:spPr>
            <p:txBody>
              <a:bodyPr spcFirstLastPara="1" vert="horz" wrap="square" lIns="190072" tIns="190072" rIns="190072" bIns="190072" rtlCol="0" anchor="t" anchorCtr="0">
                <a:normAutofit fontScale="90000"/>
              </a:bodyPr>
              <a:lstStyle/>
              <a:p>
                <a:r>
                  <a:rPr lang="en-US" dirty="0">
                    <a:sym typeface="Calibri"/>
                  </a:rPr>
                  <a:t>Creating Unanswerable Questions (Link Drop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Calibri"/>
                      </a:rPr>
                      <m:t>⊂</m:t>
                    </m:r>
                  </m:oMath>
                </a14:m>
                <a:r>
                  <a:rPr lang="en-US" dirty="0">
                    <a:sym typeface="Calibri"/>
                  </a:rPr>
                  <a:t> Data Drop)</a:t>
                </a:r>
                <a:endParaRPr b="0" dirty="0">
                  <a:highlight>
                    <a:srgbClr val="D9D9D9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2" name="Google Shape;152;p2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  <a:blipFill rotWithShape="0">
                <a:blip r:embed="rId3"/>
                <a:stretch>
                  <a:fillRect l="-1308" t="-8718" b="-1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Google Shape;153;p23"/>
          <p:cNvCxnSpPr/>
          <p:nvPr/>
        </p:nvCxnSpPr>
        <p:spPr>
          <a:xfrm rot="10800000" flipH="1">
            <a:off x="21518" y="10493923"/>
            <a:ext cx="18967277" cy="1684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23"/>
          <p:cNvSpPr txBox="1"/>
          <p:nvPr/>
        </p:nvSpPr>
        <p:spPr>
          <a:xfrm>
            <a:off x="314707" y="1539024"/>
            <a:ext cx="13787466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(And Paper (And (Join writes Chris Manning) (Join R published at  EMNLP)))</a:t>
            </a: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[Glove]</a:t>
            </a:r>
            <a:b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54" y="3497800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4392588" y="8473922"/>
            <a:ext cx="14358150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(And Paper (And (Join writes</a:t>
            </a:r>
            <a:r>
              <a:rPr lang="en" sz="3326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C. Manning) (Join published at  EMNLP)))</a:t>
            </a: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[NA]</a:t>
            </a:r>
            <a:b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 rot="5400000">
            <a:off x="3823528" y="3249879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59" name="Google Shape;159;p23"/>
          <p:cNvSpPr/>
          <p:nvPr/>
        </p:nvSpPr>
        <p:spPr>
          <a:xfrm>
            <a:off x="9137850" y="5402808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60" name="Google Shape;160;p23"/>
          <p:cNvSpPr/>
          <p:nvPr/>
        </p:nvSpPr>
        <p:spPr>
          <a:xfrm rot="5400000">
            <a:off x="14593647" y="7763321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pic>
        <p:nvPicPr>
          <p:cNvPr id="12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9880" y="3756443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3393588" y="6714851"/>
            <a:ext cx="708585" cy="8123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3177565" y="7169318"/>
            <a:ext cx="1152128" cy="3579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3393588" y="6642844"/>
            <a:ext cx="708585" cy="45446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0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Google Shape;152;p23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</p:spPr>
            <p:txBody>
              <a:bodyPr spcFirstLastPara="1" vert="horz" wrap="square" lIns="190072" tIns="190072" rIns="190072" bIns="190072" rtlCol="0" anchor="t" anchorCtr="0">
                <a:normAutofit fontScale="90000"/>
              </a:bodyPr>
              <a:lstStyle/>
              <a:p>
                <a:r>
                  <a:rPr lang="en-US" dirty="0">
                    <a:sym typeface="Calibri"/>
                  </a:rPr>
                  <a:t>Creating Unanswerable Questions (Entity Drop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Calibri"/>
                      </a:rPr>
                      <m:t>⊂</m:t>
                    </m:r>
                  </m:oMath>
                </a14:m>
                <a:r>
                  <a:rPr lang="en-US" dirty="0">
                    <a:sym typeface="Calibri"/>
                  </a:rPr>
                  <a:t> Data Drop)</a:t>
                </a:r>
                <a:endParaRPr b="0" dirty="0">
                  <a:highlight>
                    <a:srgbClr val="D9D9D9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2" name="Google Shape;152;p2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  <a:blipFill rotWithShape="0">
                <a:blip r:embed="rId3"/>
                <a:stretch>
                  <a:fillRect l="-1308" t="-8718" b="-1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Google Shape;153;p23"/>
          <p:cNvCxnSpPr/>
          <p:nvPr/>
        </p:nvCxnSpPr>
        <p:spPr>
          <a:xfrm rot="10800000" flipH="1">
            <a:off x="21518" y="10493923"/>
            <a:ext cx="18967277" cy="1684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23"/>
          <p:cNvSpPr txBox="1"/>
          <p:nvPr/>
        </p:nvSpPr>
        <p:spPr>
          <a:xfrm>
            <a:off x="314707" y="1539024"/>
            <a:ext cx="13787466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(And Paper (And (Join writes Chris Manning) (Join R published at  EMNLP)))</a:t>
            </a: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[Glove]</a:t>
            </a:r>
            <a:b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54" y="3497800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4392588" y="8473922"/>
            <a:ext cx="14358150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(And Paper (And (Join writes</a:t>
            </a:r>
            <a:r>
              <a:rPr lang="en-US" sz="3600" baseline="30000" dirty="0">
                <a:solidFill>
                  <a:srgbClr val="252423"/>
                </a:solidFill>
              </a:rPr>
              <a:t>-1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C. Manning) (Join published at  EMNLP)))</a:t>
            </a: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[NA]</a:t>
            </a:r>
            <a:endParaRPr sz="3326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 rot="5400000">
            <a:off x="3823528" y="3249879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59" name="Google Shape;159;p23"/>
          <p:cNvSpPr/>
          <p:nvPr/>
        </p:nvSpPr>
        <p:spPr>
          <a:xfrm>
            <a:off x="9137850" y="5402808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60" name="Google Shape;160;p23"/>
          <p:cNvSpPr/>
          <p:nvPr/>
        </p:nvSpPr>
        <p:spPr>
          <a:xfrm rot="5400000">
            <a:off x="14593647" y="7763321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pic>
        <p:nvPicPr>
          <p:cNvPr id="12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9880" y="3756443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3393588" y="6406510"/>
            <a:ext cx="3456384" cy="9564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3177564" y="7169318"/>
            <a:ext cx="3888431" cy="3237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4829716" y="5203318"/>
            <a:ext cx="292064" cy="1223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3397182" y="5402807"/>
            <a:ext cx="3452790" cy="198042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7138036" y="7218940"/>
            <a:ext cx="288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9302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Google Shape;152;p23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</p:spPr>
            <p:txBody>
              <a:bodyPr spcFirstLastPara="1" vert="horz" wrap="square" lIns="190072" tIns="190072" rIns="190072" bIns="190072" rtlCol="0" anchor="t" anchorCtr="0">
                <a:normAutofit fontScale="90000"/>
              </a:bodyPr>
              <a:lstStyle/>
              <a:p>
                <a:r>
                  <a:rPr lang="en-US" dirty="0">
                    <a:sym typeface="Calibri"/>
                  </a:rPr>
                  <a:t>Creating Unanswerable Questions (Entity Drop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Calibri"/>
                      </a:rPr>
                      <m:t>⊂</m:t>
                    </m:r>
                  </m:oMath>
                </a14:m>
                <a:r>
                  <a:rPr lang="en-US" dirty="0">
                    <a:sym typeface="Calibri"/>
                  </a:rPr>
                  <a:t> Data Drop)</a:t>
                </a:r>
                <a:endParaRPr b="0" dirty="0">
                  <a:highlight>
                    <a:srgbClr val="D9D9D9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2" name="Google Shape;152;p2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  <a:blipFill rotWithShape="0">
                <a:blip r:embed="rId3"/>
                <a:stretch>
                  <a:fillRect l="-1308" t="-8718" b="-1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Google Shape;153;p23"/>
          <p:cNvCxnSpPr/>
          <p:nvPr/>
        </p:nvCxnSpPr>
        <p:spPr>
          <a:xfrm rot="10800000" flipH="1">
            <a:off x="21518" y="10493923"/>
            <a:ext cx="18967277" cy="1684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23"/>
          <p:cNvSpPr txBox="1"/>
          <p:nvPr/>
        </p:nvSpPr>
        <p:spPr>
          <a:xfrm>
            <a:off x="314707" y="1539024"/>
            <a:ext cx="13787466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(And Paper (And (Join writes Chris Manning) (Join R published at  EMNLP)))</a:t>
            </a: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[Glove]</a:t>
            </a:r>
            <a:b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54" y="3497800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4392588" y="8473922"/>
            <a:ext cx="14358150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l*</a:t>
            </a:r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(And Paper (And (Join writes</a:t>
            </a:r>
            <a:r>
              <a:rPr lang="en-US" sz="3600" baseline="30000" dirty="0">
                <a:solidFill>
                  <a:srgbClr val="252423"/>
                </a:solidFill>
              </a:rPr>
              <a:t>-1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326" strike="sngStrik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C. Manning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(Join published at  EMNLP)))</a:t>
            </a: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 b="1" dirty="0">
                <a:solidFill>
                  <a:srgbClr val="3333FF"/>
                </a:solidFill>
                <a:ea typeface="Calibri"/>
                <a:cs typeface="Calibri"/>
                <a:sym typeface="Calibri"/>
              </a:rPr>
              <a:t>l = NK</a:t>
            </a:r>
            <a:r>
              <a:rPr lang="en" sz="3326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a = [NA]</a:t>
            </a:r>
            <a:br>
              <a:rPr lang="en" sz="3326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 rot="5400000">
            <a:off x="3823528" y="3249879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59" name="Google Shape;159;p23"/>
          <p:cNvSpPr/>
          <p:nvPr/>
        </p:nvSpPr>
        <p:spPr>
          <a:xfrm>
            <a:off x="9137850" y="5402808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60" name="Google Shape;160;p23"/>
          <p:cNvSpPr/>
          <p:nvPr/>
        </p:nvSpPr>
        <p:spPr>
          <a:xfrm rot="5400000">
            <a:off x="14593647" y="7763321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pic>
        <p:nvPicPr>
          <p:cNvPr id="12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9880" y="3756443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1089332" y="6426820"/>
            <a:ext cx="3012841" cy="9564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3177565" y="7169318"/>
            <a:ext cx="1132732" cy="3579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2169452" y="5203318"/>
            <a:ext cx="159422" cy="1223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1297455" y="5402807"/>
            <a:ext cx="2804718" cy="198042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5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Google Shape;138;p22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14706" y="279882"/>
                <a:ext cx="18437289" cy="1190639"/>
              </a:xfrm>
              <a:prstGeom prst="rect">
                <a:avLst/>
              </a:prstGeom>
            </p:spPr>
            <p:txBody>
              <a:bodyPr spcFirstLastPara="1" vert="horz" wrap="square" lIns="190072" tIns="190072" rIns="190072" bIns="190072" rtlCol="0" anchor="t" anchorCtr="0">
                <a:normAutofit fontScale="90000"/>
              </a:bodyPr>
              <a:lstStyle/>
              <a:p>
                <a:r>
                  <a:rPr lang="en-US" dirty="0">
                    <a:sym typeface="Calibri"/>
                  </a:rPr>
                  <a:t>Creating Unanswerable Questions (Relation Drop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Calibri"/>
                      </a:rPr>
                      <m:t>⊂</m:t>
                    </m:r>
                  </m:oMath>
                </a14:m>
                <a:r>
                  <a:rPr lang="en-US" dirty="0">
                    <a:sym typeface="Calibri"/>
                  </a:rPr>
                  <a:t> Schema Drop)</a:t>
                </a:r>
                <a:endParaRPr dirty="0">
                  <a:sym typeface="Calibri"/>
                </a:endParaRPr>
              </a:p>
            </p:txBody>
          </p:sp>
        </mc:Choice>
        <mc:Fallback xmlns="">
          <p:sp>
            <p:nvSpPr>
              <p:cNvPr id="138" name="Google Shape;138;p2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4706" y="279882"/>
                <a:ext cx="18437289" cy="1190639"/>
              </a:xfrm>
              <a:prstGeom prst="rect">
                <a:avLst/>
              </a:prstGeom>
              <a:blipFill rotWithShape="0">
                <a:blip r:embed="rId3"/>
                <a:stretch>
                  <a:fillRect l="-1257" t="-8718" b="-1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Google Shape;139;p22"/>
          <p:cNvCxnSpPr/>
          <p:nvPr/>
        </p:nvCxnSpPr>
        <p:spPr>
          <a:xfrm rot="10800000" flipH="1">
            <a:off x="21518" y="10493923"/>
            <a:ext cx="18967277" cy="1684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22"/>
          <p:cNvSpPr txBox="1"/>
          <p:nvPr/>
        </p:nvSpPr>
        <p:spPr>
          <a:xfrm>
            <a:off x="314707" y="1539024"/>
            <a:ext cx="13787466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(And Paper (And (Join writes Chris Manning) (Join R published at  EMNLP)))</a:t>
            </a: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[Glove]</a:t>
            </a:r>
            <a:b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54" y="3497800"/>
            <a:ext cx="8022441" cy="4029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11393" y="3497801"/>
            <a:ext cx="8040603" cy="40294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4630853" y="8473922"/>
            <a:ext cx="14358150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l*</a:t>
            </a:r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(And Paper (And (Join </a:t>
            </a:r>
            <a:r>
              <a:rPr lang="en" sz="3326" strike="sngStrik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3600" strike="sngStrike" baseline="30000" dirty="0">
                <a:solidFill>
                  <a:srgbClr val="FF0000"/>
                </a:solidFill>
              </a:rPr>
              <a:t>-1</a:t>
            </a:r>
            <a:r>
              <a:rPr lang="en" sz="3326" strike="sngStrik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 Manning) (Join published at  EMNLP)))</a:t>
            </a: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 b="1" dirty="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l = NK</a:t>
            </a:r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= [NA]</a:t>
            </a:r>
            <a:b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 rot="5400000">
            <a:off x="3823528" y="3249879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46" name="Google Shape;146;p22"/>
          <p:cNvSpPr/>
          <p:nvPr/>
        </p:nvSpPr>
        <p:spPr>
          <a:xfrm>
            <a:off x="9137850" y="5402808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47" name="Google Shape;147;p22"/>
          <p:cNvSpPr/>
          <p:nvPr/>
        </p:nvSpPr>
        <p:spPr>
          <a:xfrm rot="5400000">
            <a:off x="13131492" y="7676004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1" name="Rectangle 10"/>
          <p:cNvSpPr/>
          <p:nvPr/>
        </p:nvSpPr>
        <p:spPr>
          <a:xfrm>
            <a:off x="13337174" y="4254154"/>
            <a:ext cx="632478" cy="2946044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758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Google Shape;152;p23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</p:spPr>
            <p:txBody>
              <a:bodyPr spcFirstLastPara="1" vert="horz" wrap="square" lIns="190072" tIns="190072" rIns="190072" bIns="190072" rtlCol="0" anchor="t" anchorCtr="0">
                <a:normAutofit fontScale="90000"/>
              </a:bodyPr>
              <a:lstStyle/>
              <a:p>
                <a:r>
                  <a:rPr lang="en-US" dirty="0">
                    <a:sym typeface="Calibri"/>
                  </a:rPr>
                  <a:t>Creating Unanswerable Questions (Type Drop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Calibri"/>
                      </a:rPr>
                      <m:t>⊂</m:t>
                    </m:r>
                  </m:oMath>
                </a14:m>
                <a:r>
                  <a:rPr lang="en-US" dirty="0">
                    <a:sym typeface="Calibri"/>
                  </a:rPr>
                  <a:t> Schema Drop)</a:t>
                </a:r>
                <a:endParaRPr b="0" dirty="0">
                  <a:highlight>
                    <a:srgbClr val="D9D9D9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2" name="Google Shape;152;p2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4707" y="279882"/>
                <a:ext cx="17714268" cy="1190639"/>
              </a:xfrm>
              <a:prstGeom prst="rect">
                <a:avLst/>
              </a:prstGeom>
              <a:blipFill rotWithShape="0">
                <a:blip r:embed="rId3"/>
                <a:stretch>
                  <a:fillRect l="-1308" t="-8718" b="-1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Google Shape;153;p23"/>
          <p:cNvCxnSpPr/>
          <p:nvPr/>
        </p:nvCxnSpPr>
        <p:spPr>
          <a:xfrm rot="10800000" flipH="1">
            <a:off x="21518" y="10493923"/>
            <a:ext cx="18967277" cy="1684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23"/>
          <p:cNvSpPr txBox="1"/>
          <p:nvPr/>
        </p:nvSpPr>
        <p:spPr>
          <a:xfrm>
            <a:off x="314707" y="1539024"/>
            <a:ext cx="13787466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(And Paper (And (Join writes Chris Manning) (Join R published at  EMNLP)))</a:t>
            </a: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[Glove]</a:t>
            </a:r>
            <a:br>
              <a:rPr lang="en" sz="33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54" y="3497800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4392588" y="8473922"/>
            <a:ext cx="14358150" cy="1378372"/>
          </a:xfrm>
          <a:prstGeom prst="rect">
            <a:avLst/>
          </a:prstGeom>
          <a:noFill/>
          <a:ln w="381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t" anchorCtr="0">
            <a:noAutofit/>
          </a:bodyPr>
          <a:lstStyle/>
          <a:p>
            <a:r>
              <a:rPr lang="en" sz="3326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3326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(And Paper (And (Join </a:t>
            </a:r>
            <a:r>
              <a:rPr lang="en" sz="3326" strike="sngStrik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3600" strike="sngStrike" baseline="30000" dirty="0">
                <a:solidFill>
                  <a:srgbClr val="FF0000"/>
                </a:solidFill>
              </a:rPr>
              <a:t>-1</a:t>
            </a:r>
            <a:r>
              <a:rPr lang="en" sz="3326" strike="sngStrik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C. Manning</a:t>
            </a:r>
            <a:r>
              <a:rPr lang="en" sz="3326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(Join published at  EMNLP)))</a:t>
            </a: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3326" b="1" dirty="0">
                <a:solidFill>
                  <a:srgbClr val="3333FF"/>
                </a:solidFill>
                <a:ea typeface="Calibri"/>
                <a:cs typeface="Calibri"/>
                <a:sym typeface="Calibri"/>
              </a:rPr>
              <a:t>l = NK</a:t>
            </a:r>
            <a:r>
              <a:rPr lang="en" sz="3326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a = [NA]</a:t>
            </a:r>
            <a:br>
              <a:rPr lang="en" sz="3326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3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 rot="5400000">
            <a:off x="3823528" y="3249879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59" name="Google Shape;159;p23"/>
          <p:cNvSpPr/>
          <p:nvPr/>
        </p:nvSpPr>
        <p:spPr>
          <a:xfrm>
            <a:off x="9137850" y="5402808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sp>
        <p:nvSpPr>
          <p:cNvPr id="160" name="Google Shape;160;p23"/>
          <p:cNvSpPr/>
          <p:nvPr/>
        </p:nvSpPr>
        <p:spPr>
          <a:xfrm rot="5400000">
            <a:off x="14593647" y="7763321"/>
            <a:ext cx="912470" cy="440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072" tIns="190072" rIns="190072" bIns="190072" anchor="ctr" anchorCtr="0">
            <a:noAutofit/>
          </a:bodyPr>
          <a:lstStyle/>
          <a:p>
            <a:pPr algn="ctr"/>
            <a:endParaRPr sz="3742"/>
          </a:p>
        </p:txBody>
      </p:sp>
      <p:pic>
        <p:nvPicPr>
          <p:cNvPr id="12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9880" y="3756443"/>
            <a:ext cx="8022441" cy="40294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1089332" y="6426820"/>
            <a:ext cx="3012841" cy="9564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3177565" y="7169318"/>
            <a:ext cx="1132732" cy="3579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0740788" y="3856383"/>
            <a:ext cx="3444888" cy="2570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1297455" y="4101305"/>
            <a:ext cx="2804718" cy="328193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49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GrailQAbility</a:t>
            </a:r>
            <a:br>
              <a:rPr lang="en-US" dirty="0"/>
            </a:br>
            <a:r>
              <a:rPr lang="en-US" sz="4900" dirty="0">
                <a:solidFill>
                  <a:schemeClr val="accent2">
                    <a:lumMod val="50000"/>
                  </a:schemeClr>
                </a:solidFill>
              </a:rPr>
              <a:t>[Patidar et al., ACL 2023]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6396395" cy="7776864"/>
          </a:xfrm>
        </p:spPr>
        <p:txBody>
          <a:bodyPr>
            <a:normAutofit/>
          </a:bodyPr>
          <a:lstStyle/>
          <a:p>
            <a:r>
              <a:rPr lang="en-US" dirty="0" err="1"/>
              <a:t>GrailQA</a:t>
            </a:r>
            <a:r>
              <a:rPr lang="en-US" dirty="0"/>
              <a:t> with only answerable questions 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</a:rPr>
              <a:t>[Gu et al 2021]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GrailQAbility</a:t>
            </a:r>
            <a:r>
              <a:rPr lang="en-US" dirty="0">
                <a:sym typeface="Wingdings" panose="05000000000000000000" pitchFamily="2" charset="2"/>
              </a:rPr>
              <a:t> with both answerable and unanswerable questions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/>
              <a:t>GrailQAbility</a:t>
            </a:r>
            <a:endParaRPr lang="en-US" dirty="0"/>
          </a:p>
          <a:p>
            <a:pPr lvl="1"/>
            <a:r>
              <a:rPr lang="en-US" dirty="0"/>
              <a:t>Balanced between various forms of data/schema drops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Training Data: two settings</a:t>
            </a:r>
          </a:p>
          <a:p>
            <a:pPr lvl="2"/>
            <a:r>
              <a:rPr lang="en-US" dirty="0"/>
              <a:t>Only A question training</a:t>
            </a:r>
          </a:p>
          <a:p>
            <a:pPr lvl="2"/>
            <a:r>
              <a:rPr lang="en-US" dirty="0"/>
              <a:t>A+U question training</a:t>
            </a:r>
          </a:p>
        </p:txBody>
      </p:sp>
    </p:spTree>
    <p:extLst>
      <p:ext uri="{BB962C8B-B14F-4D97-AF65-F5344CB8AC3E}">
        <p14:creationId xmlns:p14="http://schemas.microsoft.com/office/powerpoint/2010/main" val="2903804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2" y="6140742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02420"/>
              </p:ext>
            </p:extLst>
          </p:nvPr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chemeClr val="tx1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3" name="Right Arrow 2"/>
          <p:cNvSpPr/>
          <p:nvPr/>
        </p:nvSpPr>
        <p:spPr>
          <a:xfrm>
            <a:off x="6984876" y="5346700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datasets</a:t>
            </a:r>
            <a:endParaRPr lang="en-IN" sz="4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172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83361" y="2124713"/>
            <a:ext cx="8609177" cy="2578200"/>
            <a:chOff x="5168467" y="6315823"/>
            <a:chExt cx="8609177" cy="25782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B455678-1A24-C24A-C394-BFCC5435BB99}"/>
                </a:ext>
              </a:extLst>
            </p:cNvPr>
            <p:cNvSpPr/>
            <p:nvPr/>
          </p:nvSpPr>
          <p:spPr>
            <a:xfrm>
              <a:off x="5537707" y="6389939"/>
              <a:ext cx="207244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Researcher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BD609F7-7777-0493-FABF-6E7AD1F0E4E2}"/>
                </a:ext>
              </a:extLst>
            </p:cNvPr>
            <p:cNvSpPr/>
            <p:nvPr/>
          </p:nvSpPr>
          <p:spPr>
            <a:xfrm>
              <a:off x="8619093" y="6393837"/>
              <a:ext cx="170625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Paper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EFD8B4B-9F3A-6D57-1640-8B58B86885AF}"/>
                </a:ext>
              </a:extLst>
            </p:cNvPr>
            <p:cNvSpPr/>
            <p:nvPr/>
          </p:nvSpPr>
          <p:spPr>
            <a:xfrm>
              <a:off x="11287545" y="6397735"/>
              <a:ext cx="207244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Conference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0EB8773-AEDF-5D45-FEC3-ED918AA36397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7706271" y="6679828"/>
              <a:ext cx="912822" cy="1949"/>
            </a:xfrm>
            <a:prstGeom prst="straightConnector1">
              <a:avLst/>
            </a:prstGeom>
            <a:ln w="38100" cmpd="dbl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79056A3-7D54-76DA-6B02-C1E5ADEB7570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10325347" y="6677879"/>
              <a:ext cx="962197" cy="7796"/>
            </a:xfrm>
            <a:prstGeom prst="straightConnector1">
              <a:avLst/>
            </a:prstGeom>
            <a:ln w="38100" cmpd="dbl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C162241-6D1B-AE60-EF7E-C479142444A3}"/>
                </a:ext>
              </a:extLst>
            </p:cNvPr>
            <p:cNvSpPr txBox="1"/>
            <p:nvPr/>
          </p:nvSpPr>
          <p:spPr>
            <a:xfrm>
              <a:off x="7492674" y="6778139"/>
              <a:ext cx="1188851" cy="524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7" dirty="0"/>
                <a:t>writes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910155-4538-F9D5-2111-5D5A77FAE052}"/>
                </a:ext>
              </a:extLst>
            </p:cNvPr>
            <p:cNvSpPr txBox="1"/>
            <p:nvPr/>
          </p:nvSpPr>
          <p:spPr>
            <a:xfrm>
              <a:off x="10020194" y="6871974"/>
              <a:ext cx="1989519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published at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15DBF02-C9C2-D72F-B489-A0AC292224AE}"/>
                </a:ext>
              </a:extLst>
            </p:cNvPr>
            <p:cNvSpPr/>
            <p:nvPr/>
          </p:nvSpPr>
          <p:spPr>
            <a:xfrm>
              <a:off x="5168467" y="6315823"/>
              <a:ext cx="8609177" cy="257820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694CE4C-CD91-4C62-B2AD-DB3B61DC3489}"/>
                </a:ext>
              </a:extLst>
            </p:cNvPr>
            <p:cNvSpPr/>
            <p:nvPr/>
          </p:nvSpPr>
          <p:spPr>
            <a:xfrm>
              <a:off x="5281252" y="7459603"/>
              <a:ext cx="8185319" cy="1186379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7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708B5FA-B22F-E602-400D-82473AA0753D}"/>
                </a:ext>
              </a:extLst>
            </p:cNvPr>
            <p:cNvSpPr/>
            <p:nvPr/>
          </p:nvSpPr>
          <p:spPr>
            <a:xfrm>
              <a:off x="5405048" y="7551068"/>
              <a:ext cx="2331908" cy="88941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C. Manning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9445DB0-3BBD-AE1B-AB63-2857429EFD68}"/>
                </a:ext>
              </a:extLst>
            </p:cNvPr>
            <p:cNvSpPr/>
            <p:nvPr/>
          </p:nvSpPr>
          <p:spPr>
            <a:xfrm>
              <a:off x="8551413" y="7554966"/>
              <a:ext cx="1808768" cy="7946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Glove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8DB3077-33D5-83B9-09FC-0F5E1554B083}"/>
                </a:ext>
              </a:extLst>
            </p:cNvPr>
            <p:cNvSpPr/>
            <p:nvPr/>
          </p:nvSpPr>
          <p:spPr>
            <a:xfrm>
              <a:off x="11373028" y="7558865"/>
              <a:ext cx="1901482" cy="7946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EMNLP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3B9CCB1-9ADA-2508-29F9-4A4116BAA6A7}"/>
                </a:ext>
              </a:extLst>
            </p:cNvPr>
            <p:cNvCxnSpPr>
              <a:cxnSpLocks/>
              <a:stCxn id="69" idx="6"/>
              <a:endCxn id="70" idx="2"/>
            </p:cNvCxnSpPr>
            <p:nvPr/>
          </p:nvCxnSpPr>
          <p:spPr>
            <a:xfrm flipV="1">
              <a:off x="7736956" y="7952314"/>
              <a:ext cx="814457" cy="43459"/>
            </a:xfrm>
            <a:prstGeom prst="straightConnector1">
              <a:avLst/>
            </a:prstGeom>
            <a:ln w="127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1843C73-4123-A731-D4DE-8A8A73AFE382}"/>
                </a:ext>
              </a:extLst>
            </p:cNvPr>
            <p:cNvCxnSpPr>
              <a:cxnSpLocks/>
              <a:stCxn id="70" idx="6"/>
              <a:endCxn id="71" idx="2"/>
            </p:cNvCxnSpPr>
            <p:nvPr/>
          </p:nvCxnSpPr>
          <p:spPr>
            <a:xfrm>
              <a:off x="10360181" y="7952313"/>
              <a:ext cx="1012846" cy="3898"/>
            </a:xfrm>
            <a:prstGeom prst="straightConnector1">
              <a:avLst/>
            </a:prstGeom>
            <a:ln w="127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C09E649-70AC-263C-087B-AA0663B1E613}"/>
                </a:ext>
              </a:extLst>
            </p:cNvPr>
            <p:cNvSpPr txBox="1"/>
            <p:nvPr/>
          </p:nvSpPr>
          <p:spPr>
            <a:xfrm>
              <a:off x="7596706" y="8186614"/>
              <a:ext cx="1088118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writes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EA44BE1-9412-0D4F-E4BF-9EF7B0AA5CEF}"/>
                </a:ext>
              </a:extLst>
            </p:cNvPr>
            <p:cNvSpPr txBox="1"/>
            <p:nvPr/>
          </p:nvSpPr>
          <p:spPr>
            <a:xfrm>
              <a:off x="10016549" y="8175027"/>
              <a:ext cx="1989519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published at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E943F11-0E9E-9E73-8DDC-561606B14032}"/>
                </a:ext>
              </a:extLst>
            </p:cNvPr>
            <p:cNvCxnSpPr>
              <a:cxnSpLocks/>
              <a:stCxn id="69" idx="0"/>
              <a:endCxn id="36" idx="2"/>
            </p:cNvCxnSpPr>
            <p:nvPr/>
          </p:nvCxnSpPr>
          <p:spPr>
            <a:xfrm flipV="1">
              <a:off x="6571003" y="6965819"/>
              <a:ext cx="2927" cy="585248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DBC7F73-22B4-E9F1-9F00-38CEB90D5AF3}"/>
                </a:ext>
              </a:extLst>
            </p:cNvPr>
            <p:cNvCxnSpPr>
              <a:cxnSpLocks/>
              <a:stCxn id="70" idx="0"/>
              <a:endCxn id="37" idx="2"/>
            </p:cNvCxnSpPr>
            <p:nvPr/>
          </p:nvCxnSpPr>
          <p:spPr>
            <a:xfrm flipV="1">
              <a:off x="9455797" y="6969716"/>
              <a:ext cx="16424" cy="585250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2C58FEC8-F9D7-0741-96F9-CCE92E85180D}"/>
                </a:ext>
              </a:extLst>
            </p:cNvPr>
            <p:cNvCxnSpPr>
              <a:cxnSpLocks/>
              <a:stCxn id="71" idx="0"/>
              <a:endCxn id="38" idx="2"/>
            </p:cNvCxnSpPr>
            <p:nvPr/>
          </p:nvCxnSpPr>
          <p:spPr>
            <a:xfrm flipH="1" flipV="1">
              <a:off x="12323768" y="6973614"/>
              <a:ext cx="2" cy="585250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249572" y="8607001"/>
            <a:ext cx="2323955" cy="844155"/>
            <a:chOff x="944734" y="6077220"/>
            <a:chExt cx="1490436" cy="701097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155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4960335" y="4710534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14168323" y="7907761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1306959" y="569326"/>
            <a:ext cx="16911165" cy="14650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 Paradigm: Retrieve then Generate (Bottom Up)</a:t>
            </a:r>
            <a:endParaRPr lang="en-IN" dirty="0"/>
          </a:p>
        </p:txBody>
      </p:sp>
      <p:sp>
        <p:nvSpPr>
          <p:cNvPr id="45" name="Rectangle: Rounded Corners 10">
            <a:extLst>
              <a:ext uri="{FF2B5EF4-FFF2-40B4-BE49-F238E27FC236}">
                <a16:creationId xmlns:a16="http://schemas.microsoft.com/office/drawing/2014/main" id="{AEFA9BAF-33E7-A2D8-CDDD-AFE845FB008B}"/>
              </a:ext>
            </a:extLst>
          </p:cNvPr>
          <p:cNvSpPr/>
          <p:nvPr/>
        </p:nvSpPr>
        <p:spPr>
          <a:xfrm>
            <a:off x="738142" y="5886294"/>
            <a:ext cx="9076869" cy="342992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: Rounded Corners 15">
            <a:extLst>
              <a:ext uri="{FF2B5EF4-FFF2-40B4-BE49-F238E27FC236}">
                <a16:creationId xmlns:a16="http://schemas.microsoft.com/office/drawing/2014/main" id="{989C3526-9CFA-317F-61A7-92C34535A4AD}"/>
              </a:ext>
            </a:extLst>
          </p:cNvPr>
          <p:cNvSpPr/>
          <p:nvPr/>
        </p:nvSpPr>
        <p:spPr>
          <a:xfrm>
            <a:off x="2491940" y="6037502"/>
            <a:ext cx="5746722" cy="7896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dirty="0">
                <a:solidFill>
                  <a:srgbClr val="3333FF"/>
                </a:solidFill>
              </a:rPr>
              <a:t>Entities: </a:t>
            </a:r>
            <a:r>
              <a:rPr lang="en-IN" sz="3200" dirty="0">
                <a:solidFill>
                  <a:schemeClr val="tx1"/>
                </a:solidFill>
              </a:rPr>
              <a:t>EMNLP, C. Manning</a:t>
            </a:r>
            <a:endParaRPr lang="en-IN" sz="32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47" name="Rectangle: Rounded Corners 19">
            <a:extLst>
              <a:ext uri="{FF2B5EF4-FFF2-40B4-BE49-F238E27FC236}">
                <a16:creationId xmlns:a16="http://schemas.microsoft.com/office/drawing/2014/main" id="{9A39048A-1B74-DAC1-3CAD-4860DD2E815D}"/>
              </a:ext>
            </a:extLst>
          </p:cNvPr>
          <p:cNvSpPr/>
          <p:nvPr/>
        </p:nvSpPr>
        <p:spPr>
          <a:xfrm>
            <a:off x="1051624" y="8010512"/>
            <a:ext cx="8479400" cy="102462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sz="3200" b="1" dirty="0">
              <a:solidFill>
                <a:srgbClr val="FF0000"/>
              </a:solidFill>
            </a:endParaRPr>
          </a:p>
          <a:p>
            <a:pPr algn="ctr"/>
            <a:r>
              <a:rPr lang="en-IN" sz="3200" dirty="0">
                <a:solidFill>
                  <a:srgbClr val="3333FF"/>
                </a:solidFill>
              </a:rPr>
              <a:t>Paths: </a:t>
            </a:r>
            <a:r>
              <a:rPr lang="en-IN" sz="3200" dirty="0">
                <a:solidFill>
                  <a:schemeClr val="tx1"/>
                </a:solidFill>
              </a:rPr>
              <a:t>(Papers </a:t>
            </a:r>
            <a:r>
              <a:rPr lang="en-US" sz="3200" dirty="0">
                <a:solidFill>
                  <a:srgbClr val="252423"/>
                </a:solidFill>
              </a:rPr>
              <a:t>published at EMNLP), </a:t>
            </a:r>
            <a:endParaRPr lang="en-US" sz="1400" dirty="0">
              <a:solidFill>
                <a:srgbClr val="FFFFFF"/>
              </a:solidFill>
            </a:endParaRPr>
          </a:p>
          <a:p>
            <a:pPr algn="ctr"/>
            <a:r>
              <a:rPr lang="en-IN" sz="3200" dirty="0">
                <a:solidFill>
                  <a:schemeClr val="tx1"/>
                </a:solidFill>
              </a:rPr>
              <a:t>(Papers</a:t>
            </a:r>
            <a:r>
              <a:rPr lang="en-US" sz="3200" dirty="0">
                <a:solidFill>
                  <a:srgbClr val="252423"/>
                </a:solidFill>
              </a:rPr>
              <a:t>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Manning))</a:t>
            </a:r>
            <a:endParaRPr lang="en-US" sz="1400" dirty="0">
              <a:cs typeface="Calibri"/>
            </a:endParaRPr>
          </a:p>
          <a:p>
            <a:pPr algn="ctr"/>
            <a:endParaRPr lang="en-US" sz="3200" dirty="0">
              <a:solidFill>
                <a:srgbClr val="252423"/>
              </a:solidFill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3DF208-BB10-6477-915E-C2CA16AE7DE3}"/>
              </a:ext>
            </a:extLst>
          </p:cNvPr>
          <p:cNvSpPr txBox="1"/>
          <p:nvPr/>
        </p:nvSpPr>
        <p:spPr>
          <a:xfrm>
            <a:off x="1452601" y="5290958"/>
            <a:ext cx="74840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Entity Linking, Retrieval, Path Enumeration</a:t>
            </a:r>
          </a:p>
        </p:txBody>
      </p:sp>
      <p:sp>
        <p:nvSpPr>
          <p:cNvPr id="51" name="Rectangle: Rounded Corners 31">
            <a:extLst>
              <a:ext uri="{FF2B5EF4-FFF2-40B4-BE49-F238E27FC236}">
                <a16:creationId xmlns:a16="http://schemas.microsoft.com/office/drawing/2014/main" id="{3ACF69DD-1D2F-0EF4-0326-E1312A02C025}"/>
              </a:ext>
            </a:extLst>
          </p:cNvPr>
          <p:cNvSpPr/>
          <p:nvPr/>
        </p:nvSpPr>
        <p:spPr>
          <a:xfrm>
            <a:off x="10482147" y="6642969"/>
            <a:ext cx="8275368" cy="123106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28806E-CC21-7C6A-8D38-4DEA4A175BAC}"/>
              </a:ext>
            </a:extLst>
          </p:cNvPr>
          <p:cNvSpPr txBox="1"/>
          <p:nvPr/>
        </p:nvSpPr>
        <p:spPr>
          <a:xfrm>
            <a:off x="10604619" y="6666667"/>
            <a:ext cx="8280669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/>
              <a:t>Paper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252423"/>
                </a:solidFill>
              </a:rPr>
              <a:t>(And (Join published at EMNLP)          (Join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Manning)))</a:t>
            </a:r>
            <a:endParaRPr lang="en-IN" sz="3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ED862D-3DD5-17FD-58C3-5396098C6EBE}"/>
              </a:ext>
            </a:extLst>
          </p:cNvPr>
          <p:cNvSpPr txBox="1"/>
          <p:nvPr/>
        </p:nvSpPr>
        <p:spPr>
          <a:xfrm>
            <a:off x="10482147" y="5984273"/>
            <a:ext cx="79271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Generation (SLM)</a:t>
            </a:r>
            <a:endParaRPr lang="en-US" sz="1600" b="1" dirty="0">
              <a:solidFill>
                <a:srgbClr val="3333FF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9815011" y="7086701"/>
            <a:ext cx="667136" cy="4992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Rounded Corners 15">
            <a:extLst>
              <a:ext uri="{FF2B5EF4-FFF2-40B4-BE49-F238E27FC236}">
                <a16:creationId xmlns:a16="http://schemas.microsoft.com/office/drawing/2014/main" id="{989C3526-9CFA-317F-61A7-92C34535A4AD}"/>
              </a:ext>
            </a:extLst>
          </p:cNvPr>
          <p:cNvSpPr/>
          <p:nvPr/>
        </p:nvSpPr>
        <p:spPr>
          <a:xfrm>
            <a:off x="2088332" y="7005342"/>
            <a:ext cx="6552728" cy="7896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dirty="0">
                <a:solidFill>
                  <a:srgbClr val="3333FF"/>
                </a:solidFill>
              </a:rPr>
              <a:t>Schema: </a:t>
            </a:r>
            <a:r>
              <a:rPr lang="en-IN" sz="3200" dirty="0">
                <a:solidFill>
                  <a:schemeClr val="tx1"/>
                </a:solidFill>
              </a:rPr>
              <a:t>Paper, writes, published at 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4" name="Content Placeholder 2"/>
          <p:cNvSpPr txBox="1">
            <a:spLocks/>
          </p:cNvSpPr>
          <p:nvPr/>
        </p:nvSpPr>
        <p:spPr>
          <a:xfrm>
            <a:off x="10153228" y="1895321"/>
            <a:ext cx="8710507" cy="380092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KB elements guide generation</a:t>
            </a:r>
          </a:p>
          <a:p>
            <a:r>
              <a:rPr lang="en-US" dirty="0"/>
              <a:t>Model learns to focus on paths</a:t>
            </a:r>
          </a:p>
          <a:p>
            <a:r>
              <a:rPr lang="en-US" dirty="0">
                <a:solidFill>
                  <a:srgbClr val="3333FF"/>
                </a:solidFill>
              </a:rPr>
              <a:t>Overreliance on KB paths</a:t>
            </a:r>
          </a:p>
          <a:p>
            <a:pPr lvl="1"/>
            <a:r>
              <a:rPr lang="en-US" spc="-150" dirty="0">
                <a:solidFill>
                  <a:srgbClr val="3333FF"/>
                </a:solidFill>
              </a:rPr>
              <a:t>If gold path is absent, model chooses some </a:t>
            </a:r>
            <a:r>
              <a:rPr lang="en-US" dirty="0">
                <a:solidFill>
                  <a:srgbClr val="3333FF"/>
                </a:solidFill>
              </a:rPr>
              <a:t>path, generating wrong logical form</a:t>
            </a:r>
          </a:p>
          <a:p>
            <a:r>
              <a:rPr lang="en-US" dirty="0">
                <a:solidFill>
                  <a:srgbClr val="3333FF"/>
                </a:solidFill>
              </a:rPr>
              <a:t>How to output l=NK? Not trained for it.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9" y="3114452"/>
            <a:ext cx="900895" cy="7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0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  <p:bldP spid="45" grpId="0" animBg="1"/>
      <p:bldP spid="46" grpId="0" animBg="1"/>
      <p:bldP spid="47" grpId="0" animBg="1"/>
      <p:bldP spid="49" grpId="0"/>
      <p:bldP spid="51" grpId="0" animBg="1"/>
      <p:bldP spid="52" grpId="0"/>
      <p:bldP spid="53" grpId="0"/>
      <p:bldP spid="4" grpId="0" animBg="1"/>
      <p:bldP spid="5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2" y="6140742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32147"/>
              </p:ext>
            </p:extLst>
          </p:nvPr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chemeClr val="tx1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3" name="Right Arrow 2"/>
          <p:cNvSpPr/>
          <p:nvPr/>
        </p:nvSpPr>
        <p:spPr>
          <a:xfrm>
            <a:off x="6984876" y="6930876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datasets</a:t>
            </a:r>
            <a:endParaRPr lang="en-IN" sz="4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83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Generate l=NK? Simple Ideas…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6396395" cy="7776864"/>
          </a:xfrm>
        </p:spPr>
        <p:txBody>
          <a:bodyPr>
            <a:normAutofit/>
          </a:bodyPr>
          <a:lstStyle/>
          <a:p>
            <a:r>
              <a:rPr lang="en-US" dirty="0"/>
              <a:t>Turn off EGF</a:t>
            </a:r>
          </a:p>
          <a:p>
            <a:endParaRPr lang="en-US" dirty="0"/>
          </a:p>
          <a:p>
            <a:r>
              <a:rPr lang="en-US" dirty="0" err="1"/>
              <a:t>Thresholding</a:t>
            </a:r>
            <a:endParaRPr lang="en-US" dirty="0"/>
          </a:p>
          <a:p>
            <a:pPr lvl="1"/>
            <a:r>
              <a:rPr lang="en-US" i="1" dirty="0" err="1"/>
              <a:t>Pr</a:t>
            </a:r>
            <a:r>
              <a:rPr lang="en-US" b="1" i="1" baseline="-25000" dirty="0" err="1"/>
              <a:t>gen</a:t>
            </a:r>
            <a:r>
              <a:rPr lang="en-US" i="1" dirty="0"/>
              <a:t>(</a:t>
            </a:r>
            <a:r>
              <a:rPr lang="en-US" i="1" dirty="0" err="1"/>
              <a:t>l|q</a:t>
            </a:r>
            <a:r>
              <a:rPr lang="en-US" i="1" dirty="0"/>
              <a:t>) </a:t>
            </a:r>
            <a:r>
              <a:rPr lang="en-US" dirty="0"/>
              <a:t>&gt; threshold</a:t>
            </a:r>
          </a:p>
          <a:p>
            <a:pPr lvl="2"/>
            <a:r>
              <a:rPr lang="en-US" dirty="0"/>
              <a:t>output </a:t>
            </a:r>
            <a:r>
              <a:rPr lang="en-US" i="1" dirty="0"/>
              <a:t>l</a:t>
            </a:r>
          </a:p>
          <a:p>
            <a:pPr lvl="1"/>
            <a:r>
              <a:rPr lang="en-US" dirty="0"/>
              <a:t>else</a:t>
            </a:r>
          </a:p>
          <a:p>
            <a:pPr lvl="2"/>
            <a:r>
              <a:rPr lang="en-US" dirty="0"/>
              <a:t>o</a:t>
            </a:r>
            <a:r>
              <a:rPr lang="en-US"/>
              <a:t>utput </a:t>
            </a:r>
            <a:r>
              <a:rPr lang="en-US" i="1" dirty="0"/>
              <a:t>NK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A+U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891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321868" y="3618508"/>
          <a:ext cx="1639728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Train</a:t>
                      </a:r>
                      <a:endParaRPr lang="en-IN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Model</a:t>
                      </a:r>
                      <a:endParaRPr lang="en-IN" sz="4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Overall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Answerable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Unanswerable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4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A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TIARA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72.8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53.7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80.0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75.6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58.3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9.2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TIARA+T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71.6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55.2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74.1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70.6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66.7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24.1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A+U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TIARA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77.4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66.3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71.3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68.3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89.8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62.2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TIARA+T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76.9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66.9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69.9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67.0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91.2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66.7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Google Shape;376;p40"/>
          <p:cNvSpPr/>
          <p:nvPr/>
        </p:nvSpPr>
        <p:spPr>
          <a:xfrm>
            <a:off x="16273908" y="5130676"/>
            <a:ext cx="792088" cy="504056"/>
          </a:xfrm>
          <a:prstGeom prst="rect">
            <a:avLst/>
          </a:prstGeom>
          <a:noFill/>
          <a:ln w="635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  <p:sp>
        <p:nvSpPr>
          <p:cNvPr id="8" name="Google Shape;376;p40"/>
          <p:cNvSpPr/>
          <p:nvPr/>
        </p:nvSpPr>
        <p:spPr>
          <a:xfrm>
            <a:off x="16201900" y="5778748"/>
            <a:ext cx="936104" cy="576064"/>
          </a:xfrm>
          <a:prstGeom prst="rect">
            <a:avLst/>
          </a:prstGeom>
          <a:noFill/>
          <a:ln w="635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9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73657" y="3762524"/>
            <a:ext cx="16396395" cy="3240360"/>
          </a:xfrm>
        </p:spPr>
        <p:txBody>
          <a:bodyPr>
            <a:normAutofit/>
          </a:bodyPr>
          <a:lstStyle/>
          <a:p>
            <a:r>
              <a:rPr lang="en-US" dirty="0"/>
              <a:t>How to make one model robust to both answerable and unanswerable questions?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8868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Issues </a:t>
            </a:r>
            <a:r>
              <a:rPr lang="en-US" dirty="0">
                <a:sym typeface="Wingdings" panose="05000000000000000000" pitchFamily="2" charset="2"/>
              </a:rPr>
              <a:t> Ideas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6396395" cy="77768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Poor calibration </a:t>
            </a:r>
            <a:r>
              <a:rPr lang="en-US" dirty="0"/>
              <a:t>for </a:t>
            </a:r>
            <a:r>
              <a:rPr lang="en-US" dirty="0" err="1"/>
              <a:t>thresholding</a:t>
            </a:r>
            <a:endParaRPr lang="en-US" dirty="0"/>
          </a:p>
          <a:p>
            <a:pPr lvl="1"/>
            <a:r>
              <a:rPr lang="en-US" dirty="0"/>
              <a:t>Last step should be a discriminative model rather than generative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3333FF"/>
                </a:solidFill>
              </a:rPr>
              <a:t>Over-reliance on retrieved paths</a:t>
            </a:r>
            <a:r>
              <a:rPr lang="en-US" dirty="0"/>
              <a:t>, leading to wrong logical forms</a:t>
            </a:r>
          </a:p>
          <a:p>
            <a:pPr marL="712866" lvl="1" indent="0">
              <a:buNone/>
            </a:pPr>
            <a:endParaRPr lang="en-US" dirty="0"/>
          </a:p>
          <a:p>
            <a:pPr marL="712866" lvl="1" indent="0">
              <a:buNone/>
            </a:pPr>
            <a:endParaRPr lang="en-US" dirty="0"/>
          </a:p>
          <a:p>
            <a:r>
              <a:rPr lang="en-IN" dirty="0">
                <a:solidFill>
                  <a:srgbClr val="3333FF"/>
                </a:solidFill>
              </a:rPr>
              <a:t>Solution: </a:t>
            </a:r>
            <a:r>
              <a:rPr lang="en-IN" dirty="0"/>
              <a:t>Combine sketch-based architectures with Retrieve-then-generate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2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83361" y="2124713"/>
            <a:ext cx="8609177" cy="2578200"/>
            <a:chOff x="5168467" y="6315823"/>
            <a:chExt cx="8609177" cy="25782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B455678-1A24-C24A-C394-BFCC5435BB99}"/>
                </a:ext>
              </a:extLst>
            </p:cNvPr>
            <p:cNvSpPr/>
            <p:nvPr/>
          </p:nvSpPr>
          <p:spPr>
            <a:xfrm>
              <a:off x="5537707" y="6389939"/>
              <a:ext cx="207244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Researcher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BD609F7-7777-0493-FABF-6E7AD1F0E4E2}"/>
                </a:ext>
              </a:extLst>
            </p:cNvPr>
            <p:cNvSpPr/>
            <p:nvPr/>
          </p:nvSpPr>
          <p:spPr>
            <a:xfrm>
              <a:off x="8619093" y="6393837"/>
              <a:ext cx="170625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Paper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EFD8B4B-9F3A-6D57-1640-8B58B86885AF}"/>
                </a:ext>
              </a:extLst>
            </p:cNvPr>
            <p:cNvSpPr/>
            <p:nvPr/>
          </p:nvSpPr>
          <p:spPr>
            <a:xfrm>
              <a:off x="11287545" y="6397735"/>
              <a:ext cx="207244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Conference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0EB8773-AEDF-5D45-FEC3-ED918AA36397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7706271" y="6679828"/>
              <a:ext cx="912822" cy="1949"/>
            </a:xfrm>
            <a:prstGeom prst="straightConnector1">
              <a:avLst/>
            </a:prstGeom>
            <a:ln w="38100" cmpd="dbl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79056A3-7D54-76DA-6B02-C1E5ADEB7570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10325347" y="6677879"/>
              <a:ext cx="962197" cy="7796"/>
            </a:xfrm>
            <a:prstGeom prst="straightConnector1">
              <a:avLst/>
            </a:prstGeom>
            <a:ln w="38100" cmpd="dbl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C162241-6D1B-AE60-EF7E-C479142444A3}"/>
                </a:ext>
              </a:extLst>
            </p:cNvPr>
            <p:cNvSpPr txBox="1"/>
            <p:nvPr/>
          </p:nvSpPr>
          <p:spPr>
            <a:xfrm>
              <a:off x="7492674" y="6778139"/>
              <a:ext cx="1188851" cy="524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7" dirty="0"/>
                <a:t>writes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910155-4538-F9D5-2111-5D5A77FAE052}"/>
                </a:ext>
              </a:extLst>
            </p:cNvPr>
            <p:cNvSpPr txBox="1"/>
            <p:nvPr/>
          </p:nvSpPr>
          <p:spPr>
            <a:xfrm>
              <a:off x="10020194" y="6871974"/>
              <a:ext cx="1989519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published at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15DBF02-C9C2-D72F-B489-A0AC292224AE}"/>
                </a:ext>
              </a:extLst>
            </p:cNvPr>
            <p:cNvSpPr/>
            <p:nvPr/>
          </p:nvSpPr>
          <p:spPr>
            <a:xfrm>
              <a:off x="5168467" y="6315823"/>
              <a:ext cx="8609177" cy="257820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694CE4C-CD91-4C62-B2AD-DB3B61DC3489}"/>
                </a:ext>
              </a:extLst>
            </p:cNvPr>
            <p:cNvSpPr/>
            <p:nvPr/>
          </p:nvSpPr>
          <p:spPr>
            <a:xfrm>
              <a:off x="5281252" y="7459603"/>
              <a:ext cx="8185319" cy="1186379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7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708B5FA-B22F-E602-400D-82473AA0753D}"/>
                </a:ext>
              </a:extLst>
            </p:cNvPr>
            <p:cNvSpPr/>
            <p:nvPr/>
          </p:nvSpPr>
          <p:spPr>
            <a:xfrm>
              <a:off x="5405048" y="7551068"/>
              <a:ext cx="2331908" cy="88941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C. Manning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9445DB0-3BBD-AE1B-AB63-2857429EFD68}"/>
                </a:ext>
              </a:extLst>
            </p:cNvPr>
            <p:cNvSpPr/>
            <p:nvPr/>
          </p:nvSpPr>
          <p:spPr>
            <a:xfrm>
              <a:off x="8551413" y="7554966"/>
              <a:ext cx="1808768" cy="7946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Glove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8DB3077-33D5-83B9-09FC-0F5E1554B083}"/>
                </a:ext>
              </a:extLst>
            </p:cNvPr>
            <p:cNvSpPr/>
            <p:nvPr/>
          </p:nvSpPr>
          <p:spPr>
            <a:xfrm>
              <a:off x="11373028" y="7558865"/>
              <a:ext cx="1901482" cy="7946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EMNLP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3B9CCB1-9ADA-2508-29F9-4A4116BAA6A7}"/>
                </a:ext>
              </a:extLst>
            </p:cNvPr>
            <p:cNvCxnSpPr>
              <a:cxnSpLocks/>
              <a:stCxn id="69" idx="6"/>
              <a:endCxn id="70" idx="2"/>
            </p:cNvCxnSpPr>
            <p:nvPr/>
          </p:nvCxnSpPr>
          <p:spPr>
            <a:xfrm flipV="1">
              <a:off x="7736956" y="7952314"/>
              <a:ext cx="814457" cy="43459"/>
            </a:xfrm>
            <a:prstGeom prst="straightConnector1">
              <a:avLst/>
            </a:prstGeom>
            <a:ln w="127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1843C73-4123-A731-D4DE-8A8A73AFE382}"/>
                </a:ext>
              </a:extLst>
            </p:cNvPr>
            <p:cNvCxnSpPr>
              <a:cxnSpLocks/>
              <a:stCxn id="70" idx="6"/>
              <a:endCxn id="71" idx="2"/>
            </p:cNvCxnSpPr>
            <p:nvPr/>
          </p:nvCxnSpPr>
          <p:spPr>
            <a:xfrm>
              <a:off x="10360181" y="7952313"/>
              <a:ext cx="1012846" cy="3898"/>
            </a:xfrm>
            <a:prstGeom prst="straightConnector1">
              <a:avLst/>
            </a:prstGeom>
            <a:ln w="127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C09E649-70AC-263C-087B-AA0663B1E613}"/>
                </a:ext>
              </a:extLst>
            </p:cNvPr>
            <p:cNvSpPr txBox="1"/>
            <p:nvPr/>
          </p:nvSpPr>
          <p:spPr>
            <a:xfrm>
              <a:off x="7596706" y="8186614"/>
              <a:ext cx="1088118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writes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EA44BE1-9412-0D4F-E4BF-9EF7B0AA5CEF}"/>
                </a:ext>
              </a:extLst>
            </p:cNvPr>
            <p:cNvSpPr txBox="1"/>
            <p:nvPr/>
          </p:nvSpPr>
          <p:spPr>
            <a:xfrm>
              <a:off x="10016549" y="8175027"/>
              <a:ext cx="1989519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published at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E943F11-0E9E-9E73-8DDC-561606B14032}"/>
                </a:ext>
              </a:extLst>
            </p:cNvPr>
            <p:cNvCxnSpPr>
              <a:cxnSpLocks/>
              <a:stCxn id="69" idx="0"/>
              <a:endCxn id="36" idx="2"/>
            </p:cNvCxnSpPr>
            <p:nvPr/>
          </p:nvCxnSpPr>
          <p:spPr>
            <a:xfrm flipV="1">
              <a:off x="6571003" y="6965819"/>
              <a:ext cx="2927" cy="585248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DBC7F73-22B4-E9F1-9F00-38CEB90D5AF3}"/>
                </a:ext>
              </a:extLst>
            </p:cNvPr>
            <p:cNvCxnSpPr>
              <a:cxnSpLocks/>
              <a:stCxn id="70" idx="0"/>
              <a:endCxn id="37" idx="2"/>
            </p:cNvCxnSpPr>
            <p:nvPr/>
          </p:nvCxnSpPr>
          <p:spPr>
            <a:xfrm flipV="1">
              <a:off x="9455797" y="6969716"/>
              <a:ext cx="16424" cy="585250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2C58FEC8-F9D7-0741-96F9-CCE92E85180D}"/>
                </a:ext>
              </a:extLst>
            </p:cNvPr>
            <p:cNvCxnSpPr>
              <a:cxnSpLocks/>
              <a:stCxn id="71" idx="0"/>
              <a:endCxn id="38" idx="2"/>
            </p:cNvCxnSpPr>
            <p:nvPr/>
          </p:nvCxnSpPr>
          <p:spPr>
            <a:xfrm flipH="1" flipV="1">
              <a:off x="12323768" y="6973614"/>
              <a:ext cx="2" cy="585250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5314190" y="4710533"/>
            <a:ext cx="446550" cy="97465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14168323" y="3925743"/>
            <a:ext cx="476961" cy="70217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1306959" y="569326"/>
            <a:ext cx="16396395" cy="14650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 Paradigm 2: Sketch Filling (Top Down)</a:t>
            </a:r>
            <a:endParaRPr lang="en-IN" dirty="0"/>
          </a:p>
        </p:txBody>
      </p:sp>
      <p:sp>
        <p:nvSpPr>
          <p:cNvPr id="46" name="Rectangle: Rounded Corners 15">
            <a:extLst>
              <a:ext uri="{FF2B5EF4-FFF2-40B4-BE49-F238E27FC236}">
                <a16:creationId xmlns:a16="http://schemas.microsoft.com/office/drawing/2014/main" id="{989C3526-9CFA-317F-61A7-92C34535A4AD}"/>
              </a:ext>
            </a:extLst>
          </p:cNvPr>
          <p:cNvSpPr/>
          <p:nvPr/>
        </p:nvSpPr>
        <p:spPr>
          <a:xfrm>
            <a:off x="1080220" y="5706740"/>
            <a:ext cx="6120680" cy="119870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IN" sz="3200" dirty="0">
                <a:solidFill>
                  <a:srgbClr val="3333FF"/>
                </a:solidFill>
              </a:rPr>
              <a:t>Entities: </a:t>
            </a:r>
            <a:r>
              <a:rPr lang="en-IN" sz="3200" dirty="0">
                <a:solidFill>
                  <a:schemeClr val="tx1"/>
                </a:solidFill>
              </a:rPr>
              <a:t>EMNLP, </a:t>
            </a:r>
          </a:p>
          <a:p>
            <a:r>
              <a:rPr lang="en-IN" sz="3200" dirty="0">
                <a:solidFill>
                  <a:schemeClr val="tx1"/>
                </a:solidFill>
              </a:rPr>
              <a:t>C. Manning, C.G. Neville-Manning</a:t>
            </a:r>
            <a:endParaRPr lang="en-IN" sz="32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3DF208-BB10-6477-915E-C2CA16AE7DE3}"/>
              </a:ext>
            </a:extLst>
          </p:cNvPr>
          <p:cNvSpPr txBox="1"/>
          <p:nvPr/>
        </p:nvSpPr>
        <p:spPr>
          <a:xfrm>
            <a:off x="1080220" y="5130676"/>
            <a:ext cx="45961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Entity Linking, Retrieval</a:t>
            </a:r>
          </a:p>
        </p:txBody>
      </p:sp>
      <p:sp>
        <p:nvSpPr>
          <p:cNvPr id="51" name="Rectangle: Rounded Corners 31">
            <a:extLst>
              <a:ext uri="{FF2B5EF4-FFF2-40B4-BE49-F238E27FC236}">
                <a16:creationId xmlns:a16="http://schemas.microsoft.com/office/drawing/2014/main" id="{3ACF69DD-1D2F-0EF4-0326-E1312A02C025}"/>
              </a:ext>
            </a:extLst>
          </p:cNvPr>
          <p:cNvSpPr/>
          <p:nvPr/>
        </p:nvSpPr>
        <p:spPr>
          <a:xfrm>
            <a:off x="10482147" y="2660950"/>
            <a:ext cx="8275368" cy="123106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28806E-CC21-7C6A-8D38-4DEA4A175BAC}"/>
              </a:ext>
            </a:extLst>
          </p:cNvPr>
          <p:cNvSpPr txBox="1"/>
          <p:nvPr/>
        </p:nvSpPr>
        <p:spPr>
          <a:xfrm>
            <a:off x="10604619" y="2684648"/>
            <a:ext cx="8280669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>
                <a:solidFill>
                  <a:srgbClr val="3333FF"/>
                </a:solidFill>
              </a:rPr>
              <a:t>[type] </a:t>
            </a:r>
            <a:r>
              <a:rPr lang="en-US" sz="3200" dirty="0">
                <a:solidFill>
                  <a:srgbClr val="252423"/>
                </a:solidFill>
              </a:rPr>
              <a:t>(And (Join </a:t>
            </a:r>
            <a:r>
              <a:rPr lang="en-US" sz="3200" dirty="0">
                <a:solidFill>
                  <a:srgbClr val="3333FF"/>
                </a:solidFill>
              </a:rPr>
              <a:t>[relation] [entity]</a:t>
            </a:r>
            <a:r>
              <a:rPr lang="en-US" sz="3200" dirty="0">
                <a:solidFill>
                  <a:srgbClr val="252423"/>
                </a:solidFill>
              </a:rPr>
              <a:t>)          (Join </a:t>
            </a:r>
            <a:r>
              <a:rPr lang="en-US" sz="3200" dirty="0">
                <a:solidFill>
                  <a:srgbClr val="3333FF"/>
                </a:solidFill>
              </a:rPr>
              <a:t>[relation] [entity]</a:t>
            </a:r>
            <a:r>
              <a:rPr lang="en-US" sz="3200" dirty="0">
                <a:solidFill>
                  <a:srgbClr val="252423"/>
                </a:solidFill>
              </a:rPr>
              <a:t>)))</a:t>
            </a:r>
            <a:endParaRPr lang="en-IN" sz="3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ED862D-3DD5-17FD-58C3-5396098C6EBE}"/>
              </a:ext>
            </a:extLst>
          </p:cNvPr>
          <p:cNvSpPr txBox="1"/>
          <p:nvPr/>
        </p:nvSpPr>
        <p:spPr>
          <a:xfrm>
            <a:off x="10482147" y="2002254"/>
            <a:ext cx="79271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Sketch Generation (SLM)</a:t>
            </a:r>
            <a:endParaRPr lang="en-US" sz="1600" b="1" dirty="0">
              <a:solidFill>
                <a:srgbClr val="3333FF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7848972" y="6131436"/>
            <a:ext cx="2551230" cy="49824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321580" y="9595172"/>
            <a:ext cx="2323955" cy="844155"/>
            <a:chOff x="944734" y="6077220"/>
            <a:chExt cx="1490436" cy="701097"/>
          </a:xfrm>
        </p:grpSpPr>
        <p:sp>
          <p:nvSpPr>
            <p:cNvPr id="48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71178" y="6150289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54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14240331" y="894274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55" name="Rectangle: Rounded Corners 31">
            <a:extLst>
              <a:ext uri="{FF2B5EF4-FFF2-40B4-BE49-F238E27FC236}">
                <a16:creationId xmlns:a16="http://schemas.microsoft.com/office/drawing/2014/main" id="{3ACF69DD-1D2F-0EF4-0326-E1312A02C025}"/>
              </a:ext>
            </a:extLst>
          </p:cNvPr>
          <p:cNvSpPr/>
          <p:nvPr/>
        </p:nvSpPr>
        <p:spPr>
          <a:xfrm>
            <a:off x="10482147" y="7716037"/>
            <a:ext cx="8275368" cy="123106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28806E-CC21-7C6A-8D38-4DEA4A175BAC}"/>
              </a:ext>
            </a:extLst>
          </p:cNvPr>
          <p:cNvSpPr txBox="1"/>
          <p:nvPr/>
        </p:nvSpPr>
        <p:spPr>
          <a:xfrm>
            <a:off x="10604619" y="7797874"/>
            <a:ext cx="8280669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/>
              <a:t>Paper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252423"/>
                </a:solidFill>
              </a:rPr>
              <a:t>(And (Join published at EMNLP)          (Join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Manning)))</a:t>
            </a:r>
            <a:endParaRPr lang="en-IN" sz="3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ED862D-3DD5-17FD-58C3-5396098C6EBE}"/>
              </a:ext>
            </a:extLst>
          </p:cNvPr>
          <p:cNvSpPr txBox="1"/>
          <p:nvPr/>
        </p:nvSpPr>
        <p:spPr>
          <a:xfrm>
            <a:off x="10482147" y="7138189"/>
            <a:ext cx="79271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rgbClr val="3333FF"/>
                </a:solidFill>
                <a:cs typeface="Calibri"/>
              </a:rPr>
              <a:t>Reranking</a:t>
            </a:r>
            <a:endParaRPr lang="en-US" sz="1600" b="1" dirty="0">
              <a:solidFill>
                <a:srgbClr val="3333FF"/>
              </a:solidFill>
            </a:endParaRPr>
          </a:p>
        </p:txBody>
      </p:sp>
      <p:sp>
        <p:nvSpPr>
          <p:cNvPr id="60" name="Right Arrow 59"/>
          <p:cNvSpPr/>
          <p:nvPr/>
        </p:nvSpPr>
        <p:spPr>
          <a:xfrm>
            <a:off x="9793188" y="3042444"/>
            <a:ext cx="667136" cy="4992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31">
            <a:extLst>
              <a:ext uri="{FF2B5EF4-FFF2-40B4-BE49-F238E27FC236}">
                <a16:creationId xmlns:a16="http://schemas.microsoft.com/office/drawing/2014/main" id="{3ACF69DD-1D2F-0EF4-0326-E1312A02C025}"/>
              </a:ext>
            </a:extLst>
          </p:cNvPr>
          <p:cNvSpPr/>
          <p:nvPr/>
        </p:nvSpPr>
        <p:spPr>
          <a:xfrm>
            <a:off x="10441260" y="4640939"/>
            <a:ext cx="8275368" cy="227047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28806E-CC21-7C6A-8D38-4DEA4A175BAC}"/>
              </a:ext>
            </a:extLst>
          </p:cNvPr>
          <p:cNvSpPr txBox="1"/>
          <p:nvPr/>
        </p:nvSpPr>
        <p:spPr>
          <a:xfrm>
            <a:off x="10563732" y="4698628"/>
            <a:ext cx="8280669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/>
              <a:t>Paper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252423"/>
                </a:solidFill>
              </a:rPr>
              <a:t>(And (Join published at EMNLP)          (Join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Manning)))</a:t>
            </a:r>
          </a:p>
          <a:p>
            <a:endParaRPr lang="en-US" sz="1000" dirty="0">
              <a:solidFill>
                <a:srgbClr val="252423"/>
              </a:solidFill>
            </a:endParaRPr>
          </a:p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/>
              <a:t>Paper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252423"/>
                </a:solidFill>
              </a:rPr>
              <a:t>(And (Join published at EMNLP)          (Join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G. Neville-Manning)))</a:t>
            </a:r>
            <a:endParaRPr lang="en-IN" sz="3200" b="1" dirty="0"/>
          </a:p>
        </p:txBody>
      </p:sp>
      <p:sp>
        <p:nvSpPr>
          <p:cNvPr id="63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14212771" y="6948784"/>
            <a:ext cx="476961" cy="70217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ED862D-3DD5-17FD-58C3-5396098C6EBE}"/>
              </a:ext>
            </a:extLst>
          </p:cNvPr>
          <p:cNvSpPr txBox="1"/>
          <p:nvPr/>
        </p:nvSpPr>
        <p:spPr>
          <a:xfrm>
            <a:off x="10582293" y="4088242"/>
            <a:ext cx="79271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LF Integration</a:t>
            </a:r>
            <a:endParaRPr lang="en-US" sz="1600" b="1" dirty="0">
              <a:solidFill>
                <a:srgbClr val="3333FF"/>
              </a:solidFill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9" y="3114452"/>
            <a:ext cx="900895" cy="726058"/>
          </a:xfrm>
          <a:prstGeom prst="rect">
            <a:avLst/>
          </a:prstGeom>
        </p:spPr>
      </p:pic>
      <p:sp>
        <p:nvSpPr>
          <p:cNvPr id="47" name="Rectangle: Rounded Corners 15">
            <a:extLst>
              <a:ext uri="{FF2B5EF4-FFF2-40B4-BE49-F238E27FC236}">
                <a16:creationId xmlns:a16="http://schemas.microsoft.com/office/drawing/2014/main" id="{989C3526-9CFA-317F-61A7-92C34535A4AD}"/>
              </a:ext>
            </a:extLst>
          </p:cNvPr>
          <p:cNvSpPr/>
          <p:nvPr/>
        </p:nvSpPr>
        <p:spPr>
          <a:xfrm>
            <a:off x="1037053" y="7256141"/>
            <a:ext cx="6552728" cy="7896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dirty="0">
                <a:solidFill>
                  <a:srgbClr val="3333FF"/>
                </a:solidFill>
              </a:rPr>
              <a:t>Schema: </a:t>
            </a:r>
            <a:r>
              <a:rPr lang="en-IN" sz="3200" dirty="0">
                <a:solidFill>
                  <a:schemeClr val="tx1"/>
                </a:solidFill>
              </a:rPr>
              <a:t>Paper, writes, published at 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10">
            <a:extLst>
              <a:ext uri="{FF2B5EF4-FFF2-40B4-BE49-F238E27FC236}">
                <a16:creationId xmlns:a16="http://schemas.microsoft.com/office/drawing/2014/main" id="{AEFA9BAF-33E7-A2D8-CDDD-AFE845FB008B}"/>
              </a:ext>
            </a:extLst>
          </p:cNvPr>
          <p:cNvSpPr/>
          <p:nvPr/>
        </p:nvSpPr>
        <p:spPr>
          <a:xfrm>
            <a:off x="356279" y="5654004"/>
            <a:ext cx="7492693" cy="25730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8344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  <p:bldP spid="46" grpId="0" animBg="1"/>
      <p:bldP spid="49" grpId="0"/>
      <p:bldP spid="51" grpId="0" animBg="1"/>
      <p:bldP spid="52" grpId="0"/>
      <p:bldP spid="53" grpId="0"/>
      <p:bldP spid="4" grpId="0" animBg="1"/>
      <p:bldP spid="54" grpId="0" animBg="1"/>
      <p:bldP spid="55" grpId="0" animBg="1"/>
      <p:bldP spid="57" grpId="0"/>
      <p:bldP spid="59" grpId="0"/>
      <p:bldP spid="60" grpId="0" animBg="1"/>
      <p:bldP spid="61" grpId="0" animBg="1"/>
      <p:bldP spid="62" grpId="0"/>
      <p:bldP spid="63" grpId="0" animBg="1"/>
      <p:bldP spid="64" grpId="0"/>
      <p:bldP spid="47" grpId="0" animBg="1"/>
      <p:bldP spid="5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83361" y="2124713"/>
            <a:ext cx="8609177" cy="2578200"/>
            <a:chOff x="5168467" y="6315823"/>
            <a:chExt cx="8609177" cy="25782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B455678-1A24-C24A-C394-BFCC5435BB99}"/>
                </a:ext>
              </a:extLst>
            </p:cNvPr>
            <p:cNvSpPr/>
            <p:nvPr/>
          </p:nvSpPr>
          <p:spPr>
            <a:xfrm>
              <a:off x="5537707" y="6389939"/>
              <a:ext cx="207244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Researcher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BD609F7-7777-0493-FABF-6E7AD1F0E4E2}"/>
                </a:ext>
              </a:extLst>
            </p:cNvPr>
            <p:cNvSpPr/>
            <p:nvPr/>
          </p:nvSpPr>
          <p:spPr>
            <a:xfrm>
              <a:off x="8619093" y="6393837"/>
              <a:ext cx="170625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Paper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EFD8B4B-9F3A-6D57-1640-8B58B86885AF}"/>
                </a:ext>
              </a:extLst>
            </p:cNvPr>
            <p:cNvSpPr/>
            <p:nvPr/>
          </p:nvSpPr>
          <p:spPr>
            <a:xfrm>
              <a:off x="11287545" y="6397735"/>
              <a:ext cx="2072444" cy="575879"/>
            </a:xfrm>
            <a:prstGeom prst="roundRect">
              <a:avLst/>
            </a:prstGeom>
            <a:ln w="38100" cmpd="dbl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Conference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0EB8773-AEDF-5D45-FEC3-ED918AA36397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7706271" y="6679828"/>
              <a:ext cx="912822" cy="1949"/>
            </a:xfrm>
            <a:prstGeom prst="straightConnector1">
              <a:avLst/>
            </a:prstGeom>
            <a:ln w="38100" cmpd="dbl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79056A3-7D54-76DA-6B02-C1E5ADEB7570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10325347" y="6677879"/>
              <a:ext cx="962197" cy="7796"/>
            </a:xfrm>
            <a:prstGeom prst="straightConnector1">
              <a:avLst/>
            </a:prstGeom>
            <a:ln w="38100" cmpd="dbl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C162241-6D1B-AE60-EF7E-C479142444A3}"/>
                </a:ext>
              </a:extLst>
            </p:cNvPr>
            <p:cNvSpPr txBox="1"/>
            <p:nvPr/>
          </p:nvSpPr>
          <p:spPr>
            <a:xfrm>
              <a:off x="7492674" y="6778139"/>
              <a:ext cx="1188851" cy="524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7" dirty="0"/>
                <a:t>writes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910155-4538-F9D5-2111-5D5A77FAE052}"/>
                </a:ext>
              </a:extLst>
            </p:cNvPr>
            <p:cNvSpPr txBox="1"/>
            <p:nvPr/>
          </p:nvSpPr>
          <p:spPr>
            <a:xfrm>
              <a:off x="10020194" y="6871974"/>
              <a:ext cx="1989519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published at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15DBF02-C9C2-D72F-B489-A0AC292224AE}"/>
                </a:ext>
              </a:extLst>
            </p:cNvPr>
            <p:cNvSpPr/>
            <p:nvPr/>
          </p:nvSpPr>
          <p:spPr>
            <a:xfrm>
              <a:off x="5168467" y="6315823"/>
              <a:ext cx="8609177" cy="257820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694CE4C-CD91-4C62-B2AD-DB3B61DC3489}"/>
                </a:ext>
              </a:extLst>
            </p:cNvPr>
            <p:cNvSpPr/>
            <p:nvPr/>
          </p:nvSpPr>
          <p:spPr>
            <a:xfrm>
              <a:off x="5281252" y="7459603"/>
              <a:ext cx="8185319" cy="1186379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7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708B5FA-B22F-E602-400D-82473AA0753D}"/>
                </a:ext>
              </a:extLst>
            </p:cNvPr>
            <p:cNvSpPr/>
            <p:nvPr/>
          </p:nvSpPr>
          <p:spPr>
            <a:xfrm>
              <a:off x="5405048" y="7551068"/>
              <a:ext cx="2331908" cy="88941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C. Manning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9445DB0-3BBD-AE1B-AB63-2857429EFD68}"/>
                </a:ext>
              </a:extLst>
            </p:cNvPr>
            <p:cNvSpPr/>
            <p:nvPr/>
          </p:nvSpPr>
          <p:spPr>
            <a:xfrm>
              <a:off x="8551413" y="7554966"/>
              <a:ext cx="1808768" cy="7946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Glove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8DB3077-33D5-83B9-09FC-0F5E1554B083}"/>
                </a:ext>
              </a:extLst>
            </p:cNvPr>
            <p:cNvSpPr/>
            <p:nvPr/>
          </p:nvSpPr>
          <p:spPr>
            <a:xfrm>
              <a:off x="11373028" y="7558865"/>
              <a:ext cx="1901482" cy="79469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7" dirty="0"/>
                <a:t>EMNLP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3B9CCB1-9ADA-2508-29F9-4A4116BAA6A7}"/>
                </a:ext>
              </a:extLst>
            </p:cNvPr>
            <p:cNvCxnSpPr>
              <a:cxnSpLocks/>
              <a:stCxn id="69" idx="6"/>
              <a:endCxn id="70" idx="2"/>
            </p:cNvCxnSpPr>
            <p:nvPr/>
          </p:nvCxnSpPr>
          <p:spPr>
            <a:xfrm flipV="1">
              <a:off x="7736956" y="7952314"/>
              <a:ext cx="814457" cy="43459"/>
            </a:xfrm>
            <a:prstGeom prst="straightConnector1">
              <a:avLst/>
            </a:prstGeom>
            <a:ln w="127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1843C73-4123-A731-D4DE-8A8A73AFE382}"/>
                </a:ext>
              </a:extLst>
            </p:cNvPr>
            <p:cNvCxnSpPr>
              <a:cxnSpLocks/>
              <a:stCxn id="70" idx="6"/>
              <a:endCxn id="71" idx="2"/>
            </p:cNvCxnSpPr>
            <p:nvPr/>
          </p:nvCxnSpPr>
          <p:spPr>
            <a:xfrm>
              <a:off x="10360181" y="7952313"/>
              <a:ext cx="1012846" cy="3898"/>
            </a:xfrm>
            <a:prstGeom prst="straightConnector1">
              <a:avLst/>
            </a:prstGeom>
            <a:ln w="12700">
              <a:solidFill>
                <a:schemeClr val="accent6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C09E649-70AC-263C-087B-AA0663B1E613}"/>
                </a:ext>
              </a:extLst>
            </p:cNvPr>
            <p:cNvSpPr txBox="1"/>
            <p:nvPr/>
          </p:nvSpPr>
          <p:spPr>
            <a:xfrm>
              <a:off x="7596706" y="8186614"/>
              <a:ext cx="1088118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writes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EA44BE1-9412-0D4F-E4BF-9EF7B0AA5CEF}"/>
                </a:ext>
              </a:extLst>
            </p:cNvPr>
            <p:cNvSpPr txBox="1"/>
            <p:nvPr/>
          </p:nvSpPr>
          <p:spPr>
            <a:xfrm>
              <a:off x="10016549" y="8175027"/>
              <a:ext cx="1989519" cy="524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7" dirty="0"/>
                <a:t>published at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E943F11-0E9E-9E73-8DDC-561606B14032}"/>
                </a:ext>
              </a:extLst>
            </p:cNvPr>
            <p:cNvCxnSpPr>
              <a:cxnSpLocks/>
              <a:stCxn id="69" idx="0"/>
              <a:endCxn id="36" idx="2"/>
            </p:cNvCxnSpPr>
            <p:nvPr/>
          </p:nvCxnSpPr>
          <p:spPr>
            <a:xfrm flipV="1">
              <a:off x="6571003" y="6965819"/>
              <a:ext cx="2927" cy="585248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DBC7F73-22B4-E9F1-9F00-38CEB90D5AF3}"/>
                </a:ext>
              </a:extLst>
            </p:cNvPr>
            <p:cNvCxnSpPr>
              <a:cxnSpLocks/>
              <a:stCxn id="70" idx="0"/>
              <a:endCxn id="37" idx="2"/>
            </p:cNvCxnSpPr>
            <p:nvPr/>
          </p:nvCxnSpPr>
          <p:spPr>
            <a:xfrm flipV="1">
              <a:off x="9455797" y="6969716"/>
              <a:ext cx="16424" cy="585250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2C58FEC8-F9D7-0741-96F9-CCE92E85180D}"/>
                </a:ext>
              </a:extLst>
            </p:cNvPr>
            <p:cNvCxnSpPr>
              <a:cxnSpLocks/>
              <a:stCxn id="71" idx="0"/>
              <a:endCxn id="38" idx="2"/>
            </p:cNvCxnSpPr>
            <p:nvPr/>
          </p:nvCxnSpPr>
          <p:spPr>
            <a:xfrm flipH="1" flipV="1">
              <a:off x="12323768" y="6973614"/>
              <a:ext cx="2" cy="585250"/>
            </a:xfrm>
            <a:prstGeom prst="straightConnector1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4960337" y="4710533"/>
            <a:ext cx="426778" cy="48616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14168323" y="3925743"/>
            <a:ext cx="548969" cy="51896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1306959" y="569326"/>
            <a:ext cx="16396395" cy="1465006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RetinaQA</a:t>
            </a:r>
            <a:endParaRPr lang="en-US" dirty="0"/>
          </a:p>
          <a:p>
            <a:r>
              <a:rPr lang="en-US" sz="4500" dirty="0">
                <a:solidFill>
                  <a:schemeClr val="accent2">
                    <a:lumMod val="50000"/>
                  </a:schemeClr>
                </a:solidFill>
              </a:rPr>
              <a:t>[Faldu et al., ACL 2024]</a:t>
            </a:r>
            <a:endParaRPr lang="en-IN" sz="4500" dirty="0"/>
          </a:p>
        </p:txBody>
      </p:sp>
      <p:sp>
        <p:nvSpPr>
          <p:cNvPr id="51" name="Rectangle: Rounded Corners 31">
            <a:extLst>
              <a:ext uri="{FF2B5EF4-FFF2-40B4-BE49-F238E27FC236}">
                <a16:creationId xmlns:a16="http://schemas.microsoft.com/office/drawing/2014/main" id="{3ACF69DD-1D2F-0EF4-0326-E1312A02C025}"/>
              </a:ext>
            </a:extLst>
          </p:cNvPr>
          <p:cNvSpPr/>
          <p:nvPr/>
        </p:nvSpPr>
        <p:spPr>
          <a:xfrm>
            <a:off x="10482147" y="2660950"/>
            <a:ext cx="8275368" cy="123106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28806E-CC21-7C6A-8D38-4DEA4A175BAC}"/>
              </a:ext>
            </a:extLst>
          </p:cNvPr>
          <p:cNvSpPr txBox="1"/>
          <p:nvPr/>
        </p:nvSpPr>
        <p:spPr>
          <a:xfrm>
            <a:off x="10604619" y="2684648"/>
            <a:ext cx="8280669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>
                <a:solidFill>
                  <a:srgbClr val="3333FF"/>
                </a:solidFill>
              </a:rPr>
              <a:t>[type] </a:t>
            </a:r>
            <a:r>
              <a:rPr lang="en-US" sz="3200" dirty="0">
                <a:solidFill>
                  <a:srgbClr val="252423"/>
                </a:solidFill>
              </a:rPr>
              <a:t>(And (Join </a:t>
            </a:r>
            <a:r>
              <a:rPr lang="en-US" sz="3200" dirty="0">
                <a:solidFill>
                  <a:srgbClr val="3333FF"/>
                </a:solidFill>
              </a:rPr>
              <a:t>[relation] [entity]</a:t>
            </a:r>
            <a:r>
              <a:rPr lang="en-US" sz="3200" dirty="0">
                <a:solidFill>
                  <a:srgbClr val="252423"/>
                </a:solidFill>
              </a:rPr>
              <a:t>)          (Join </a:t>
            </a:r>
            <a:r>
              <a:rPr lang="en-US" sz="3200" dirty="0">
                <a:solidFill>
                  <a:srgbClr val="3333FF"/>
                </a:solidFill>
              </a:rPr>
              <a:t>[relation] [entity]</a:t>
            </a:r>
            <a:r>
              <a:rPr lang="en-US" sz="3200" dirty="0">
                <a:solidFill>
                  <a:srgbClr val="252423"/>
                </a:solidFill>
              </a:rPr>
              <a:t>)))</a:t>
            </a:r>
            <a:endParaRPr lang="en-IN" sz="3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ED862D-3DD5-17FD-58C3-5396098C6EBE}"/>
              </a:ext>
            </a:extLst>
          </p:cNvPr>
          <p:cNvSpPr txBox="1"/>
          <p:nvPr/>
        </p:nvSpPr>
        <p:spPr>
          <a:xfrm>
            <a:off x="10482147" y="2002254"/>
            <a:ext cx="79271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Sketch Generation (SLM)</a:t>
            </a:r>
            <a:endParaRPr lang="en-US" sz="1600" b="1" dirty="0">
              <a:solidFill>
                <a:srgbClr val="3333FF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9433148" y="5994772"/>
            <a:ext cx="967054" cy="60007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321580" y="9595172"/>
            <a:ext cx="2323955" cy="844155"/>
            <a:chOff x="944734" y="6077220"/>
            <a:chExt cx="1490436" cy="701097"/>
          </a:xfrm>
        </p:grpSpPr>
        <p:sp>
          <p:nvSpPr>
            <p:cNvPr id="48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71178" y="6150289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54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14240331" y="894274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55" name="Rectangle: Rounded Corners 31">
            <a:extLst>
              <a:ext uri="{FF2B5EF4-FFF2-40B4-BE49-F238E27FC236}">
                <a16:creationId xmlns:a16="http://schemas.microsoft.com/office/drawing/2014/main" id="{3ACF69DD-1D2F-0EF4-0326-E1312A02C025}"/>
              </a:ext>
            </a:extLst>
          </p:cNvPr>
          <p:cNvSpPr/>
          <p:nvPr/>
        </p:nvSpPr>
        <p:spPr>
          <a:xfrm>
            <a:off x="10482147" y="7716037"/>
            <a:ext cx="8275368" cy="123106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28806E-CC21-7C6A-8D38-4DEA4A175BAC}"/>
              </a:ext>
            </a:extLst>
          </p:cNvPr>
          <p:cNvSpPr txBox="1"/>
          <p:nvPr/>
        </p:nvSpPr>
        <p:spPr>
          <a:xfrm>
            <a:off x="10604619" y="7797874"/>
            <a:ext cx="8280669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/>
              <a:t>Paper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252423"/>
                </a:solidFill>
              </a:rPr>
              <a:t>(And (Join published at EMNLP)          (Join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Manning)))</a:t>
            </a:r>
            <a:endParaRPr lang="en-IN" sz="3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ED862D-3DD5-17FD-58C3-5396098C6EBE}"/>
              </a:ext>
            </a:extLst>
          </p:cNvPr>
          <p:cNvSpPr txBox="1"/>
          <p:nvPr/>
        </p:nvSpPr>
        <p:spPr>
          <a:xfrm>
            <a:off x="10482147" y="7138189"/>
            <a:ext cx="79271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rgbClr val="3333FF"/>
                </a:solidFill>
                <a:cs typeface="Calibri"/>
              </a:rPr>
              <a:t>Reranking</a:t>
            </a:r>
            <a:endParaRPr lang="en-US" sz="1600" b="1" dirty="0">
              <a:solidFill>
                <a:srgbClr val="3333FF"/>
              </a:solidFill>
            </a:endParaRPr>
          </a:p>
        </p:txBody>
      </p:sp>
      <p:sp>
        <p:nvSpPr>
          <p:cNvPr id="60" name="Right Arrow 59"/>
          <p:cNvSpPr/>
          <p:nvPr/>
        </p:nvSpPr>
        <p:spPr>
          <a:xfrm>
            <a:off x="9793188" y="3042444"/>
            <a:ext cx="667136" cy="4992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31">
            <a:extLst>
              <a:ext uri="{FF2B5EF4-FFF2-40B4-BE49-F238E27FC236}">
                <a16:creationId xmlns:a16="http://schemas.microsoft.com/office/drawing/2014/main" id="{3ACF69DD-1D2F-0EF4-0326-E1312A02C025}"/>
              </a:ext>
            </a:extLst>
          </p:cNvPr>
          <p:cNvSpPr/>
          <p:nvPr/>
        </p:nvSpPr>
        <p:spPr>
          <a:xfrm>
            <a:off x="10441260" y="4801212"/>
            <a:ext cx="8275368" cy="227047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28806E-CC21-7C6A-8D38-4DEA4A175BAC}"/>
              </a:ext>
            </a:extLst>
          </p:cNvPr>
          <p:cNvSpPr txBox="1"/>
          <p:nvPr/>
        </p:nvSpPr>
        <p:spPr>
          <a:xfrm>
            <a:off x="10563732" y="4858901"/>
            <a:ext cx="8280669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/>
              <a:t>Paper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252423"/>
                </a:solidFill>
              </a:rPr>
              <a:t>(And (Join published at EMNLP))          (Join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Manning)))</a:t>
            </a:r>
          </a:p>
          <a:p>
            <a:endParaRPr lang="en-US" sz="1000" dirty="0">
              <a:solidFill>
                <a:srgbClr val="252423"/>
              </a:solidFill>
            </a:endParaRPr>
          </a:p>
          <a:p>
            <a:r>
              <a:rPr lang="en-US" sz="3200" dirty="0">
                <a:solidFill>
                  <a:srgbClr val="252423"/>
                </a:solidFill>
              </a:rPr>
              <a:t>(And </a:t>
            </a:r>
            <a:r>
              <a:rPr lang="en-US" sz="3200" dirty="0"/>
              <a:t>Paper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252423"/>
                </a:solidFill>
              </a:rPr>
              <a:t>(And (Join published at EMNLP)          (Join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G. Neville-Manning)))</a:t>
            </a:r>
            <a:endParaRPr lang="en-IN" sz="3200" b="1" dirty="0"/>
          </a:p>
        </p:txBody>
      </p:sp>
      <p:sp>
        <p:nvSpPr>
          <p:cNvPr id="63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14212771" y="7047472"/>
            <a:ext cx="504521" cy="60348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ED862D-3DD5-17FD-58C3-5396098C6EBE}"/>
              </a:ext>
            </a:extLst>
          </p:cNvPr>
          <p:cNvSpPr txBox="1"/>
          <p:nvPr/>
        </p:nvSpPr>
        <p:spPr>
          <a:xfrm>
            <a:off x="10582293" y="4248515"/>
            <a:ext cx="79271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LF Integration + Generation</a:t>
            </a:r>
            <a:endParaRPr lang="en-US" sz="1600" b="1" dirty="0">
              <a:solidFill>
                <a:srgbClr val="3333FF"/>
              </a:solidFill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9" y="3114452"/>
            <a:ext cx="900895" cy="726058"/>
          </a:xfrm>
          <a:prstGeom prst="rect">
            <a:avLst/>
          </a:prstGeom>
        </p:spPr>
      </p:pic>
      <p:sp>
        <p:nvSpPr>
          <p:cNvPr id="47" name="Rectangle: Rounded Corners 10">
            <a:extLst>
              <a:ext uri="{FF2B5EF4-FFF2-40B4-BE49-F238E27FC236}">
                <a16:creationId xmlns:a16="http://schemas.microsoft.com/office/drawing/2014/main" id="{AEFA9BAF-33E7-A2D8-CDDD-AFE845FB008B}"/>
              </a:ext>
            </a:extLst>
          </p:cNvPr>
          <p:cNvSpPr/>
          <p:nvPr/>
        </p:nvSpPr>
        <p:spPr>
          <a:xfrm>
            <a:off x="356279" y="5654004"/>
            <a:ext cx="9076869" cy="342992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: Rounded Corners 15">
            <a:extLst>
              <a:ext uri="{FF2B5EF4-FFF2-40B4-BE49-F238E27FC236}">
                <a16:creationId xmlns:a16="http://schemas.microsoft.com/office/drawing/2014/main" id="{989C3526-9CFA-317F-61A7-92C34535A4AD}"/>
              </a:ext>
            </a:extLst>
          </p:cNvPr>
          <p:cNvSpPr/>
          <p:nvPr/>
        </p:nvSpPr>
        <p:spPr>
          <a:xfrm>
            <a:off x="2110077" y="5805212"/>
            <a:ext cx="5746722" cy="7896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dirty="0">
                <a:solidFill>
                  <a:srgbClr val="3333FF"/>
                </a:solidFill>
              </a:rPr>
              <a:t>Entities: </a:t>
            </a:r>
            <a:r>
              <a:rPr lang="en-IN" sz="3200" dirty="0">
                <a:solidFill>
                  <a:schemeClr val="tx1"/>
                </a:solidFill>
              </a:rPr>
              <a:t>EMNLP, C. Manning</a:t>
            </a:r>
            <a:endParaRPr lang="en-IN" sz="32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65" name="Rectangle: Rounded Corners 19">
            <a:extLst>
              <a:ext uri="{FF2B5EF4-FFF2-40B4-BE49-F238E27FC236}">
                <a16:creationId xmlns:a16="http://schemas.microsoft.com/office/drawing/2014/main" id="{9A39048A-1B74-DAC1-3CAD-4860DD2E815D}"/>
              </a:ext>
            </a:extLst>
          </p:cNvPr>
          <p:cNvSpPr/>
          <p:nvPr/>
        </p:nvSpPr>
        <p:spPr>
          <a:xfrm>
            <a:off x="669761" y="7778222"/>
            <a:ext cx="8479400" cy="102462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sz="3200" b="1" dirty="0">
              <a:solidFill>
                <a:srgbClr val="FF0000"/>
              </a:solidFill>
            </a:endParaRPr>
          </a:p>
          <a:p>
            <a:pPr algn="ctr"/>
            <a:r>
              <a:rPr lang="en-IN" sz="3200" dirty="0">
                <a:solidFill>
                  <a:srgbClr val="3333FF"/>
                </a:solidFill>
              </a:rPr>
              <a:t>Paths: </a:t>
            </a:r>
            <a:r>
              <a:rPr lang="en-IN" sz="3200" dirty="0">
                <a:solidFill>
                  <a:schemeClr val="tx1"/>
                </a:solidFill>
              </a:rPr>
              <a:t>(Papers </a:t>
            </a:r>
            <a:r>
              <a:rPr lang="en-US" sz="3200" dirty="0">
                <a:solidFill>
                  <a:srgbClr val="252423"/>
                </a:solidFill>
              </a:rPr>
              <a:t>published at EMNLP), </a:t>
            </a:r>
            <a:endParaRPr lang="en-US" sz="1400" dirty="0">
              <a:solidFill>
                <a:srgbClr val="FFFFFF"/>
              </a:solidFill>
            </a:endParaRPr>
          </a:p>
          <a:p>
            <a:pPr algn="ctr"/>
            <a:r>
              <a:rPr lang="en-IN" sz="3200" dirty="0">
                <a:solidFill>
                  <a:schemeClr val="tx1"/>
                </a:solidFill>
              </a:rPr>
              <a:t>(Papers</a:t>
            </a:r>
            <a:r>
              <a:rPr lang="en-US" sz="3200" dirty="0">
                <a:solidFill>
                  <a:srgbClr val="252423"/>
                </a:solidFill>
              </a:rPr>
              <a:t> writes</a:t>
            </a:r>
            <a:r>
              <a:rPr lang="en-US" sz="3200" baseline="30000" dirty="0">
                <a:solidFill>
                  <a:srgbClr val="252423"/>
                </a:solidFill>
              </a:rPr>
              <a:t>-1</a:t>
            </a:r>
            <a:r>
              <a:rPr lang="en-US" sz="3200" dirty="0">
                <a:solidFill>
                  <a:srgbClr val="252423"/>
                </a:solidFill>
              </a:rPr>
              <a:t> C. Manning))</a:t>
            </a:r>
            <a:endParaRPr lang="en-US" sz="1400" dirty="0">
              <a:cs typeface="Calibri"/>
            </a:endParaRPr>
          </a:p>
          <a:p>
            <a:pPr algn="ctr"/>
            <a:endParaRPr lang="en-US" sz="3200" dirty="0">
              <a:solidFill>
                <a:srgbClr val="252423"/>
              </a:solidFill>
              <a:cs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3DF208-BB10-6477-915E-C2CA16AE7DE3}"/>
              </a:ext>
            </a:extLst>
          </p:cNvPr>
          <p:cNvSpPr txBox="1"/>
          <p:nvPr/>
        </p:nvSpPr>
        <p:spPr>
          <a:xfrm>
            <a:off x="1070738" y="5058668"/>
            <a:ext cx="74840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3333FF"/>
                </a:solidFill>
                <a:cs typeface="Calibri"/>
              </a:rPr>
              <a:t>Entity Linking, Retrieval, Path Enumeration</a:t>
            </a:r>
          </a:p>
        </p:txBody>
      </p:sp>
      <p:sp>
        <p:nvSpPr>
          <p:cNvPr id="67" name="Rectangle: Rounded Corners 15">
            <a:extLst>
              <a:ext uri="{FF2B5EF4-FFF2-40B4-BE49-F238E27FC236}">
                <a16:creationId xmlns:a16="http://schemas.microsoft.com/office/drawing/2014/main" id="{989C3526-9CFA-317F-61A7-92C34535A4AD}"/>
              </a:ext>
            </a:extLst>
          </p:cNvPr>
          <p:cNvSpPr/>
          <p:nvPr/>
        </p:nvSpPr>
        <p:spPr>
          <a:xfrm>
            <a:off x="1706469" y="6773052"/>
            <a:ext cx="6552728" cy="78963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dirty="0">
                <a:solidFill>
                  <a:srgbClr val="3333FF"/>
                </a:solidFill>
              </a:rPr>
              <a:t>Schema: </a:t>
            </a:r>
            <a:r>
              <a:rPr lang="en-IN" sz="3200" dirty="0">
                <a:solidFill>
                  <a:schemeClr val="tx1"/>
                </a:solidFill>
              </a:rPr>
              <a:t>Paper, writes, published at 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30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  <p:bldP spid="51" grpId="0" animBg="1"/>
      <p:bldP spid="52" grpId="0"/>
      <p:bldP spid="53" grpId="0"/>
      <p:bldP spid="4" grpId="0" animBg="1"/>
      <p:bldP spid="54" grpId="0" animBg="1"/>
      <p:bldP spid="55" grpId="0" animBg="1"/>
      <p:bldP spid="57" grpId="0"/>
      <p:bldP spid="59" grpId="0"/>
      <p:bldP spid="60" grpId="0" animBg="1"/>
      <p:bldP spid="61" grpId="0" animBg="1"/>
      <p:bldP spid="62" grpId="0"/>
      <p:bldP spid="63" grpId="0" animBg="1"/>
      <p:bldP spid="64" grpId="0"/>
      <p:bldP spid="47" grpId="0" animBg="1"/>
      <p:bldP spid="58" grpId="0" animBg="1"/>
      <p:bldP spid="65" grpId="0" animBg="1"/>
      <p:bldP spid="66" grpId="0"/>
      <p:bldP spid="6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Experiments: </a:t>
            </a:r>
            <a:r>
              <a:rPr lang="en-US" dirty="0" err="1"/>
              <a:t>RetinaQA</a:t>
            </a:r>
            <a:br>
              <a:rPr lang="en-US" dirty="0"/>
            </a:br>
            <a:r>
              <a:rPr lang="en-US" sz="4900" dirty="0">
                <a:solidFill>
                  <a:schemeClr val="accent2">
                    <a:lumMod val="50000"/>
                  </a:schemeClr>
                </a:solidFill>
              </a:rPr>
              <a:t>[Faldu et al., ACL 2024]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921707"/>
              </p:ext>
            </p:extLst>
          </p:nvPr>
        </p:nvGraphicFramePr>
        <p:xfrm>
          <a:off x="1321868" y="3618508"/>
          <a:ext cx="1639728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49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Train</a:t>
                      </a:r>
                      <a:endParaRPr lang="en-IN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Model</a:t>
                      </a:r>
                      <a:endParaRPr lang="en-IN" sz="4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Overall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Answerable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Unanswerable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4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A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TIARA+T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71.6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55.2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74.1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70.6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66.7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24.1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RETINA+T</a:t>
                      </a:r>
                      <a:endParaRPr lang="en-IN" sz="3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82.1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73.7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81.2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75.0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84.2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71.2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A+U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TIARA+T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76.9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66.9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69.9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67.0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91.2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66.7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RETINA+T</a:t>
                      </a:r>
                      <a:endParaRPr lang="en-IN" sz="3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82.7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77.5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77.9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75.2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92.4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82.1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Google Shape;376;p40"/>
          <p:cNvSpPr/>
          <p:nvPr/>
        </p:nvSpPr>
        <p:spPr>
          <a:xfrm>
            <a:off x="16201900" y="5130676"/>
            <a:ext cx="936104" cy="504056"/>
          </a:xfrm>
          <a:prstGeom prst="rect">
            <a:avLst/>
          </a:prstGeom>
          <a:noFill/>
          <a:ln w="635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  <p:sp>
        <p:nvSpPr>
          <p:cNvPr id="14" name="Google Shape;376;p40"/>
          <p:cNvSpPr/>
          <p:nvPr/>
        </p:nvSpPr>
        <p:spPr>
          <a:xfrm>
            <a:off x="16201900" y="5778748"/>
            <a:ext cx="936104" cy="576064"/>
          </a:xfrm>
          <a:prstGeom prst="rect">
            <a:avLst/>
          </a:prstGeom>
          <a:noFill/>
          <a:ln w="635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  <p:sp>
        <p:nvSpPr>
          <p:cNvPr id="15" name="Google Shape;376;p40"/>
          <p:cNvSpPr/>
          <p:nvPr/>
        </p:nvSpPr>
        <p:spPr>
          <a:xfrm>
            <a:off x="16201900" y="6498828"/>
            <a:ext cx="936104" cy="576064"/>
          </a:xfrm>
          <a:prstGeom prst="rect">
            <a:avLst/>
          </a:prstGeom>
          <a:noFill/>
          <a:ln w="635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  <p:sp>
        <p:nvSpPr>
          <p:cNvPr id="16" name="Google Shape;376;p40"/>
          <p:cNvSpPr/>
          <p:nvPr/>
        </p:nvSpPr>
        <p:spPr>
          <a:xfrm>
            <a:off x="16201900" y="7146900"/>
            <a:ext cx="936104" cy="576064"/>
          </a:xfrm>
          <a:prstGeom prst="rect">
            <a:avLst/>
          </a:prstGeom>
          <a:noFill/>
          <a:ln w="635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25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TakeAways</a:t>
            </a:r>
            <a:r>
              <a:rPr lang="en-US" dirty="0"/>
              <a:t>: SLMs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7703354" cy="7237115"/>
          </a:xfrm>
        </p:spPr>
        <p:txBody>
          <a:bodyPr/>
          <a:lstStyle/>
          <a:p>
            <a:r>
              <a:rPr lang="en-US" dirty="0">
                <a:solidFill>
                  <a:srgbClr val="3333FF"/>
                </a:solidFill>
              </a:rPr>
              <a:t>Different model architectures have complementary strengths</a:t>
            </a:r>
          </a:p>
          <a:p>
            <a:pPr lvl="1"/>
            <a:r>
              <a:rPr lang="en-US" dirty="0"/>
              <a:t>KB data retrieval for generation makes model susceptible to missing info</a:t>
            </a:r>
          </a:p>
          <a:p>
            <a:pPr lvl="2"/>
            <a:r>
              <a:rPr lang="en-US" dirty="0"/>
              <a:t>but performs better on answerable queries</a:t>
            </a:r>
          </a:p>
          <a:p>
            <a:pPr lvl="1"/>
            <a:r>
              <a:rPr lang="en-US" dirty="0"/>
              <a:t>Sketch based approaches handle unanswerable questions more gracefully</a:t>
            </a:r>
          </a:p>
          <a:p>
            <a:pPr lvl="2"/>
            <a:r>
              <a:rPr lang="en-US" dirty="0"/>
              <a:t>but performance can be weaker on answerable queries</a:t>
            </a:r>
          </a:p>
          <a:p>
            <a:pPr lvl="1"/>
            <a:r>
              <a:rPr lang="en-US" dirty="0"/>
              <a:t>generation systems have weaker calibration than discriminators</a:t>
            </a:r>
          </a:p>
          <a:p>
            <a:pPr marL="712866" lvl="1" indent="0">
              <a:buNone/>
            </a:pPr>
            <a:endParaRPr lang="en-US" dirty="0"/>
          </a:p>
          <a:p>
            <a:r>
              <a:rPr lang="en-US" dirty="0">
                <a:solidFill>
                  <a:srgbClr val="3333FF"/>
                </a:solidFill>
              </a:rPr>
              <a:t>Robust KBQA necessitates a unified architecture </a:t>
            </a:r>
          </a:p>
          <a:p>
            <a:pPr lvl="1"/>
            <a:r>
              <a:rPr lang="en-US" dirty="0"/>
              <a:t>to gracefully handle both answerable and unanswerable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8822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2" y="6140742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284163"/>
              </p:ext>
            </p:extLst>
          </p:nvPr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chemeClr val="tx1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3" name="Right Arrow 2"/>
          <p:cNvSpPr/>
          <p:nvPr/>
        </p:nvSpPr>
        <p:spPr>
          <a:xfrm>
            <a:off x="9073108" y="5418708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13321580" y="5418708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868" y="6586939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Arrow 11"/>
          <p:cNvSpPr/>
          <p:nvPr/>
        </p:nvSpPr>
        <p:spPr>
          <a:xfrm>
            <a:off x="11706763" y="2165410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768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657" y="3762524"/>
            <a:ext cx="16396395" cy="3240360"/>
          </a:xfrm>
        </p:spPr>
        <p:txBody>
          <a:bodyPr>
            <a:normAutofit/>
          </a:bodyPr>
          <a:lstStyle/>
          <a:p>
            <a:r>
              <a:rPr lang="en-US" dirty="0"/>
              <a:t>When would LLMs be superior to specialized SLMs?</a:t>
            </a:r>
            <a:br>
              <a:rPr lang="en-US" dirty="0"/>
            </a:br>
            <a:r>
              <a:rPr lang="en-US" dirty="0"/>
              <a:t>	and how?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557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KBQA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/>
              <a:t>(And Paper (And (Join writes</a:t>
            </a:r>
            <a:r>
              <a:rPr lang="en-US" sz="3742" baseline="30000" dirty="0"/>
              <a:t>-1</a:t>
            </a:r>
            <a:r>
              <a:rPr lang="en-US" sz="3742" dirty="0"/>
              <a:t> C. Manning) (Join </a:t>
            </a:r>
            <a:r>
              <a:rPr lang="en-US" sz="3742" dirty="0" err="1"/>
              <a:t>published_at</a:t>
            </a:r>
            <a:r>
              <a:rPr lang="en-US" sz="3742" dirty="0"/>
              <a:t> EMNLP)))</a:t>
            </a:r>
            <a:endParaRPr lang="en-IN" sz="3742" b="1" dirty="0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19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0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93A097-066F-DA2C-AEBD-8A919A30F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82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KBQA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>
                <a:solidFill>
                  <a:srgbClr val="3333FF"/>
                </a:solidFill>
              </a:rPr>
              <a:t>(And </a:t>
            </a:r>
            <a:r>
              <a:rPr lang="en-US" sz="3742" dirty="0">
                <a:solidFill>
                  <a:srgbClr val="FF0000"/>
                </a:solidFill>
              </a:rPr>
              <a:t>Paper</a:t>
            </a:r>
            <a:r>
              <a:rPr lang="en-US" sz="3742" dirty="0">
                <a:solidFill>
                  <a:srgbClr val="3333FF"/>
                </a:solidFill>
              </a:rPr>
              <a:t> (And (Join </a:t>
            </a:r>
            <a:r>
              <a:rPr lang="en-US" sz="3742" dirty="0">
                <a:solidFill>
                  <a:srgbClr val="FF0000"/>
                </a:solidFill>
              </a:rPr>
              <a:t>writes</a:t>
            </a:r>
            <a:r>
              <a:rPr lang="en-US" sz="3742" baseline="30000" dirty="0">
                <a:solidFill>
                  <a:srgbClr val="FF0000"/>
                </a:solidFill>
              </a:rPr>
              <a:t>-1</a:t>
            </a:r>
            <a:r>
              <a:rPr lang="en-US" sz="3742" dirty="0">
                <a:solidFill>
                  <a:srgbClr val="FF0000"/>
                </a:solidFill>
              </a:rPr>
              <a:t> C. Manning</a:t>
            </a:r>
            <a:r>
              <a:rPr lang="en-US" sz="3742" dirty="0">
                <a:solidFill>
                  <a:srgbClr val="3333FF"/>
                </a:solidFill>
              </a:rPr>
              <a:t>) (Join </a:t>
            </a:r>
            <a:r>
              <a:rPr lang="en-US" sz="3742" dirty="0" err="1">
                <a:solidFill>
                  <a:srgbClr val="FF0000"/>
                </a:solidFill>
              </a:rPr>
              <a:t>published_at</a:t>
            </a:r>
            <a:r>
              <a:rPr lang="en-US" sz="3742" dirty="0">
                <a:solidFill>
                  <a:srgbClr val="FF0000"/>
                </a:solidFill>
              </a:rPr>
              <a:t> EMNLP</a:t>
            </a:r>
            <a:r>
              <a:rPr lang="en-US" sz="3742" dirty="0">
                <a:solidFill>
                  <a:srgbClr val="3333FF"/>
                </a:solidFill>
              </a:rPr>
              <a:t>)))</a:t>
            </a:r>
            <a:endParaRPr lang="en-IN" sz="3742" b="1" dirty="0">
              <a:solidFill>
                <a:srgbClr val="3333FF"/>
              </a:solidFill>
            </a:endParaRPr>
          </a:p>
        </p:txBody>
      </p:sp>
      <p:sp>
        <p:nvSpPr>
          <p:cNvPr id="32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3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4185676" y="5133335"/>
            <a:ext cx="44096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*language specific</a:t>
            </a:r>
          </a:p>
          <a:p>
            <a:r>
              <a:rPr lang="en-US" sz="4000" dirty="0">
                <a:solidFill>
                  <a:srgbClr val="3333FF"/>
                </a:solidFill>
              </a:rPr>
              <a:t>	- LLM likely knows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285716" y="7213375"/>
            <a:ext cx="469301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*KB specific</a:t>
            </a:r>
          </a:p>
          <a:p>
            <a:r>
              <a:rPr lang="en-US" sz="4000" dirty="0">
                <a:solidFill>
                  <a:srgbClr val="FF0000"/>
                </a:solidFill>
              </a:rPr>
              <a:t>	- LLM won’t know</a:t>
            </a:r>
          </a:p>
          <a:p>
            <a:r>
              <a:rPr lang="en-US" sz="4000" dirty="0">
                <a:solidFill>
                  <a:srgbClr val="FF0000"/>
                </a:solidFill>
              </a:rPr>
              <a:t>    - use traditional ML</a:t>
            </a:r>
            <a:endParaRPr lang="en-IN" sz="40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C43036-CE9C-0AA0-6746-C6005D6DF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3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KBQA (In-Context Learning)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/>
              <a:t>(And Paper (And (Join writes</a:t>
            </a:r>
            <a:r>
              <a:rPr lang="en-US" sz="3742" baseline="30000" dirty="0"/>
              <a:t>-1</a:t>
            </a:r>
            <a:r>
              <a:rPr lang="en-US" sz="3742" dirty="0"/>
              <a:t> C. Manning) (Join </a:t>
            </a:r>
            <a:r>
              <a:rPr lang="en-US" sz="3742" dirty="0" err="1"/>
              <a:t>published_at</a:t>
            </a:r>
            <a:r>
              <a:rPr lang="en-US" sz="3742" dirty="0"/>
              <a:t> EMNLP)))</a:t>
            </a:r>
            <a:endParaRPr lang="en-IN" sz="3742" b="1" dirty="0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19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12622850" y="3745902"/>
            <a:ext cx="5235234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13028070" y="4105282"/>
            <a:ext cx="4424793" cy="66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>
                <a:solidFill>
                  <a:srgbClr val="3333FF"/>
                </a:solidFill>
              </a:rPr>
              <a:t>Few-shot exemplars</a:t>
            </a:r>
          </a:p>
        </p:txBody>
      </p:sp>
      <p:sp>
        <p:nvSpPr>
          <p:cNvPr id="21" name="Right Arrow 20"/>
          <p:cNvSpPr/>
          <p:nvPr/>
        </p:nvSpPr>
        <p:spPr>
          <a:xfrm flipH="1">
            <a:off x="6779071" y="4169151"/>
            <a:ext cx="5843777" cy="60432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/>
          <p:cNvSpPr/>
          <p:nvPr/>
        </p:nvSpPr>
        <p:spPr>
          <a:xfrm rot="16200000" flipH="1" flipV="1">
            <a:off x="14257431" y="2144517"/>
            <a:ext cx="1262564" cy="1906294"/>
          </a:xfrm>
          <a:prstGeom prst="bentArrow">
            <a:avLst>
              <a:gd name="adj1" fmla="val 17499"/>
              <a:gd name="adj2" fmla="val 18749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824636" y="8515052"/>
            <a:ext cx="138622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/>
            <a:r>
              <a:rPr lang="en-GB" sz="3600" b="1" dirty="0">
                <a:solidFill>
                  <a:srgbClr val="3333FF"/>
                </a:solidFill>
                <a:cs typeface="Calibri"/>
              </a:rPr>
              <a:t>Observation: </a:t>
            </a:r>
            <a:r>
              <a:rPr lang="en-GB" sz="3600" dirty="0">
                <a:solidFill>
                  <a:srgbClr val="3333FF"/>
                </a:solidFill>
                <a:cs typeface="Calibri"/>
              </a:rPr>
              <a:t>LLM hallucinates; </a:t>
            </a:r>
            <a:r>
              <a:rPr lang="en-US" sz="3600" dirty="0">
                <a:solidFill>
                  <a:srgbClr val="3333FF"/>
                </a:solidFill>
                <a:cs typeface="Calibri"/>
              </a:rPr>
              <a:t>struggles on questions with diverse functions, multi-hop questions and choosing right relations.</a:t>
            </a: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15B49A-7945-2E6C-A35F-9598F966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KBQA (Supervised Retriever Augmentation)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/>
              <a:t>(And Paper (And (Join writes</a:t>
            </a:r>
            <a:r>
              <a:rPr lang="en-US" sz="3742" baseline="30000" dirty="0"/>
              <a:t>-1</a:t>
            </a:r>
            <a:r>
              <a:rPr lang="en-US" sz="3742" dirty="0"/>
              <a:t> C. Manning) (Join </a:t>
            </a:r>
            <a:r>
              <a:rPr lang="en-US" sz="3742" dirty="0" err="1"/>
              <a:t>published_at</a:t>
            </a:r>
            <a:r>
              <a:rPr lang="en-US" sz="3742" dirty="0"/>
              <a:t> EMNLP)))</a:t>
            </a:r>
            <a:endParaRPr lang="en-IN" sz="3742" b="1" dirty="0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1" name="Right Arrow 20"/>
          <p:cNvSpPr/>
          <p:nvPr/>
        </p:nvSpPr>
        <p:spPr>
          <a:xfrm flipH="1">
            <a:off x="6779070" y="4260881"/>
            <a:ext cx="6240980" cy="50975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/>
          <p:cNvSpPr/>
          <p:nvPr/>
        </p:nvSpPr>
        <p:spPr>
          <a:xfrm rot="16200000" flipH="1" flipV="1">
            <a:off x="14344440" y="2057508"/>
            <a:ext cx="1088545" cy="1906294"/>
          </a:xfrm>
          <a:prstGeom prst="bentArrow">
            <a:avLst>
              <a:gd name="adj1" fmla="val 17499"/>
              <a:gd name="adj2" fmla="val 21488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20580" y="8515052"/>
            <a:ext cx="143663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/>
            <a:r>
              <a:rPr lang="en-GB" sz="3600" b="1" dirty="0">
                <a:solidFill>
                  <a:srgbClr val="3333FF"/>
                </a:solidFill>
                <a:cs typeface="Calibri"/>
              </a:rPr>
              <a:t>Observation: </a:t>
            </a:r>
            <a:r>
              <a:rPr lang="en-US" sz="3600" dirty="0">
                <a:solidFill>
                  <a:srgbClr val="3333FF"/>
                </a:solidFill>
                <a:cs typeface="Calibri"/>
              </a:rPr>
              <a:t> Hallucination largely reduced when retrieval is correct. However retrieval models work poorly without sufficient training data </a:t>
            </a: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2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13020051" y="3554927"/>
            <a:ext cx="5235234" cy="18637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13218651" y="3510798"/>
            <a:ext cx="5235234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>
                <a:solidFill>
                  <a:srgbClr val="3333FF"/>
                </a:solidFill>
              </a:rPr>
              <a:t>Sup. ML output for entity linking, </a:t>
            </a:r>
            <a:r>
              <a:rPr lang="en-IN" sz="3742" dirty="0" err="1">
                <a:solidFill>
                  <a:srgbClr val="3333FF"/>
                </a:solidFill>
              </a:rPr>
              <a:t>rel</a:t>
            </a:r>
            <a:r>
              <a:rPr lang="en-IN" sz="3742" dirty="0">
                <a:solidFill>
                  <a:srgbClr val="3333FF"/>
                </a:solidFill>
              </a:rPr>
              <a:t>/path retrieval</a:t>
            </a:r>
          </a:p>
          <a:p>
            <a:r>
              <a:rPr lang="en-IN" sz="3742" dirty="0"/>
              <a:t>+ Few-shot exemplars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10C00-F73B-90D3-511F-8831D138F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0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3D1CC5-5E0E-2527-7159-C89FC275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802" y="4024739"/>
            <a:ext cx="1154554" cy="10339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/>
              <a:t>(And Paper (And (Join writes</a:t>
            </a:r>
            <a:r>
              <a:rPr lang="en-US" sz="3742" baseline="30000" dirty="0"/>
              <a:t>-1</a:t>
            </a:r>
            <a:r>
              <a:rPr lang="en-US" sz="3742" dirty="0"/>
              <a:t> C. Manning) (Join </a:t>
            </a:r>
            <a:r>
              <a:rPr lang="en-US" sz="3742" dirty="0" err="1"/>
              <a:t>published_at</a:t>
            </a:r>
            <a:r>
              <a:rPr lang="en-US" sz="3742" dirty="0"/>
              <a:t> EMNLP)))</a:t>
            </a:r>
            <a:endParaRPr lang="en-IN" sz="3742" b="1" dirty="0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1" name="Right Arrow 20"/>
          <p:cNvSpPr/>
          <p:nvPr/>
        </p:nvSpPr>
        <p:spPr>
          <a:xfrm flipH="1">
            <a:off x="6779070" y="4260881"/>
            <a:ext cx="3291930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/>
          <p:cNvSpPr/>
          <p:nvPr/>
        </p:nvSpPr>
        <p:spPr>
          <a:xfrm rot="16200000" flipH="1" flipV="1">
            <a:off x="14344440" y="2057508"/>
            <a:ext cx="1088545" cy="1906294"/>
          </a:xfrm>
          <a:prstGeom prst="bentArrow">
            <a:avLst>
              <a:gd name="adj1" fmla="val 17499"/>
              <a:gd name="adj2" fmla="val 21488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2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13020051" y="3554927"/>
            <a:ext cx="5235234" cy="18637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13218651" y="3510798"/>
            <a:ext cx="5235234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>
                <a:solidFill>
                  <a:srgbClr val="3333FF"/>
                </a:solidFill>
              </a:rPr>
              <a:t>Sup. ML output for entity linking, </a:t>
            </a:r>
            <a:r>
              <a:rPr lang="en-IN" sz="3742" dirty="0" err="1">
                <a:solidFill>
                  <a:srgbClr val="3333FF"/>
                </a:solidFill>
              </a:rPr>
              <a:t>rel</a:t>
            </a:r>
            <a:r>
              <a:rPr lang="en-IN" sz="3742" dirty="0">
                <a:solidFill>
                  <a:srgbClr val="3333FF"/>
                </a:solidFill>
              </a:rPr>
              <a:t>/path retrieval</a:t>
            </a:r>
          </a:p>
          <a:p>
            <a:r>
              <a:rPr lang="en-IN" sz="3742" dirty="0">
                <a:solidFill>
                  <a:srgbClr val="3333FF"/>
                </a:solidFill>
              </a:rPr>
              <a:t>+ Few-shot exemplars</a:t>
            </a:r>
          </a:p>
        </p:txBody>
      </p:sp>
      <p:sp>
        <p:nvSpPr>
          <p:cNvPr id="37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10460922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9" name="Right Arrow 38"/>
          <p:cNvSpPr/>
          <p:nvPr/>
        </p:nvSpPr>
        <p:spPr>
          <a:xfrm flipH="1">
            <a:off x="11377363" y="4260881"/>
            <a:ext cx="1642684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6670677" y="3690516"/>
            <a:ext cx="4502656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>
                <a:solidFill>
                  <a:srgbClr val="3333FF"/>
                </a:solidFill>
              </a:rPr>
              <a:t>Retrieval </a:t>
            </a:r>
            <a:r>
              <a:rPr lang="en-IN" sz="3742" dirty="0" err="1">
                <a:solidFill>
                  <a:srgbClr val="3333FF"/>
                </a:solidFill>
              </a:rPr>
              <a:t>reranking</a:t>
            </a:r>
            <a:endParaRPr lang="en-IN" sz="3742" dirty="0">
              <a:solidFill>
                <a:srgbClr val="3333FF"/>
              </a:solidFill>
            </a:endParaRPr>
          </a:p>
          <a:p>
            <a:endParaRPr lang="en-IN" sz="1000" dirty="0">
              <a:solidFill>
                <a:srgbClr val="3333FF"/>
              </a:solidFill>
            </a:endParaRPr>
          </a:p>
          <a:p>
            <a:r>
              <a:rPr lang="en-IN" sz="3742" dirty="0">
                <a:solidFill>
                  <a:srgbClr val="3333FF"/>
                </a:solidFill>
              </a:rPr>
              <a:t> and </a:t>
            </a:r>
            <a:r>
              <a:rPr lang="en-IN" sz="3742" dirty="0" err="1">
                <a:solidFill>
                  <a:srgbClr val="3333FF"/>
                </a:solidFill>
              </a:rPr>
              <a:t>subselection</a:t>
            </a:r>
            <a:endParaRPr lang="en-IN" sz="3742" dirty="0">
              <a:solidFill>
                <a:srgbClr val="3333FF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95077" y="666180"/>
            <a:ext cx="181097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C00000"/>
                </a:solidFill>
                <a:latin typeface="Calibri Light" panose="020F0302020204030204"/>
              </a:rPr>
              <a:t>Fused Supervised &amp; In-Context Learning for KBQA (</a:t>
            </a:r>
            <a:r>
              <a:rPr lang="en-US" sz="5400" b="1" dirty="0" err="1">
                <a:solidFill>
                  <a:srgbClr val="C00000"/>
                </a:solidFill>
                <a:latin typeface="Calibri Light" panose="020F0302020204030204"/>
              </a:rPr>
              <a:t>FuSIC</a:t>
            </a:r>
            <a:r>
              <a:rPr lang="en-US" sz="5400" b="1" dirty="0">
                <a:solidFill>
                  <a:srgbClr val="C00000"/>
                </a:solidFill>
                <a:latin typeface="Calibri Light" panose="020F0302020204030204"/>
              </a:rPr>
              <a:t>-KBQA)</a:t>
            </a:r>
            <a:endParaRPr lang="en-IN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A79208-ECA8-A4C0-FC94-6BA24F514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164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084" y="569326"/>
            <a:ext cx="16396395" cy="1465006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In-domain Results</a:t>
            </a:r>
            <a:br>
              <a:rPr lang="en-US" dirty="0">
                <a:ea typeface="+mj-lt"/>
                <a:cs typeface="+mj-lt"/>
              </a:rPr>
            </a:br>
            <a:r>
              <a:rPr lang="en-US" sz="4400" dirty="0">
                <a:solidFill>
                  <a:srgbClr val="ED7D31">
                    <a:lumMod val="50000"/>
                  </a:srgbClr>
                </a:solidFill>
              </a:rPr>
              <a:t>[Patidar et al, ACL’24]</a:t>
            </a:r>
            <a:endParaRPr lang="en-US" b="0" dirty="0">
              <a:solidFill>
                <a:srgbClr val="000000"/>
              </a:solidFill>
              <a:ea typeface="+mj-lt"/>
              <a:cs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A74E04-C59D-3FC1-472B-881BB67A3844}"/>
              </a:ext>
            </a:extLst>
          </p:cNvPr>
          <p:cNvGraphicFramePr>
            <a:graphicFrameLocks noGrp="1"/>
          </p:cNvGraphicFramePr>
          <p:nvPr/>
        </p:nvGraphicFramePr>
        <p:xfrm>
          <a:off x="6696844" y="522164"/>
          <a:ext cx="11025087" cy="8535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3246">
                  <a:extLst>
                    <a:ext uri="{9D8B030D-6E8A-4147-A177-3AD203B41FA5}">
                      <a16:colId xmlns:a16="http://schemas.microsoft.com/office/drawing/2014/main" val="283276570"/>
                    </a:ext>
                  </a:extLst>
                </a:gridCol>
                <a:gridCol w="4413246">
                  <a:extLst>
                    <a:ext uri="{9D8B030D-6E8A-4147-A177-3AD203B41FA5}">
                      <a16:colId xmlns:a16="http://schemas.microsoft.com/office/drawing/2014/main" val="246637032"/>
                    </a:ext>
                  </a:extLst>
                </a:gridCol>
                <a:gridCol w="2198595">
                  <a:extLst>
                    <a:ext uri="{9D8B030D-6E8A-4147-A177-3AD203B41FA5}">
                      <a16:colId xmlns:a16="http://schemas.microsoft.com/office/drawing/2014/main" val="1962539906"/>
                    </a:ext>
                  </a:extLst>
                </a:gridCol>
              </a:tblGrid>
              <a:tr h="8540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Train Data Size</a:t>
                      </a:r>
                      <a:endParaRPr lang="en-US" sz="36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/>
                        <a:t>F1</a:t>
                      </a:r>
                    </a:p>
                  </a:txBody>
                  <a:tcPr marL="0" marR="0" marT="0" marB="0" anchor="ctr" horzOverflow="overflow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1905471"/>
                  </a:ext>
                </a:extLst>
              </a:tr>
              <a:tr h="591292">
                <a:tc row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2217 (5%)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TIARA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64.8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00277"/>
                  </a:ext>
                </a:extLst>
              </a:tr>
              <a:tr h="613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Pangu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69.5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26973"/>
                  </a:ext>
                </a:extLst>
              </a:tr>
              <a:tr h="576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dirty="0" err="1"/>
                        <a:t>RetinaQA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62.4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3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FuSIC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-KBQA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74.5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61938"/>
                  </a:ext>
                </a:extLst>
              </a:tr>
              <a:tr h="576379">
                <a:tc row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4,434 (10%)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TIARA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67.2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2086"/>
                  </a:ext>
                </a:extLst>
              </a:tr>
              <a:tr h="5763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Pangu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72.4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123768"/>
                  </a:ext>
                </a:extLst>
              </a:tr>
              <a:tr h="57637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dirty="0" err="1"/>
                        <a:t>RetinaQA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dirty="0"/>
                        <a:t>68.3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3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FuSIC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-KBQA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75.6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959230"/>
                  </a:ext>
                </a:extLst>
              </a:tr>
              <a:tr h="576379">
                <a:tc row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44,337 (100%)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TIARA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82.6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500573"/>
                  </a:ext>
                </a:extLst>
              </a:tr>
              <a:tr h="5085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Pangu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83.5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235011"/>
                  </a:ext>
                </a:extLst>
              </a:tr>
              <a:tr h="50851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dirty="0" err="1"/>
                        <a:t>RetinaQA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84.7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3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FuSIC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-KBQA</a:t>
                      </a:r>
                      <a:endParaRPr lang="en-US" sz="36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83.6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99105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240460" y="9523164"/>
            <a:ext cx="12961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/>
            <a:r>
              <a:rPr lang="en-US" sz="3600" dirty="0">
                <a:solidFill>
                  <a:srgbClr val="C00000"/>
                </a:solidFill>
                <a:cs typeface="Calibri"/>
              </a:rPr>
              <a:t>Summary: LLMs + Supervised ML effective in low data settings.</a:t>
            </a:r>
          </a:p>
        </p:txBody>
      </p:sp>
    </p:spTree>
    <p:extLst>
      <p:ext uri="{BB962C8B-B14F-4D97-AF65-F5344CB8AC3E}">
        <p14:creationId xmlns:p14="http://schemas.microsoft.com/office/powerpoint/2010/main" val="231605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902F-E51B-20EB-2E7C-B02A27C4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Few-shot Transfer Learning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5F0EAF-6F13-FF05-0CCD-98B039D6A639}"/>
              </a:ext>
            </a:extLst>
          </p:cNvPr>
          <p:cNvGrpSpPr/>
          <p:nvPr/>
        </p:nvGrpSpPr>
        <p:grpSpPr>
          <a:xfrm>
            <a:off x="1617365" y="1962324"/>
            <a:ext cx="2232248" cy="1872208"/>
            <a:chOff x="3707565" y="2458387"/>
            <a:chExt cx="1060550" cy="106929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4BA3FA3-63A5-DF99-6D24-2ECDBB5B147A}"/>
                </a:ext>
              </a:extLst>
            </p:cNvPr>
            <p:cNvSpPr/>
            <p:nvPr/>
          </p:nvSpPr>
          <p:spPr>
            <a:xfrm>
              <a:off x="4002374" y="2458387"/>
              <a:ext cx="329783" cy="34477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AB41D20-8E65-8809-163D-C69890A7E2BF}"/>
                </a:ext>
              </a:extLst>
            </p:cNvPr>
            <p:cNvSpPr/>
            <p:nvPr/>
          </p:nvSpPr>
          <p:spPr>
            <a:xfrm>
              <a:off x="4438332" y="2833141"/>
              <a:ext cx="329783" cy="34477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5729E11-953E-8A4A-273D-B56365E15FBC}"/>
                </a:ext>
              </a:extLst>
            </p:cNvPr>
            <p:cNvSpPr/>
            <p:nvPr/>
          </p:nvSpPr>
          <p:spPr>
            <a:xfrm>
              <a:off x="3707565" y="2838137"/>
              <a:ext cx="329783" cy="3447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C13A88-3DB1-4722-A4D1-234C4EF044A5}"/>
                </a:ext>
              </a:extLst>
            </p:cNvPr>
            <p:cNvSpPr/>
            <p:nvPr/>
          </p:nvSpPr>
          <p:spPr>
            <a:xfrm>
              <a:off x="4097311" y="3182911"/>
              <a:ext cx="329783" cy="344774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0772846-5F8D-C505-943D-CF1008D9F4C8}"/>
                </a:ext>
              </a:extLst>
            </p:cNvPr>
            <p:cNvCxnSpPr>
              <a:cxnSpLocks/>
              <a:stCxn id="4" idx="3"/>
              <a:endCxn id="6" idx="7"/>
            </p:cNvCxnSpPr>
            <p:nvPr/>
          </p:nvCxnSpPr>
          <p:spPr>
            <a:xfrm flipH="1">
              <a:off x="3989052" y="2752670"/>
              <a:ext cx="61618" cy="135958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10E0A4-072D-D9FD-2B25-A5998E121AEF}"/>
                </a:ext>
              </a:extLst>
            </p:cNvPr>
            <p:cNvCxnSpPr>
              <a:cxnSpLocks/>
              <a:stCxn id="7" idx="1"/>
              <a:endCxn id="6" idx="5"/>
            </p:cNvCxnSpPr>
            <p:nvPr/>
          </p:nvCxnSpPr>
          <p:spPr>
            <a:xfrm flipH="1" flipV="1">
              <a:off x="3989052" y="3132420"/>
              <a:ext cx="156555" cy="100982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D6355C8-7AAC-EB32-643C-EB8C809BB507}"/>
                </a:ext>
              </a:extLst>
            </p:cNvPr>
            <p:cNvCxnSpPr>
              <a:cxnSpLocks/>
              <a:stCxn id="7" idx="0"/>
              <a:endCxn id="4" idx="4"/>
            </p:cNvCxnSpPr>
            <p:nvPr/>
          </p:nvCxnSpPr>
          <p:spPr>
            <a:xfrm flipH="1" flipV="1">
              <a:off x="4167266" y="2803161"/>
              <a:ext cx="94937" cy="379750"/>
            </a:xfrm>
            <a:prstGeom prst="line">
              <a:avLst/>
            </a:prstGeom>
            <a:ln w="508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DA1FFBA-1096-7814-9301-45C495ADEC13}"/>
                </a:ext>
              </a:extLst>
            </p:cNvPr>
            <p:cNvCxnSpPr>
              <a:cxnSpLocks/>
              <a:stCxn id="7" idx="7"/>
              <a:endCxn id="5" idx="3"/>
            </p:cNvCxnSpPr>
            <p:nvPr/>
          </p:nvCxnSpPr>
          <p:spPr>
            <a:xfrm flipV="1">
              <a:off x="4378798" y="3127424"/>
              <a:ext cx="107830" cy="105978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C829593-DE57-F0EB-E5C6-0A02EA4637E9}"/>
                </a:ext>
              </a:extLst>
            </p:cNvPr>
            <p:cNvCxnSpPr>
              <a:cxnSpLocks/>
              <a:stCxn id="5" idx="2"/>
              <a:endCxn id="6" idx="6"/>
            </p:cNvCxnSpPr>
            <p:nvPr/>
          </p:nvCxnSpPr>
          <p:spPr>
            <a:xfrm flipH="1">
              <a:off x="4037348" y="3005528"/>
              <a:ext cx="400984" cy="4996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DA82A45-B016-2251-C0B6-F0BEA16322A9}"/>
              </a:ext>
            </a:extLst>
          </p:cNvPr>
          <p:cNvSpPr txBox="1"/>
          <p:nvPr/>
        </p:nvSpPr>
        <p:spPr>
          <a:xfrm>
            <a:off x="1185317" y="4180924"/>
            <a:ext cx="3384376" cy="661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700" dirty="0"/>
              <a:t>New (target) KB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71C50-CC27-C18A-1687-58805FFC0FDF}"/>
              </a:ext>
            </a:extLst>
          </p:cNvPr>
          <p:cNvSpPr txBox="1"/>
          <p:nvPr/>
        </p:nvSpPr>
        <p:spPr>
          <a:xfrm>
            <a:off x="5037539" y="6166371"/>
            <a:ext cx="12850513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dirty="0">
                <a:solidFill>
                  <a:srgbClr val="3333FF"/>
                </a:solidFill>
              </a:rPr>
              <a:t>What papers has Chris Manning written?, </a:t>
            </a:r>
            <a:r>
              <a:rPr lang="en-US" sz="2800" i="1" dirty="0">
                <a:solidFill>
                  <a:srgbClr val="252423"/>
                </a:solidFill>
              </a:rPr>
              <a:t>(And </a:t>
            </a:r>
            <a:r>
              <a:rPr lang="en-US" sz="2800" i="1" dirty="0"/>
              <a:t>Paper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252423"/>
                </a:solidFill>
              </a:rPr>
              <a:t>(And Join R writes C. Manning))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  <a:endParaRPr lang="en-IN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33711-828B-1872-514C-51CCED9557E7}"/>
              </a:ext>
            </a:extLst>
          </p:cNvPr>
          <p:cNvSpPr txBox="1"/>
          <p:nvPr/>
        </p:nvSpPr>
        <p:spPr>
          <a:xfrm>
            <a:off x="7897610" y="4136361"/>
            <a:ext cx="9106097" cy="12311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700" dirty="0"/>
              <a:t>Small number (e.g. tens) of labelled questions from target domain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D1CF086-84AD-AC31-396D-4EAE60A39841}"/>
              </a:ext>
            </a:extLst>
          </p:cNvPr>
          <p:cNvSpPr/>
          <p:nvPr/>
        </p:nvSpPr>
        <p:spPr>
          <a:xfrm>
            <a:off x="4873926" y="2140781"/>
            <a:ext cx="12850512" cy="169375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9B3864-83F3-9296-FA27-326BA72F8FEA}"/>
              </a:ext>
            </a:extLst>
          </p:cNvPr>
          <p:cNvSpPr/>
          <p:nvPr/>
        </p:nvSpPr>
        <p:spPr>
          <a:xfrm>
            <a:off x="1821729" y="8703781"/>
            <a:ext cx="16396395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914400" lvl="1"/>
            <a:r>
              <a:rPr lang="en-GB" sz="4000" dirty="0">
                <a:solidFill>
                  <a:srgbClr val="3333FF"/>
                </a:solidFill>
                <a:cs typeface="Calibri"/>
              </a:rPr>
              <a:t>Source and target may have different domains, different relations and types, different distributions of questions and logical forms…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DE40B3-2439-B063-ACF8-9959C02E4460}"/>
              </a:ext>
            </a:extLst>
          </p:cNvPr>
          <p:cNvGrpSpPr/>
          <p:nvPr/>
        </p:nvGrpSpPr>
        <p:grpSpPr>
          <a:xfrm>
            <a:off x="1584276" y="5778748"/>
            <a:ext cx="2232248" cy="1872208"/>
            <a:chOff x="3707565" y="2458387"/>
            <a:chExt cx="1060550" cy="106929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48F53C4-9CCA-C697-7179-F2A9630E2D5A}"/>
                </a:ext>
              </a:extLst>
            </p:cNvPr>
            <p:cNvSpPr/>
            <p:nvPr/>
          </p:nvSpPr>
          <p:spPr>
            <a:xfrm>
              <a:off x="4002374" y="2458387"/>
              <a:ext cx="329783" cy="34477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16653C4-C8C8-2D16-283F-473411747AE0}"/>
                </a:ext>
              </a:extLst>
            </p:cNvPr>
            <p:cNvSpPr/>
            <p:nvPr/>
          </p:nvSpPr>
          <p:spPr>
            <a:xfrm>
              <a:off x="4438332" y="2833141"/>
              <a:ext cx="329783" cy="34477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C7962FF-1619-2A8E-38CE-9585ABEB7A36}"/>
                </a:ext>
              </a:extLst>
            </p:cNvPr>
            <p:cNvSpPr/>
            <p:nvPr/>
          </p:nvSpPr>
          <p:spPr>
            <a:xfrm>
              <a:off x="3707565" y="2838137"/>
              <a:ext cx="329783" cy="34477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E29353-60B0-44B3-3692-DCE31E90617B}"/>
                </a:ext>
              </a:extLst>
            </p:cNvPr>
            <p:cNvSpPr/>
            <p:nvPr/>
          </p:nvSpPr>
          <p:spPr>
            <a:xfrm>
              <a:off x="4097311" y="3182911"/>
              <a:ext cx="329783" cy="34477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EA4B86-0237-FBB5-FC68-FCCBCF88127D}"/>
                </a:ext>
              </a:extLst>
            </p:cNvPr>
            <p:cNvCxnSpPr>
              <a:cxnSpLocks/>
              <a:stCxn id="14" idx="3"/>
              <a:endCxn id="17" idx="7"/>
            </p:cNvCxnSpPr>
            <p:nvPr/>
          </p:nvCxnSpPr>
          <p:spPr>
            <a:xfrm flipH="1">
              <a:off x="3989052" y="2752670"/>
              <a:ext cx="61618" cy="135958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6FCBD95-A9D5-176F-C57E-D46861650250}"/>
                </a:ext>
              </a:extLst>
            </p:cNvPr>
            <p:cNvCxnSpPr>
              <a:cxnSpLocks/>
              <a:stCxn id="18" idx="1"/>
              <a:endCxn id="17" idx="5"/>
            </p:cNvCxnSpPr>
            <p:nvPr/>
          </p:nvCxnSpPr>
          <p:spPr>
            <a:xfrm flipH="1" flipV="1">
              <a:off x="3989052" y="3132420"/>
              <a:ext cx="156555" cy="100982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E739499-F67A-1485-06C8-76A885CE93FD}"/>
                </a:ext>
              </a:extLst>
            </p:cNvPr>
            <p:cNvCxnSpPr>
              <a:cxnSpLocks/>
              <a:stCxn id="18" idx="0"/>
              <a:endCxn id="14" idx="4"/>
            </p:cNvCxnSpPr>
            <p:nvPr/>
          </p:nvCxnSpPr>
          <p:spPr>
            <a:xfrm flipH="1" flipV="1">
              <a:off x="4167266" y="2803161"/>
              <a:ext cx="94937" cy="379750"/>
            </a:xfrm>
            <a:prstGeom prst="line">
              <a:avLst/>
            </a:prstGeom>
            <a:ln w="508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2E3AF7-C41C-454C-3444-FCF35FD8AB4C}"/>
                </a:ext>
              </a:extLst>
            </p:cNvPr>
            <p:cNvCxnSpPr>
              <a:cxnSpLocks/>
              <a:stCxn id="18" idx="7"/>
              <a:endCxn id="16" idx="3"/>
            </p:cNvCxnSpPr>
            <p:nvPr/>
          </p:nvCxnSpPr>
          <p:spPr>
            <a:xfrm flipV="1">
              <a:off x="4378798" y="3127424"/>
              <a:ext cx="107830" cy="105978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AF7318-7866-5B2C-B071-64FB26C9D596}"/>
                </a:ext>
              </a:extLst>
            </p:cNvPr>
            <p:cNvCxnSpPr>
              <a:cxnSpLocks/>
              <a:stCxn id="16" idx="2"/>
              <a:endCxn id="17" idx="6"/>
            </p:cNvCxnSpPr>
            <p:nvPr/>
          </p:nvCxnSpPr>
          <p:spPr>
            <a:xfrm flipH="1">
              <a:off x="4037348" y="3005528"/>
              <a:ext cx="400984" cy="4996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2685D6C-0462-E433-CAB4-D6F6D6B26F10}"/>
              </a:ext>
            </a:extLst>
          </p:cNvPr>
          <p:cNvSpPr txBox="1"/>
          <p:nvPr/>
        </p:nvSpPr>
        <p:spPr>
          <a:xfrm>
            <a:off x="1152228" y="7997348"/>
            <a:ext cx="4320480" cy="661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700" dirty="0"/>
              <a:t>Different (source) KB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D0F56-5246-2E73-CB4C-625E0D831131}"/>
              </a:ext>
            </a:extLst>
          </p:cNvPr>
          <p:cNvSpPr txBox="1"/>
          <p:nvPr/>
        </p:nvSpPr>
        <p:spPr>
          <a:xfrm>
            <a:off x="5170762" y="2205456"/>
            <a:ext cx="12850513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dirty="0">
                <a:solidFill>
                  <a:srgbClr val="3333FF"/>
                </a:solidFill>
              </a:rPr>
              <a:t>What medicines have Pfizer patented?, </a:t>
            </a:r>
            <a:r>
              <a:rPr lang="en-US" sz="2800" i="1" dirty="0">
                <a:solidFill>
                  <a:srgbClr val="252423"/>
                </a:solidFill>
              </a:rPr>
              <a:t>(And </a:t>
            </a:r>
            <a:r>
              <a:rPr lang="en-US" sz="2800" i="1" dirty="0"/>
              <a:t>Med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252423"/>
                </a:solidFill>
              </a:rPr>
              <a:t>(And Join R patents Pfizer))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  <a:endParaRPr lang="en-IN" sz="28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3F3EF-2F2B-BE87-16E1-2A8C40789520}"/>
              </a:ext>
            </a:extLst>
          </p:cNvPr>
          <p:cNvSpPr/>
          <p:nvPr/>
        </p:nvSpPr>
        <p:spPr>
          <a:xfrm>
            <a:off x="4840837" y="5957205"/>
            <a:ext cx="12850512" cy="169375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4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25" grpId="0" animBg="1"/>
      <p:bldP spid="26" grpId="0"/>
      <p:bldP spid="29" grpId="0"/>
      <p:bldP spid="3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902F-E51B-20EB-2E7C-B02A27C4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Few-shot Transfer Learning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5F0EAF-6F13-FF05-0CCD-98B039D6A639}"/>
              </a:ext>
            </a:extLst>
          </p:cNvPr>
          <p:cNvGrpSpPr/>
          <p:nvPr/>
        </p:nvGrpSpPr>
        <p:grpSpPr>
          <a:xfrm>
            <a:off x="1617365" y="1962324"/>
            <a:ext cx="2232248" cy="1872208"/>
            <a:chOff x="3707565" y="2458387"/>
            <a:chExt cx="1060550" cy="106929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4BA3FA3-63A5-DF99-6D24-2ECDBB5B147A}"/>
                </a:ext>
              </a:extLst>
            </p:cNvPr>
            <p:cNvSpPr/>
            <p:nvPr/>
          </p:nvSpPr>
          <p:spPr>
            <a:xfrm>
              <a:off x="4002374" y="2458387"/>
              <a:ext cx="329783" cy="34477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AB41D20-8E65-8809-163D-C69890A7E2BF}"/>
                </a:ext>
              </a:extLst>
            </p:cNvPr>
            <p:cNvSpPr/>
            <p:nvPr/>
          </p:nvSpPr>
          <p:spPr>
            <a:xfrm>
              <a:off x="4438332" y="2833141"/>
              <a:ext cx="329783" cy="34477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5729E11-953E-8A4A-273D-B56365E15FBC}"/>
                </a:ext>
              </a:extLst>
            </p:cNvPr>
            <p:cNvSpPr/>
            <p:nvPr/>
          </p:nvSpPr>
          <p:spPr>
            <a:xfrm>
              <a:off x="3707565" y="2838137"/>
              <a:ext cx="329783" cy="3447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C13A88-3DB1-4722-A4D1-234C4EF044A5}"/>
                </a:ext>
              </a:extLst>
            </p:cNvPr>
            <p:cNvSpPr/>
            <p:nvPr/>
          </p:nvSpPr>
          <p:spPr>
            <a:xfrm>
              <a:off x="4097311" y="3182911"/>
              <a:ext cx="329783" cy="344774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0772846-5F8D-C505-943D-CF1008D9F4C8}"/>
                </a:ext>
              </a:extLst>
            </p:cNvPr>
            <p:cNvCxnSpPr>
              <a:cxnSpLocks/>
              <a:stCxn id="4" idx="3"/>
              <a:endCxn id="6" idx="7"/>
            </p:cNvCxnSpPr>
            <p:nvPr/>
          </p:nvCxnSpPr>
          <p:spPr>
            <a:xfrm flipH="1">
              <a:off x="3989052" y="2752670"/>
              <a:ext cx="61618" cy="135958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10E0A4-072D-D9FD-2B25-A5998E121AEF}"/>
                </a:ext>
              </a:extLst>
            </p:cNvPr>
            <p:cNvCxnSpPr>
              <a:cxnSpLocks/>
              <a:stCxn id="7" idx="1"/>
              <a:endCxn id="6" idx="5"/>
            </p:cNvCxnSpPr>
            <p:nvPr/>
          </p:nvCxnSpPr>
          <p:spPr>
            <a:xfrm flipH="1" flipV="1">
              <a:off x="3989052" y="3132420"/>
              <a:ext cx="156555" cy="100982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D6355C8-7AAC-EB32-643C-EB8C809BB507}"/>
                </a:ext>
              </a:extLst>
            </p:cNvPr>
            <p:cNvCxnSpPr>
              <a:cxnSpLocks/>
              <a:stCxn id="7" idx="0"/>
              <a:endCxn id="4" idx="4"/>
            </p:cNvCxnSpPr>
            <p:nvPr/>
          </p:nvCxnSpPr>
          <p:spPr>
            <a:xfrm flipH="1" flipV="1">
              <a:off x="4167266" y="2803161"/>
              <a:ext cx="94937" cy="379750"/>
            </a:xfrm>
            <a:prstGeom prst="line">
              <a:avLst/>
            </a:prstGeom>
            <a:ln w="508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DA1FFBA-1096-7814-9301-45C495ADEC13}"/>
                </a:ext>
              </a:extLst>
            </p:cNvPr>
            <p:cNvCxnSpPr>
              <a:cxnSpLocks/>
              <a:stCxn id="7" idx="7"/>
              <a:endCxn id="5" idx="3"/>
            </p:cNvCxnSpPr>
            <p:nvPr/>
          </p:nvCxnSpPr>
          <p:spPr>
            <a:xfrm flipV="1">
              <a:off x="4378798" y="3127424"/>
              <a:ext cx="107830" cy="105978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C829593-DE57-F0EB-E5C6-0A02EA4637E9}"/>
                </a:ext>
              </a:extLst>
            </p:cNvPr>
            <p:cNvCxnSpPr>
              <a:cxnSpLocks/>
              <a:stCxn id="5" idx="2"/>
              <a:endCxn id="6" idx="6"/>
            </p:cNvCxnSpPr>
            <p:nvPr/>
          </p:nvCxnSpPr>
          <p:spPr>
            <a:xfrm flipH="1">
              <a:off x="4037348" y="3005528"/>
              <a:ext cx="400984" cy="4996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DA82A45-B016-2251-C0B6-F0BEA16322A9}"/>
              </a:ext>
            </a:extLst>
          </p:cNvPr>
          <p:cNvSpPr txBox="1"/>
          <p:nvPr/>
        </p:nvSpPr>
        <p:spPr>
          <a:xfrm>
            <a:off x="1185317" y="4180924"/>
            <a:ext cx="3384376" cy="661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700" dirty="0"/>
              <a:t>New (target) KB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71C50-CC27-C18A-1687-58805FFC0FDF}"/>
              </a:ext>
            </a:extLst>
          </p:cNvPr>
          <p:cNvSpPr txBox="1"/>
          <p:nvPr/>
        </p:nvSpPr>
        <p:spPr>
          <a:xfrm>
            <a:off x="5073749" y="2178348"/>
            <a:ext cx="12850513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dirty="0"/>
              <a:t>What medicines have Pfizer patented?, </a:t>
            </a:r>
            <a:r>
              <a:rPr lang="en-US" sz="2800" i="1" dirty="0">
                <a:solidFill>
                  <a:srgbClr val="3333FF"/>
                </a:solidFill>
              </a:rPr>
              <a:t>(And</a:t>
            </a:r>
            <a:r>
              <a:rPr lang="en-US" sz="2800" i="1" dirty="0"/>
              <a:t> Med </a:t>
            </a:r>
            <a:r>
              <a:rPr lang="en-US" sz="2800" i="1" dirty="0">
                <a:solidFill>
                  <a:srgbClr val="3333FF"/>
                </a:solidFill>
              </a:rPr>
              <a:t>(And Join R </a:t>
            </a:r>
            <a:r>
              <a:rPr lang="en-US" sz="2800" i="1" dirty="0"/>
              <a:t>patents Pfizer</a:t>
            </a:r>
            <a:r>
              <a:rPr lang="en-US" sz="2800" i="1" dirty="0">
                <a:solidFill>
                  <a:srgbClr val="3333FF"/>
                </a:solidFill>
              </a:rPr>
              <a:t>))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  <a:endParaRPr lang="en-IN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33711-828B-1872-514C-51CCED9557E7}"/>
              </a:ext>
            </a:extLst>
          </p:cNvPr>
          <p:cNvSpPr txBox="1"/>
          <p:nvPr/>
        </p:nvSpPr>
        <p:spPr>
          <a:xfrm>
            <a:off x="7897610" y="4136361"/>
            <a:ext cx="9106097" cy="12311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700" dirty="0"/>
              <a:t>Small number (e.g. tens) of labelled questions from target domain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D1CF086-84AD-AC31-396D-4EAE60A39841}"/>
              </a:ext>
            </a:extLst>
          </p:cNvPr>
          <p:cNvSpPr/>
          <p:nvPr/>
        </p:nvSpPr>
        <p:spPr>
          <a:xfrm>
            <a:off x="4873926" y="2140781"/>
            <a:ext cx="12850512" cy="169375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9B3864-83F3-9296-FA27-326BA72F8FEA}"/>
              </a:ext>
            </a:extLst>
          </p:cNvPr>
          <p:cNvSpPr/>
          <p:nvPr/>
        </p:nvSpPr>
        <p:spPr>
          <a:xfrm>
            <a:off x="1821729" y="8703781"/>
            <a:ext cx="16396395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914400" lvl="1"/>
            <a:r>
              <a:rPr lang="en-GB" sz="4000" dirty="0">
                <a:cs typeface="Calibri"/>
              </a:rPr>
              <a:t>Source and target may have different domains, different relations and types, different distributions of questions and logical forms…</a:t>
            </a:r>
          </a:p>
          <a:p>
            <a:pPr marL="914400" lvl="1"/>
            <a:r>
              <a:rPr lang="en-GB" sz="4000" dirty="0">
                <a:solidFill>
                  <a:srgbClr val="3333FF"/>
                </a:solidFill>
                <a:cs typeface="Calibri"/>
              </a:rPr>
              <a:t>Still, they may have similar high-level structures</a:t>
            </a:r>
            <a:endParaRPr lang="en-US" sz="2000" dirty="0">
              <a:solidFill>
                <a:srgbClr val="3333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DE40B3-2439-B063-ACF8-9959C02E4460}"/>
              </a:ext>
            </a:extLst>
          </p:cNvPr>
          <p:cNvGrpSpPr/>
          <p:nvPr/>
        </p:nvGrpSpPr>
        <p:grpSpPr>
          <a:xfrm>
            <a:off x="1584276" y="5778748"/>
            <a:ext cx="2232248" cy="1872208"/>
            <a:chOff x="3707565" y="2458387"/>
            <a:chExt cx="1060550" cy="106929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48F53C4-9CCA-C697-7179-F2A9630E2D5A}"/>
                </a:ext>
              </a:extLst>
            </p:cNvPr>
            <p:cNvSpPr/>
            <p:nvPr/>
          </p:nvSpPr>
          <p:spPr>
            <a:xfrm>
              <a:off x="4002374" y="2458387"/>
              <a:ext cx="329783" cy="34477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16653C4-C8C8-2D16-283F-473411747AE0}"/>
                </a:ext>
              </a:extLst>
            </p:cNvPr>
            <p:cNvSpPr/>
            <p:nvPr/>
          </p:nvSpPr>
          <p:spPr>
            <a:xfrm>
              <a:off x="4438332" y="2833141"/>
              <a:ext cx="329783" cy="34477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C7962FF-1619-2A8E-38CE-9585ABEB7A36}"/>
                </a:ext>
              </a:extLst>
            </p:cNvPr>
            <p:cNvSpPr/>
            <p:nvPr/>
          </p:nvSpPr>
          <p:spPr>
            <a:xfrm>
              <a:off x="3707565" y="2838137"/>
              <a:ext cx="329783" cy="34477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E29353-60B0-44B3-3692-DCE31E90617B}"/>
                </a:ext>
              </a:extLst>
            </p:cNvPr>
            <p:cNvSpPr/>
            <p:nvPr/>
          </p:nvSpPr>
          <p:spPr>
            <a:xfrm>
              <a:off x="4097311" y="3182911"/>
              <a:ext cx="329783" cy="34477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EA4B86-0237-FBB5-FC68-FCCBCF88127D}"/>
                </a:ext>
              </a:extLst>
            </p:cNvPr>
            <p:cNvCxnSpPr>
              <a:cxnSpLocks/>
              <a:stCxn id="14" idx="3"/>
              <a:endCxn id="17" idx="7"/>
            </p:cNvCxnSpPr>
            <p:nvPr/>
          </p:nvCxnSpPr>
          <p:spPr>
            <a:xfrm flipH="1">
              <a:off x="3989052" y="2752670"/>
              <a:ext cx="61618" cy="135958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6FCBD95-A9D5-176F-C57E-D46861650250}"/>
                </a:ext>
              </a:extLst>
            </p:cNvPr>
            <p:cNvCxnSpPr>
              <a:cxnSpLocks/>
              <a:stCxn id="18" idx="1"/>
              <a:endCxn id="17" idx="5"/>
            </p:cNvCxnSpPr>
            <p:nvPr/>
          </p:nvCxnSpPr>
          <p:spPr>
            <a:xfrm flipH="1" flipV="1">
              <a:off x="3989052" y="3132420"/>
              <a:ext cx="156555" cy="100982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E739499-F67A-1485-06C8-76A885CE93FD}"/>
                </a:ext>
              </a:extLst>
            </p:cNvPr>
            <p:cNvCxnSpPr>
              <a:cxnSpLocks/>
              <a:stCxn id="18" idx="0"/>
              <a:endCxn id="14" idx="4"/>
            </p:cNvCxnSpPr>
            <p:nvPr/>
          </p:nvCxnSpPr>
          <p:spPr>
            <a:xfrm flipH="1" flipV="1">
              <a:off x="4167266" y="2803161"/>
              <a:ext cx="94937" cy="379750"/>
            </a:xfrm>
            <a:prstGeom prst="line">
              <a:avLst/>
            </a:prstGeom>
            <a:ln w="508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2E3AF7-C41C-454C-3444-FCF35FD8AB4C}"/>
                </a:ext>
              </a:extLst>
            </p:cNvPr>
            <p:cNvCxnSpPr>
              <a:cxnSpLocks/>
              <a:stCxn id="18" idx="7"/>
              <a:endCxn id="16" idx="3"/>
            </p:cNvCxnSpPr>
            <p:nvPr/>
          </p:nvCxnSpPr>
          <p:spPr>
            <a:xfrm flipV="1">
              <a:off x="4378798" y="3127424"/>
              <a:ext cx="107830" cy="105978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AF7318-7866-5B2C-B071-64FB26C9D596}"/>
                </a:ext>
              </a:extLst>
            </p:cNvPr>
            <p:cNvCxnSpPr>
              <a:cxnSpLocks/>
              <a:stCxn id="16" idx="2"/>
              <a:endCxn id="17" idx="6"/>
            </p:cNvCxnSpPr>
            <p:nvPr/>
          </p:nvCxnSpPr>
          <p:spPr>
            <a:xfrm flipH="1">
              <a:off x="4037348" y="3005528"/>
              <a:ext cx="400984" cy="4996"/>
            </a:xfrm>
            <a:prstGeom prst="line">
              <a:avLst/>
            </a:prstGeom>
            <a:ln w="508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2685D6C-0462-E433-CAB4-D6F6D6B26F10}"/>
              </a:ext>
            </a:extLst>
          </p:cNvPr>
          <p:cNvSpPr txBox="1"/>
          <p:nvPr/>
        </p:nvSpPr>
        <p:spPr>
          <a:xfrm>
            <a:off x="1152228" y="7997348"/>
            <a:ext cx="4320480" cy="661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700" dirty="0"/>
              <a:t>Different (source) KB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D0F56-5246-2E73-CB4C-625E0D831131}"/>
              </a:ext>
            </a:extLst>
          </p:cNvPr>
          <p:cNvSpPr txBox="1"/>
          <p:nvPr/>
        </p:nvSpPr>
        <p:spPr>
          <a:xfrm>
            <a:off x="5040660" y="5994772"/>
            <a:ext cx="12850513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dirty="0"/>
              <a:t>What papers has Chris Manning written?, </a:t>
            </a:r>
            <a:r>
              <a:rPr lang="en-US" sz="2800" i="1" dirty="0">
                <a:solidFill>
                  <a:srgbClr val="3333FF"/>
                </a:solidFill>
              </a:rPr>
              <a:t>(And </a:t>
            </a:r>
            <a:r>
              <a:rPr lang="en-US" sz="2800" i="1" dirty="0"/>
              <a:t>Paper </a:t>
            </a:r>
            <a:r>
              <a:rPr lang="en-US" sz="2800" i="1" dirty="0">
                <a:solidFill>
                  <a:srgbClr val="3333FF"/>
                </a:solidFill>
              </a:rPr>
              <a:t>(And Join R </a:t>
            </a:r>
            <a:r>
              <a:rPr lang="en-US" sz="2800" i="1" dirty="0"/>
              <a:t>writes C. Manning</a:t>
            </a:r>
            <a:r>
              <a:rPr lang="en-US" sz="2800" i="1" dirty="0">
                <a:solidFill>
                  <a:srgbClr val="3333FF"/>
                </a:solidFill>
              </a:rPr>
              <a:t>))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</a:p>
          <a:p>
            <a:r>
              <a:rPr lang="en-US" sz="2800" dirty="0">
                <a:solidFill>
                  <a:srgbClr val="252423"/>
                </a:solidFill>
              </a:rPr>
              <a:t>…, …</a:t>
            </a:r>
            <a:endParaRPr lang="en-IN" sz="28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3F3EF-2F2B-BE87-16E1-2A8C40789520}"/>
              </a:ext>
            </a:extLst>
          </p:cNvPr>
          <p:cNvSpPr/>
          <p:nvPr/>
        </p:nvSpPr>
        <p:spPr>
          <a:xfrm>
            <a:off x="4840837" y="5957205"/>
            <a:ext cx="12850512" cy="169375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6199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F56464-FAA1-AD14-A4B3-A9174FAB2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802" y="4024739"/>
            <a:ext cx="1154554" cy="10339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A63D8BB-053B-FA9B-1F38-442682547CF9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E999E15C-C3FA-3A4B-9549-5BBEEEB2005A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6A360-2ED2-0407-3638-54DB15FECDFC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/>
              <a:t>(And Paper (And (Join writes</a:t>
            </a:r>
            <a:r>
              <a:rPr lang="en-US" sz="3742" baseline="30000" dirty="0"/>
              <a:t>-1</a:t>
            </a:r>
            <a:r>
              <a:rPr lang="en-US" sz="3742" dirty="0"/>
              <a:t> C. Manning) (Join </a:t>
            </a:r>
            <a:r>
              <a:rPr lang="en-US" sz="3742" dirty="0" err="1"/>
              <a:t>published_at</a:t>
            </a:r>
            <a:r>
              <a:rPr lang="en-US" sz="3742" dirty="0"/>
              <a:t> EMNLP)))</a:t>
            </a:r>
            <a:endParaRPr lang="en-IN" sz="3742" b="1" dirty="0"/>
          </a:p>
        </p:txBody>
      </p:sp>
      <p:sp>
        <p:nvSpPr>
          <p:cNvPr id="35" name="Right Arrow 34"/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1F162CD1-85DB-397B-B32C-C195B683AB0D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837691-D9C9-213F-1C51-D3EF4F794B9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B7A85262-E1F5-BADE-612D-2405DC03E98F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08932C-572D-D0AA-98F4-142AB39EF518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1" name="Right Arrow 20"/>
          <p:cNvSpPr/>
          <p:nvPr/>
        </p:nvSpPr>
        <p:spPr>
          <a:xfrm flipH="1">
            <a:off x="6779070" y="4260881"/>
            <a:ext cx="3291930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/>
          <p:cNvSpPr/>
          <p:nvPr/>
        </p:nvSpPr>
        <p:spPr>
          <a:xfrm rot="16200000" flipH="1" flipV="1">
            <a:off x="14344440" y="2057508"/>
            <a:ext cx="1088545" cy="1906294"/>
          </a:xfrm>
          <a:prstGeom prst="bentArrow">
            <a:avLst>
              <a:gd name="adj1" fmla="val 17499"/>
              <a:gd name="adj2" fmla="val 21488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29B74AD1-3DCE-ECA1-4C8C-4A69572CF1E1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2" name="Rectangle: Rounded Corners 144">
            <a:extLst>
              <a:ext uri="{FF2B5EF4-FFF2-40B4-BE49-F238E27FC236}">
                <a16:creationId xmlns:a16="http://schemas.microsoft.com/office/drawing/2014/main" id="{20D9A958-D015-C08A-234C-62A65218B4B1}"/>
              </a:ext>
            </a:extLst>
          </p:cNvPr>
          <p:cNvSpPr/>
          <p:nvPr/>
        </p:nvSpPr>
        <p:spPr>
          <a:xfrm>
            <a:off x="13020051" y="3554927"/>
            <a:ext cx="5235234" cy="18637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13218651" y="3510798"/>
            <a:ext cx="5235234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Sup. ML output for entity linking, </a:t>
            </a:r>
            <a:r>
              <a:rPr lang="en-IN" sz="3742" dirty="0" err="1"/>
              <a:t>rel</a:t>
            </a:r>
            <a:r>
              <a:rPr lang="en-IN" sz="3742" dirty="0"/>
              <a:t>/path retrieval</a:t>
            </a:r>
          </a:p>
          <a:p>
            <a:r>
              <a:rPr lang="en-IN" sz="3742" dirty="0"/>
              <a:t>+ Few-shot exemplars</a:t>
            </a:r>
          </a:p>
        </p:txBody>
      </p:sp>
      <p:sp>
        <p:nvSpPr>
          <p:cNvPr id="37" name="Arrow: Down 153">
            <a:extLst>
              <a:ext uri="{FF2B5EF4-FFF2-40B4-BE49-F238E27FC236}">
                <a16:creationId xmlns:a16="http://schemas.microsoft.com/office/drawing/2014/main" id="{9AE3B893-B25D-D15B-8D00-EE6B25723171}"/>
              </a:ext>
            </a:extLst>
          </p:cNvPr>
          <p:cNvSpPr/>
          <p:nvPr/>
        </p:nvSpPr>
        <p:spPr>
          <a:xfrm>
            <a:off x="10460922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9" name="Right Arrow 38"/>
          <p:cNvSpPr/>
          <p:nvPr/>
        </p:nvSpPr>
        <p:spPr>
          <a:xfrm flipH="1">
            <a:off x="11377363" y="4260881"/>
            <a:ext cx="1642684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FDB7EA-BC71-C4AC-C79E-5FC85E8AABA9}"/>
              </a:ext>
            </a:extLst>
          </p:cNvPr>
          <p:cNvSpPr txBox="1"/>
          <p:nvPr/>
        </p:nvSpPr>
        <p:spPr>
          <a:xfrm>
            <a:off x="6670677" y="3690516"/>
            <a:ext cx="4502656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Retrieval </a:t>
            </a:r>
            <a:r>
              <a:rPr lang="en-IN" sz="3742" dirty="0" err="1"/>
              <a:t>reranking</a:t>
            </a:r>
            <a:endParaRPr lang="en-IN" sz="3742" dirty="0"/>
          </a:p>
          <a:p>
            <a:endParaRPr lang="en-IN" sz="1000" dirty="0"/>
          </a:p>
          <a:p>
            <a:r>
              <a:rPr lang="en-IN" sz="3742" dirty="0"/>
              <a:t> and </a:t>
            </a:r>
            <a:r>
              <a:rPr lang="en-IN" sz="3742" dirty="0" err="1"/>
              <a:t>subselection</a:t>
            </a:r>
            <a:endParaRPr lang="en-IN" sz="3742" dirty="0"/>
          </a:p>
        </p:txBody>
      </p:sp>
      <p:sp>
        <p:nvSpPr>
          <p:cNvPr id="49" name="Rectangle 48"/>
          <p:cNvSpPr/>
          <p:nvPr/>
        </p:nvSpPr>
        <p:spPr>
          <a:xfrm>
            <a:off x="695077" y="666180"/>
            <a:ext cx="181097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 err="1">
                <a:solidFill>
                  <a:srgbClr val="C00000"/>
                </a:solidFill>
                <a:latin typeface="Calibri Light" panose="020F0302020204030204"/>
              </a:rPr>
              <a:t>FuSIC</a:t>
            </a:r>
            <a:r>
              <a:rPr lang="en-US" sz="5400" b="1" dirty="0">
                <a:solidFill>
                  <a:srgbClr val="C00000"/>
                </a:solidFill>
                <a:latin typeface="Calibri Light" panose="020F0302020204030204"/>
              </a:rPr>
              <a:t>-KBQA: Transfer Setting</a:t>
            </a:r>
            <a:endParaRPr lang="en-IN" sz="1600" dirty="0"/>
          </a:p>
        </p:txBody>
      </p:sp>
      <p:sp>
        <p:nvSpPr>
          <p:cNvPr id="31" name="Rectangle 30"/>
          <p:cNvSpPr/>
          <p:nvPr/>
        </p:nvSpPr>
        <p:spPr>
          <a:xfrm>
            <a:off x="4824636" y="8515052"/>
            <a:ext cx="138622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/>
            <a:r>
              <a:rPr lang="en-IN" sz="3600" dirty="0">
                <a:solidFill>
                  <a:srgbClr val="3333FF"/>
                </a:solidFill>
                <a:cs typeface="Calibri"/>
              </a:rPr>
              <a:t>Supervised Retrievers trained on source KB; fine-tuned on target KB</a:t>
            </a:r>
          </a:p>
          <a:p>
            <a:pPr marL="914400" lvl="1"/>
            <a:r>
              <a:rPr lang="en-IN" sz="3600" dirty="0">
                <a:solidFill>
                  <a:srgbClr val="3333FF"/>
                </a:solidFill>
                <a:cs typeface="Calibri"/>
              </a:rPr>
              <a:t>LLM </a:t>
            </a:r>
            <a:r>
              <a:rPr lang="en-IN" sz="3600" dirty="0" err="1">
                <a:solidFill>
                  <a:srgbClr val="3333FF"/>
                </a:solidFill>
                <a:cs typeface="Calibri"/>
              </a:rPr>
              <a:t>reranking</a:t>
            </a:r>
            <a:r>
              <a:rPr lang="en-IN" sz="3600" dirty="0">
                <a:solidFill>
                  <a:srgbClr val="3333FF"/>
                </a:solidFill>
                <a:cs typeface="Calibri"/>
              </a:rPr>
              <a:t> prompted in target domain</a:t>
            </a:r>
            <a:endParaRPr lang="en-US" sz="3600" dirty="0">
              <a:solidFill>
                <a:srgbClr val="3333FF"/>
              </a:solidFill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764FA-23C0-6D66-8C6B-FA69E17E0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7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084" y="497318"/>
            <a:ext cx="16396395" cy="1465006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Transfer Results</a:t>
            </a:r>
            <a:br>
              <a:rPr lang="en-US" dirty="0">
                <a:ea typeface="+mj-lt"/>
                <a:cs typeface="+mj-lt"/>
              </a:rPr>
            </a:br>
            <a:r>
              <a:rPr lang="en-US" sz="4400" dirty="0">
                <a:solidFill>
                  <a:srgbClr val="ED7D31">
                    <a:lumMod val="50000"/>
                  </a:srgbClr>
                </a:solidFill>
              </a:rPr>
              <a:t>[Patidar et al, ACL’24]</a:t>
            </a:r>
            <a:endParaRPr lang="en-US" b="0" dirty="0">
              <a:ea typeface="+mj-lt"/>
              <a:cs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A74E04-C59D-3FC1-472B-881BB67A3844}"/>
              </a:ext>
            </a:extLst>
          </p:cNvPr>
          <p:cNvGraphicFramePr>
            <a:graphicFrameLocks noGrp="1"/>
          </p:cNvGraphicFramePr>
          <p:nvPr/>
        </p:nvGraphicFramePr>
        <p:xfrm>
          <a:off x="1070505" y="2880554"/>
          <a:ext cx="15923482" cy="4465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035">
                  <a:extLst>
                    <a:ext uri="{9D8B030D-6E8A-4147-A177-3AD203B41FA5}">
                      <a16:colId xmlns:a16="http://schemas.microsoft.com/office/drawing/2014/main" val="28327657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4663703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364112302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943305378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4238168455"/>
                    </a:ext>
                  </a:extLst>
                </a:gridCol>
                <a:gridCol w="2736303">
                  <a:extLst>
                    <a:ext uri="{9D8B030D-6E8A-4147-A177-3AD203B41FA5}">
                      <a16:colId xmlns:a16="http://schemas.microsoft.com/office/drawing/2014/main" val="1891652878"/>
                    </a:ext>
                  </a:extLst>
                </a:gridCol>
              </a:tblGrid>
              <a:tr h="8540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GrailQA</a:t>
                      </a:r>
                      <a:r>
                        <a:rPr lang="en-US" sz="3200" b="1" i="0" baseline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3200" b="1" i="0" baseline="0" dirty="0">
                          <a:solidFill>
                            <a:srgbClr val="FFFFFF"/>
                          </a:solidFill>
                          <a:effectLst/>
                          <a:latin typeface="Calibri"/>
                          <a:sym typeface="Wingdings" panose="05000000000000000000" pitchFamily="2" charset="2"/>
                        </a:rPr>
                        <a:t>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3200" b="1" i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GraphQA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GrailQA</a:t>
                      </a:r>
                      <a:r>
                        <a:rPr lang="en-US" sz="3200" b="1" i="0" u="none" strike="noStrike" baseline="0" noProof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3200" b="1" i="0" u="none" strike="noStrike" baseline="0" noProof="0" dirty="0">
                          <a:solidFill>
                            <a:srgbClr val="FFFFFF"/>
                          </a:solidFill>
                          <a:effectLst/>
                          <a:latin typeface="Calibri"/>
                          <a:sym typeface="Wingdings" panose="05000000000000000000" pitchFamily="2" charset="2"/>
                        </a:rPr>
                        <a:t></a:t>
                      </a:r>
                      <a:endParaRPr lang="en-US" sz="3200" dirty="0"/>
                    </a:p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WebQSP</a:t>
                      </a:r>
                      <a:endParaRPr lang="en-US" sz="3200" dirty="0" err="1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WebQSP</a:t>
                      </a:r>
                      <a:r>
                        <a:rPr lang="en-US" sz="3200" b="1" i="0" baseline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3200" b="1" i="0" baseline="0" dirty="0">
                          <a:solidFill>
                            <a:srgbClr val="FFFFFF"/>
                          </a:solidFill>
                          <a:effectLst/>
                          <a:latin typeface="Calibri"/>
                          <a:sym typeface="Wingdings" panose="05000000000000000000" pitchFamily="2" charset="2"/>
                        </a:rPr>
                        <a:t>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3200" b="1" i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GrailQA</a:t>
                      </a:r>
                      <a:r>
                        <a:rPr lang="en-US" sz="3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-Tech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WebQSP</a:t>
                      </a:r>
                      <a:r>
                        <a:rPr lang="en-US" sz="3200" b="1" i="0" u="none" strike="noStrike" baseline="0" noProof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3200" b="1" i="0" u="none" strike="noStrike" baseline="0" noProof="0" dirty="0">
                          <a:solidFill>
                            <a:srgbClr val="FFFFFF"/>
                          </a:solidFill>
                          <a:effectLst/>
                          <a:latin typeface="Calibri"/>
                          <a:sym typeface="Wingdings" panose="05000000000000000000" pitchFamily="2" charset="2"/>
                        </a:rPr>
                        <a:t></a:t>
                      </a:r>
                      <a:endParaRPr lang="en-US" sz="3200" b="1" i="0" u="none" strike="noStrike" noProof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GraphQA</a:t>
                      </a:r>
                      <a:r>
                        <a:rPr lang="en-US" sz="32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-Pop</a:t>
                      </a:r>
                      <a:endParaRPr lang="en-US" sz="32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006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905471"/>
                  </a:ext>
                </a:extLst>
              </a:tr>
              <a:tr h="591292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Supervised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TIARA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50.1 </a:t>
                      </a:r>
                      <a:endParaRPr lang="en-US" sz="3200" b="0" i="0" u="none" strike="noStrike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40.6 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 48.2</a:t>
                      </a:r>
                      <a:endParaRPr lang="en-US" sz="32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37.3</a:t>
                      </a:r>
                      <a:endParaRPr lang="en-US" sz="32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00277"/>
                  </a:ext>
                </a:extLst>
              </a:tr>
              <a:tr h="613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Pangu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63.2 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45.3 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51.0</a:t>
                      </a:r>
                      <a:endParaRPr lang="en-US" sz="32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36.7</a:t>
                      </a:r>
                      <a:endParaRPr lang="en-US" sz="32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26973"/>
                  </a:ext>
                </a:extLst>
              </a:tr>
              <a:tr h="9126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LLM ICL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KB-Binder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35.2 </a:t>
                      </a:r>
                      <a:endParaRPr lang="en-US" sz="3200" b="0" i="0" u="none" strike="noStrike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55.7 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 68.0</a:t>
                      </a:r>
                      <a:endParaRPr lang="en-US" sz="32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31.5</a:t>
                      </a:r>
                      <a:endParaRPr lang="en-US" sz="3200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252901"/>
                  </a:ext>
                </a:extLst>
              </a:tr>
              <a:tr h="624411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Fusion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Gf-BLLM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52.5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53.4</a:t>
                      </a:r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 61.2</a:t>
                      </a:r>
                      <a:endParaRPr lang="en-US" sz="32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46.6</a:t>
                      </a:r>
                      <a:endParaRPr lang="en-US" sz="3200" dirty="0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17798"/>
                  </a:ext>
                </a:extLst>
              </a:tr>
              <a:tr h="6569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0362">
                      <a:solidFill>
                        <a:srgbClr val="FFFFFF"/>
                      </a:solidFill>
                    </a:lnL>
                    <a:lnR w="10362">
                      <a:solidFill>
                        <a:srgbClr val="FFFFFF"/>
                      </a:solidFill>
                    </a:lnR>
                    <a:lnT w="10362">
                      <a:solidFill>
                        <a:srgbClr val="FFFFFF"/>
                      </a:solidFill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FuSIC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-KBQA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69.1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65.1</a:t>
                      </a:r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 74.6</a:t>
                      </a:r>
                      <a:endParaRPr lang="en-US" sz="3200" b="1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61.6</a:t>
                      </a:r>
                      <a:endParaRPr lang="en-US" sz="3200" b="1" dirty="0"/>
                    </a:p>
                  </a:txBody>
                  <a:tcPr anchor="ctr">
                    <a:lnL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62">
                      <a:solidFill>
                        <a:srgbClr val="FFFFFF"/>
                      </a:solidFill>
                    </a:lnR>
                    <a:lnT w="103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62">
                      <a:solidFill>
                        <a:srgbClr val="FFFFFF"/>
                      </a:solidFill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96434"/>
                  </a:ext>
                </a:extLst>
              </a:tr>
            </a:tbl>
          </a:graphicData>
        </a:graphic>
      </p:graphicFrame>
      <p:sp>
        <p:nvSpPr>
          <p:cNvPr id="4" name="Google Shape;376;p40"/>
          <p:cNvSpPr/>
          <p:nvPr/>
        </p:nvSpPr>
        <p:spPr>
          <a:xfrm>
            <a:off x="7848972" y="6786860"/>
            <a:ext cx="8352928" cy="432048"/>
          </a:xfrm>
          <a:prstGeom prst="rect">
            <a:avLst/>
          </a:prstGeom>
          <a:noFill/>
          <a:ln w="635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40460" y="9523164"/>
            <a:ext cx="12961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/>
            <a:r>
              <a:rPr lang="en-US" sz="3600" dirty="0">
                <a:solidFill>
                  <a:srgbClr val="C00000"/>
                </a:solidFill>
                <a:cs typeface="Calibri"/>
              </a:rPr>
              <a:t>Summary: LLMs + Supervised ML effective in transfer settings</a:t>
            </a:r>
          </a:p>
        </p:txBody>
      </p:sp>
    </p:spTree>
    <p:extLst>
      <p:ext uri="{BB962C8B-B14F-4D97-AF65-F5344CB8AC3E}">
        <p14:creationId xmlns:p14="http://schemas.microsoft.com/office/powerpoint/2010/main" val="213908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TakeAways</a:t>
            </a:r>
            <a:r>
              <a:rPr lang="en-US" dirty="0"/>
              <a:t>: LLM Workflows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7127189" cy="784887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3333FF"/>
                </a:solidFill>
              </a:rPr>
              <a:t>Good performance by</a:t>
            </a:r>
          </a:p>
          <a:p>
            <a:pPr lvl="1"/>
            <a:r>
              <a:rPr lang="en-US" dirty="0"/>
              <a:t>Supervised ML </a:t>
            </a:r>
            <a:r>
              <a:rPr lang="en-US" dirty="0">
                <a:solidFill>
                  <a:srgbClr val="3333FF"/>
                </a:solidFill>
              </a:rPr>
              <a:t>(hints) </a:t>
            </a:r>
            <a:endParaRPr lang="en-US" dirty="0">
              <a:solidFill>
                <a:srgbClr val="3333FF"/>
              </a:solidFill>
              <a:sym typeface="Wingdings" panose="05000000000000000000" pitchFamily="2" charset="2"/>
            </a:endParaRPr>
          </a:p>
          <a:p>
            <a:pPr marL="712866" lvl="1" indent="0">
              <a:buNone/>
            </a:pPr>
            <a:r>
              <a:rPr lang="en-US" dirty="0">
                <a:sym typeface="Wingdings" panose="05000000000000000000" pitchFamily="2" charset="2"/>
              </a:rPr>
              <a:t>	+</a:t>
            </a:r>
            <a:r>
              <a:rPr lang="en-US" dirty="0"/>
              <a:t> retrieval</a:t>
            </a:r>
          </a:p>
          <a:p>
            <a:pPr marL="712866" lvl="1" indent="0">
              <a:buNone/>
            </a:pPr>
            <a:r>
              <a:rPr lang="en-US" dirty="0">
                <a:sym typeface="Wingdings" panose="05000000000000000000" pitchFamily="2" charset="2"/>
              </a:rPr>
              <a:t>	</a:t>
            </a:r>
            <a:r>
              <a:rPr lang="en-US" dirty="0"/>
              <a:t> LLM prompting </a:t>
            </a:r>
          </a:p>
          <a:p>
            <a:pPr marL="712866" lvl="1" indent="0">
              <a:buNone/>
            </a:pPr>
            <a:r>
              <a:rPr lang="en-US" dirty="0">
                <a:solidFill>
                  <a:srgbClr val="3333FF"/>
                </a:solidFill>
              </a:rPr>
              <a:t>output SPARQL </a:t>
            </a:r>
            <a:r>
              <a:rPr lang="en-US" dirty="0"/>
              <a:t>not a specialized language</a:t>
            </a:r>
          </a:p>
          <a:p>
            <a:endParaRPr lang="en-US" dirty="0">
              <a:solidFill>
                <a:srgbClr val="3333FF"/>
              </a:solidFill>
            </a:endParaRPr>
          </a:p>
          <a:p>
            <a:r>
              <a:rPr lang="en-US" dirty="0"/>
              <a:t>LLMs: </a:t>
            </a:r>
            <a:r>
              <a:rPr lang="en-US" dirty="0">
                <a:solidFill>
                  <a:srgbClr val="3333FF"/>
                </a:solidFill>
              </a:rPr>
              <a:t>broad knowledge and capabilities</a:t>
            </a:r>
          </a:p>
          <a:p>
            <a:r>
              <a:rPr lang="en-US" dirty="0"/>
              <a:t>Supervised ML: </a:t>
            </a:r>
            <a:r>
              <a:rPr lang="en-US" dirty="0">
                <a:solidFill>
                  <a:srgbClr val="3333FF"/>
                </a:solidFill>
              </a:rPr>
              <a:t>specific knowledge alignment thru retrieval</a:t>
            </a:r>
          </a:p>
          <a:p>
            <a:endParaRPr lang="en-US" dirty="0"/>
          </a:p>
          <a:p>
            <a:r>
              <a:rPr lang="en-US" dirty="0"/>
              <a:t>Not very easy to beat supervised </a:t>
            </a:r>
            <a:r>
              <a:rPr lang="en-US" dirty="0" err="1"/>
              <a:t>SoTA</a:t>
            </a:r>
            <a:r>
              <a:rPr lang="en-US" dirty="0"/>
              <a:t> in standard NLP tasks, but doable</a:t>
            </a:r>
          </a:p>
          <a:p>
            <a:pPr lvl="1"/>
            <a:r>
              <a:rPr lang="en-US" dirty="0"/>
              <a:t>in low-data settings: LLM’s IFT capabilities help</a:t>
            </a:r>
          </a:p>
          <a:p>
            <a:pPr lvl="1"/>
            <a:r>
              <a:rPr lang="en-US" dirty="0"/>
              <a:t>in transfer settings: LLM’s pre-training broad knowledge helps</a:t>
            </a:r>
          </a:p>
          <a:p>
            <a:pPr marL="712866" lvl="1" indent="0">
              <a:buNone/>
            </a:pPr>
            <a:endParaRPr lang="en-US" dirty="0"/>
          </a:p>
          <a:p>
            <a:endParaRPr lang="en-US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25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2" y="6140742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64292"/>
              </p:ext>
            </p:extLst>
          </p:nvPr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chemeClr val="tx1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3" name="Right Arrow 2"/>
          <p:cNvSpPr/>
          <p:nvPr/>
        </p:nvSpPr>
        <p:spPr>
          <a:xfrm>
            <a:off x="9073108" y="6930876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13321580" y="6930876"/>
            <a:ext cx="432048" cy="4320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868" y="6586939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694" y="5057423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3989" y="5166561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388" y="2018635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5092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657" y="3762524"/>
            <a:ext cx="16396395" cy="3240360"/>
          </a:xfrm>
        </p:spPr>
        <p:txBody>
          <a:bodyPr>
            <a:normAutofit/>
          </a:bodyPr>
          <a:lstStyle/>
          <a:p>
            <a:r>
              <a:rPr lang="en-US" dirty="0"/>
              <a:t>How to use LLMs when some questions may be unanswerable?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0482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Ideas (</a:t>
            </a:r>
            <a:r>
              <a:rPr lang="en-US" dirty="0" err="1"/>
              <a:t>FuSIC</a:t>
            </a:r>
            <a:r>
              <a:rPr lang="en-US" dirty="0"/>
              <a:t>-U)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Remove Execution Guided Filtering </a:t>
            </a:r>
          </a:p>
          <a:p>
            <a:endParaRPr lang="en-US" dirty="0"/>
          </a:p>
          <a:p>
            <a:r>
              <a:rPr lang="en-US" dirty="0"/>
              <a:t>Prompt the LLM – “some questions may be unanswerable…”</a:t>
            </a:r>
          </a:p>
          <a:p>
            <a:endParaRPr lang="en-US" dirty="0"/>
          </a:p>
          <a:p>
            <a:r>
              <a:rPr lang="en-US" dirty="0"/>
              <a:t>Exemplar selection – provide some unanswerable questions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3333FF"/>
                </a:solidFill>
              </a:rPr>
              <a:t>Not enough for good performance </a:t>
            </a:r>
            <a:r>
              <a:rPr lang="en-US" dirty="0">
                <a:solidFill>
                  <a:srgbClr val="3333FF"/>
                </a:solidFill>
                <a:sym typeface="Wingdings" panose="05000000000000000000" pitchFamily="2" charset="2"/>
              </a:rPr>
              <a:t></a:t>
            </a:r>
          </a:p>
          <a:p>
            <a:endParaRPr lang="en-US" dirty="0">
              <a:solidFill>
                <a:srgbClr val="3333FF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3333FF"/>
                </a:solidFill>
                <a:sym typeface="Wingdings" panose="05000000000000000000" pitchFamily="2" charset="2"/>
              </a:rPr>
              <a:t>Key Ideas in Fun-</a:t>
            </a:r>
            <a:r>
              <a:rPr lang="en-US" dirty="0" err="1">
                <a:solidFill>
                  <a:srgbClr val="3333FF"/>
                </a:solidFill>
                <a:sym typeface="Wingdings" panose="05000000000000000000" pitchFamily="2" charset="2"/>
              </a:rPr>
              <a:t>FuSIC</a:t>
            </a:r>
            <a:r>
              <a:rPr lang="en-US" dirty="0">
                <a:solidFill>
                  <a:srgbClr val="3333FF"/>
                </a:solidFill>
                <a:sym typeface="Wingdings" panose="05000000000000000000" pitchFamily="2" charset="2"/>
              </a:rPr>
              <a:t>: </a:t>
            </a:r>
          </a:p>
          <a:p>
            <a:pPr lvl="1"/>
            <a:r>
              <a:rPr lang="en-US" dirty="0">
                <a:solidFill>
                  <a:srgbClr val="3333FF"/>
                </a:solidFill>
                <a:sym typeface="Wingdings" panose="05000000000000000000" pitchFamily="2" charset="2"/>
              </a:rPr>
              <a:t>Estimate LLM confidence</a:t>
            </a:r>
          </a:p>
          <a:p>
            <a:pPr lvl="1"/>
            <a:r>
              <a:rPr lang="en-US" dirty="0">
                <a:solidFill>
                  <a:srgbClr val="3333FF"/>
                </a:solidFill>
                <a:sym typeface="Wingdings" panose="05000000000000000000" pitchFamily="2" charset="2"/>
              </a:rPr>
              <a:t>Provide feedback to LLM</a:t>
            </a:r>
            <a:endParaRPr lang="en-IN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23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0F1E-4125-BCFB-074D-E5F9E8FD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603E58-1259-5309-30B0-4815FE6AE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802" y="4024739"/>
            <a:ext cx="1154554" cy="10339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03DE38-705D-4070-A08D-D70E80F55FB0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2F1B6DFE-BE3C-7273-C36F-6DA3AD1646F1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21B8A9-C038-F989-013D-705848D2118F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27" name="Rectangle: Rounded Corners 147">
            <a:extLst>
              <a:ext uri="{FF2B5EF4-FFF2-40B4-BE49-F238E27FC236}">
                <a16:creationId xmlns:a16="http://schemas.microsoft.com/office/drawing/2014/main" id="{801B5092-21A1-65D6-8B97-211F8D5C3DDC}"/>
              </a:ext>
            </a:extLst>
          </p:cNvPr>
          <p:cNvSpPr/>
          <p:nvPr/>
        </p:nvSpPr>
        <p:spPr>
          <a:xfrm>
            <a:off x="5184236" y="5665896"/>
            <a:ext cx="8727486" cy="18363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3A4DA5-F807-56C2-8237-A931282BD9E3}"/>
              </a:ext>
            </a:extLst>
          </p:cNvPr>
          <p:cNvSpPr txBox="1"/>
          <p:nvPr/>
        </p:nvSpPr>
        <p:spPr>
          <a:xfrm>
            <a:off x="5312773" y="5687018"/>
            <a:ext cx="8872903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Logical Form (LF) : </a:t>
            </a:r>
          </a:p>
          <a:p>
            <a:r>
              <a:rPr lang="en-US" sz="3742" dirty="0"/>
              <a:t>(And Paper (And (Join writes</a:t>
            </a:r>
            <a:r>
              <a:rPr lang="en-US" sz="3742" baseline="30000" dirty="0"/>
              <a:t>-1</a:t>
            </a:r>
            <a:r>
              <a:rPr lang="en-US" sz="3742" dirty="0"/>
              <a:t> C. Manning) (Join </a:t>
            </a:r>
            <a:r>
              <a:rPr lang="en-US" sz="3742" dirty="0" err="1"/>
              <a:t>published_at</a:t>
            </a:r>
            <a:r>
              <a:rPr lang="en-US" sz="3742" dirty="0"/>
              <a:t> EMNLP)))</a:t>
            </a:r>
            <a:endParaRPr lang="en-IN" sz="3742" b="1" dirty="0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B11A3DEF-21DE-68F6-4571-040E2405CAB8}"/>
              </a:ext>
            </a:extLst>
          </p:cNvPr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D5283A-256E-8ADB-C6E5-13DC39BEA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65B37F32-D116-A70D-3494-FFC4BC36DF12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62C1CC-9C73-383A-938A-EB883ED5757A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919C5649-6B19-79B1-5CE7-55E982A0E846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552896-A4F1-6AA9-09CE-2CF3583CAC32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1" name="Right Arrow 20">
            <a:extLst>
              <a:ext uri="{FF2B5EF4-FFF2-40B4-BE49-F238E27FC236}">
                <a16:creationId xmlns:a16="http://schemas.microsoft.com/office/drawing/2014/main" id="{6BE09803-C67F-BA5A-7BB6-BA6D0A203B26}"/>
              </a:ext>
            </a:extLst>
          </p:cNvPr>
          <p:cNvSpPr/>
          <p:nvPr/>
        </p:nvSpPr>
        <p:spPr>
          <a:xfrm flipH="1">
            <a:off x="6779070" y="4260881"/>
            <a:ext cx="3291930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>
            <a:extLst>
              <a:ext uri="{FF2B5EF4-FFF2-40B4-BE49-F238E27FC236}">
                <a16:creationId xmlns:a16="http://schemas.microsoft.com/office/drawing/2014/main" id="{6309B049-45A0-B45F-098B-88D0BA1884FD}"/>
              </a:ext>
            </a:extLst>
          </p:cNvPr>
          <p:cNvSpPr/>
          <p:nvPr/>
        </p:nvSpPr>
        <p:spPr>
          <a:xfrm rot="16200000" flipH="1" flipV="1">
            <a:off x="14344440" y="2057508"/>
            <a:ext cx="1088545" cy="1906294"/>
          </a:xfrm>
          <a:prstGeom prst="bentArrow">
            <a:avLst>
              <a:gd name="adj1" fmla="val 17499"/>
              <a:gd name="adj2" fmla="val 21488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E701D850-B1BC-1B9B-03A7-3A96C16DE334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3DDDBA10-69F3-540B-B6BD-43B29445156A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2" name="Rectangle: Rounded Corners 144">
            <a:extLst>
              <a:ext uri="{FF2B5EF4-FFF2-40B4-BE49-F238E27FC236}">
                <a16:creationId xmlns:a16="http://schemas.microsoft.com/office/drawing/2014/main" id="{2614ACCD-6C1F-E735-64AA-38E1F2EDDB3D}"/>
              </a:ext>
            </a:extLst>
          </p:cNvPr>
          <p:cNvSpPr/>
          <p:nvPr/>
        </p:nvSpPr>
        <p:spPr>
          <a:xfrm>
            <a:off x="13020051" y="3554927"/>
            <a:ext cx="5235234" cy="18637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96574C-03FF-71B4-949A-C60EF5DA34FA}"/>
              </a:ext>
            </a:extLst>
          </p:cNvPr>
          <p:cNvSpPr txBox="1"/>
          <p:nvPr/>
        </p:nvSpPr>
        <p:spPr>
          <a:xfrm>
            <a:off x="13218651" y="3510798"/>
            <a:ext cx="5235234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Sup. ML output for entity linking, </a:t>
            </a:r>
            <a:r>
              <a:rPr lang="en-IN" sz="3742" dirty="0" err="1"/>
              <a:t>rel</a:t>
            </a:r>
            <a:r>
              <a:rPr lang="en-IN" sz="3742" dirty="0"/>
              <a:t>/path retrieval</a:t>
            </a:r>
          </a:p>
          <a:p>
            <a:r>
              <a:rPr lang="en-IN" sz="3742" dirty="0"/>
              <a:t>+ Few-shot exemplars</a:t>
            </a:r>
          </a:p>
        </p:txBody>
      </p:sp>
      <p:sp>
        <p:nvSpPr>
          <p:cNvPr id="37" name="Arrow: Down 153">
            <a:extLst>
              <a:ext uri="{FF2B5EF4-FFF2-40B4-BE49-F238E27FC236}">
                <a16:creationId xmlns:a16="http://schemas.microsoft.com/office/drawing/2014/main" id="{1133B5ED-EC38-6473-A779-223E8DA3CDD8}"/>
              </a:ext>
            </a:extLst>
          </p:cNvPr>
          <p:cNvSpPr/>
          <p:nvPr/>
        </p:nvSpPr>
        <p:spPr>
          <a:xfrm>
            <a:off x="10460922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475D0158-2199-ACD0-4CA6-5ECA3CA700BF}"/>
              </a:ext>
            </a:extLst>
          </p:cNvPr>
          <p:cNvSpPr/>
          <p:nvPr/>
        </p:nvSpPr>
        <p:spPr>
          <a:xfrm flipH="1">
            <a:off x="11377363" y="4260881"/>
            <a:ext cx="1642684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5CA377-FBD1-296B-9AF1-D5052D319E5E}"/>
              </a:ext>
            </a:extLst>
          </p:cNvPr>
          <p:cNvSpPr txBox="1"/>
          <p:nvPr/>
        </p:nvSpPr>
        <p:spPr>
          <a:xfrm>
            <a:off x="6670677" y="3690516"/>
            <a:ext cx="4502656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Retrieval </a:t>
            </a:r>
            <a:r>
              <a:rPr lang="en-IN" sz="3742" dirty="0" err="1"/>
              <a:t>reranking</a:t>
            </a:r>
            <a:endParaRPr lang="en-IN" sz="3742" dirty="0"/>
          </a:p>
          <a:p>
            <a:endParaRPr lang="en-IN" sz="1000" dirty="0"/>
          </a:p>
          <a:p>
            <a:r>
              <a:rPr lang="en-IN" sz="3742" dirty="0"/>
              <a:t> and </a:t>
            </a:r>
            <a:r>
              <a:rPr lang="en-IN" sz="3742" dirty="0" err="1"/>
              <a:t>subselection</a:t>
            </a:r>
            <a:endParaRPr lang="en-IN" sz="3742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77AD0E2-C88E-D174-3099-FA71644C5E7B}"/>
              </a:ext>
            </a:extLst>
          </p:cNvPr>
          <p:cNvSpPr/>
          <p:nvPr/>
        </p:nvSpPr>
        <p:spPr>
          <a:xfrm>
            <a:off x="695077" y="666180"/>
            <a:ext cx="181097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 err="1">
                <a:solidFill>
                  <a:srgbClr val="C00000"/>
                </a:solidFill>
                <a:latin typeface="Calibri Light" panose="020F0302020204030204"/>
              </a:rPr>
              <a:t>FuSIC</a:t>
            </a:r>
            <a:r>
              <a:rPr lang="en-US" sz="5400" b="1" dirty="0">
                <a:solidFill>
                  <a:srgbClr val="C00000"/>
                </a:solidFill>
                <a:latin typeface="Calibri Light" panose="020F0302020204030204"/>
              </a:rPr>
              <a:t>-KBQA: Transfer Setting</a:t>
            </a:r>
            <a:endParaRPr lang="en-IN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175C3A-0032-F11D-249A-CB6D344B9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039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D5C4-E7F1-8800-1947-934479B09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7B3887-9F77-01D0-1DD7-08BFF982F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802" y="4024739"/>
            <a:ext cx="1154554" cy="10339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D8FFEA-2BE4-2733-E38A-7A979B9A8AEC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F7B9FB13-FBC7-65AC-B430-E6E8FC8D354D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FFAEE3-A43A-104E-52C6-7DD05313B96C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47F13F81-2141-F0C2-9334-886BD441A75B}"/>
              </a:ext>
            </a:extLst>
          </p:cNvPr>
          <p:cNvSpPr/>
          <p:nvPr/>
        </p:nvSpPr>
        <p:spPr>
          <a:xfrm flipH="1">
            <a:off x="4111856" y="6322071"/>
            <a:ext cx="1008112" cy="5239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4D798E3-340B-5B09-8141-1472400B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533D1460-18D8-754C-3879-B766FED2B6D9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400E79C-C057-9D80-ECFF-DDDCA0A37B39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5D222AE6-D169-C913-8099-6135947F0E39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3D73A8C-3018-61B6-04E8-52113E988A8A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1" name="Right Arrow 20">
            <a:extLst>
              <a:ext uri="{FF2B5EF4-FFF2-40B4-BE49-F238E27FC236}">
                <a16:creationId xmlns:a16="http://schemas.microsoft.com/office/drawing/2014/main" id="{F9AF6CB6-A2A2-F9F6-763F-39B8D213204B}"/>
              </a:ext>
            </a:extLst>
          </p:cNvPr>
          <p:cNvSpPr/>
          <p:nvPr/>
        </p:nvSpPr>
        <p:spPr>
          <a:xfrm flipH="1">
            <a:off x="6779070" y="4260881"/>
            <a:ext cx="3291930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>
            <a:extLst>
              <a:ext uri="{FF2B5EF4-FFF2-40B4-BE49-F238E27FC236}">
                <a16:creationId xmlns:a16="http://schemas.microsoft.com/office/drawing/2014/main" id="{3B755BAA-D179-4451-3F03-21364A7E26DE}"/>
              </a:ext>
            </a:extLst>
          </p:cNvPr>
          <p:cNvSpPr/>
          <p:nvPr/>
        </p:nvSpPr>
        <p:spPr>
          <a:xfrm rot="16200000" flipH="1" flipV="1">
            <a:off x="14344440" y="2057508"/>
            <a:ext cx="1088545" cy="1906294"/>
          </a:xfrm>
          <a:prstGeom prst="bentArrow">
            <a:avLst>
              <a:gd name="adj1" fmla="val 17499"/>
              <a:gd name="adj2" fmla="val 21488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9D70B0EE-14E4-7C01-E04D-22EA187B525A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E915236E-341D-7873-9E6A-860CC527CF6C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>
              <a:gd name="adj1" fmla="val 1405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2" name="Rectangle: Rounded Corners 144">
            <a:extLst>
              <a:ext uri="{FF2B5EF4-FFF2-40B4-BE49-F238E27FC236}">
                <a16:creationId xmlns:a16="http://schemas.microsoft.com/office/drawing/2014/main" id="{022DBAAD-955F-3962-6269-6FD7FA4937D3}"/>
              </a:ext>
            </a:extLst>
          </p:cNvPr>
          <p:cNvSpPr/>
          <p:nvPr/>
        </p:nvSpPr>
        <p:spPr>
          <a:xfrm>
            <a:off x="13020051" y="3554927"/>
            <a:ext cx="5235234" cy="18637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322602-6899-CB06-DCC0-28DDFF509665}"/>
              </a:ext>
            </a:extLst>
          </p:cNvPr>
          <p:cNvSpPr txBox="1"/>
          <p:nvPr/>
        </p:nvSpPr>
        <p:spPr>
          <a:xfrm>
            <a:off x="13218651" y="3510798"/>
            <a:ext cx="5235234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Sup. ML output for entity linking, </a:t>
            </a:r>
            <a:r>
              <a:rPr lang="en-IN" sz="3742" dirty="0" err="1"/>
              <a:t>rel</a:t>
            </a:r>
            <a:r>
              <a:rPr lang="en-IN" sz="3742" dirty="0"/>
              <a:t>/path retrieval</a:t>
            </a:r>
          </a:p>
          <a:p>
            <a:r>
              <a:rPr lang="en-IN" sz="3742" dirty="0"/>
              <a:t>+ Few-shot exemplars</a:t>
            </a:r>
          </a:p>
        </p:txBody>
      </p:sp>
      <p:sp>
        <p:nvSpPr>
          <p:cNvPr id="37" name="Arrow: Down 153">
            <a:extLst>
              <a:ext uri="{FF2B5EF4-FFF2-40B4-BE49-F238E27FC236}">
                <a16:creationId xmlns:a16="http://schemas.microsoft.com/office/drawing/2014/main" id="{1EFAD334-7BCE-CF93-BC32-DCCF73AAF4ED}"/>
              </a:ext>
            </a:extLst>
          </p:cNvPr>
          <p:cNvSpPr/>
          <p:nvPr/>
        </p:nvSpPr>
        <p:spPr>
          <a:xfrm>
            <a:off x="10460922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D3DD688D-08EB-EB45-1855-DA55D6964CC1}"/>
              </a:ext>
            </a:extLst>
          </p:cNvPr>
          <p:cNvSpPr/>
          <p:nvPr/>
        </p:nvSpPr>
        <p:spPr>
          <a:xfrm flipH="1">
            <a:off x="11377363" y="4260881"/>
            <a:ext cx="1642684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36F55C-33FF-9C2B-3AFF-A892BF67E04C}"/>
              </a:ext>
            </a:extLst>
          </p:cNvPr>
          <p:cNvSpPr txBox="1"/>
          <p:nvPr/>
        </p:nvSpPr>
        <p:spPr>
          <a:xfrm>
            <a:off x="6670677" y="3690516"/>
            <a:ext cx="4502656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Retrieval </a:t>
            </a:r>
            <a:r>
              <a:rPr lang="en-IN" sz="3742" dirty="0" err="1"/>
              <a:t>reranking</a:t>
            </a:r>
            <a:endParaRPr lang="en-IN" sz="3742" dirty="0"/>
          </a:p>
          <a:p>
            <a:endParaRPr lang="en-IN" sz="1000" dirty="0"/>
          </a:p>
          <a:p>
            <a:r>
              <a:rPr lang="en-IN" sz="3742" dirty="0"/>
              <a:t> and </a:t>
            </a:r>
            <a:r>
              <a:rPr lang="en-IN" sz="3742" dirty="0" err="1"/>
              <a:t>subselection</a:t>
            </a:r>
            <a:endParaRPr lang="en-IN" sz="3742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EB3348-6665-697B-D54A-24FAA4C1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960996-77DB-85BC-E84A-78F6BC4DAA83}"/>
              </a:ext>
            </a:extLst>
          </p:cNvPr>
          <p:cNvSpPr/>
          <p:nvPr/>
        </p:nvSpPr>
        <p:spPr>
          <a:xfrm>
            <a:off x="5227986" y="5645770"/>
            <a:ext cx="155108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Logical Form (1)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AA471-1C4A-661C-0C3C-74D975CC3746}"/>
              </a:ext>
            </a:extLst>
          </p:cNvPr>
          <p:cNvSpPr/>
          <p:nvPr/>
        </p:nvSpPr>
        <p:spPr>
          <a:xfrm>
            <a:off x="6989270" y="5649206"/>
            <a:ext cx="155108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Logical Form (2)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204DB2-0AA2-E459-076D-E22F1E0930CF}"/>
              </a:ext>
            </a:extLst>
          </p:cNvPr>
          <p:cNvSpPr/>
          <p:nvPr/>
        </p:nvSpPr>
        <p:spPr>
          <a:xfrm>
            <a:off x="9077502" y="5649206"/>
            <a:ext cx="155108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Logical Form (K)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1D68CC-4260-F96E-3ABE-39384BE5F4BB}"/>
              </a:ext>
            </a:extLst>
          </p:cNvPr>
          <p:cNvSpPr txBox="1"/>
          <p:nvPr/>
        </p:nvSpPr>
        <p:spPr>
          <a:xfrm>
            <a:off x="8574874" y="5717795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…</a:t>
            </a:r>
            <a:endParaRPr lang="en-IN" sz="400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128A35B-BA9D-F3AD-845A-2A503481A6B9}"/>
              </a:ext>
            </a:extLst>
          </p:cNvPr>
          <p:cNvSpPr/>
          <p:nvPr/>
        </p:nvSpPr>
        <p:spPr>
          <a:xfrm rot="5400000">
            <a:off x="7474038" y="4050122"/>
            <a:ext cx="1008112" cy="5716252"/>
          </a:xfrm>
          <a:prstGeom prst="rightBrace">
            <a:avLst>
              <a:gd name="adj1" fmla="val 8333"/>
              <a:gd name="adj2" fmla="val 52061"/>
            </a:avLst>
          </a:prstGeom>
          <a:ln w="762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6B01DC-C8D0-7B99-76A6-5207E206D5F0}"/>
              </a:ext>
            </a:extLst>
          </p:cNvPr>
          <p:cNvCxnSpPr>
            <a:cxnSpLocks/>
          </p:cNvCxnSpPr>
          <p:nvPr/>
        </p:nvCxnSpPr>
        <p:spPr>
          <a:xfrm flipV="1">
            <a:off x="5542290" y="7369594"/>
            <a:ext cx="2363047" cy="1355000"/>
          </a:xfrm>
          <a:prstGeom prst="straightConnector1">
            <a:avLst/>
          </a:prstGeom>
          <a:ln w="76200">
            <a:solidFill>
              <a:srgbClr val="3333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202AAF-1952-B300-88E3-309EBBCC812D}"/>
              </a:ext>
            </a:extLst>
          </p:cNvPr>
          <p:cNvCxnSpPr>
            <a:cxnSpLocks/>
          </p:cNvCxnSpPr>
          <p:nvPr/>
        </p:nvCxnSpPr>
        <p:spPr>
          <a:xfrm flipH="1" flipV="1">
            <a:off x="7833329" y="7369594"/>
            <a:ext cx="2312238" cy="1381414"/>
          </a:xfrm>
          <a:prstGeom prst="straightConnector1">
            <a:avLst/>
          </a:prstGeom>
          <a:ln w="76200">
            <a:solidFill>
              <a:srgbClr val="3333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5A30BA-8490-0A81-CD73-22D2DD8A3A96}"/>
              </a:ext>
            </a:extLst>
          </p:cNvPr>
          <p:cNvSpPr txBox="1"/>
          <p:nvPr/>
        </p:nvSpPr>
        <p:spPr>
          <a:xfrm>
            <a:off x="4499943" y="9099089"/>
            <a:ext cx="32031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333FF"/>
                </a:solidFill>
              </a:rPr>
              <a:t>If LFs are consistent, output most freq. LF</a:t>
            </a:r>
            <a:endParaRPr lang="en-IN" sz="2800" dirty="0">
              <a:solidFill>
                <a:srgbClr val="3333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2522-D307-3C8F-69C2-8014DB2C1315}"/>
              </a:ext>
            </a:extLst>
          </p:cNvPr>
          <p:cNvSpPr txBox="1"/>
          <p:nvPr/>
        </p:nvSpPr>
        <p:spPr>
          <a:xfrm>
            <a:off x="8603869" y="9079942"/>
            <a:ext cx="34913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333FF"/>
                </a:solidFill>
              </a:rPr>
              <a:t>If LFs are inconsistent, output NK</a:t>
            </a:r>
            <a:endParaRPr lang="en-IN" sz="2800" dirty="0">
              <a:solidFill>
                <a:srgbClr val="3333FF"/>
              </a:solidFill>
            </a:endParaRPr>
          </a:p>
        </p:txBody>
      </p:sp>
      <p:sp>
        <p:nvSpPr>
          <p:cNvPr id="20" name="Arrow: Down 154">
            <a:extLst>
              <a:ext uri="{FF2B5EF4-FFF2-40B4-BE49-F238E27FC236}">
                <a16:creationId xmlns:a16="http://schemas.microsoft.com/office/drawing/2014/main" id="{7F7F9B35-D750-926E-0BA2-BA4900457940}"/>
              </a:ext>
            </a:extLst>
          </p:cNvPr>
          <p:cNvSpPr/>
          <p:nvPr/>
        </p:nvSpPr>
        <p:spPr>
          <a:xfrm rot="17900889">
            <a:off x="6472741" y="4851504"/>
            <a:ext cx="476961" cy="949567"/>
          </a:xfrm>
          <a:prstGeom prst="downArrow">
            <a:avLst>
              <a:gd name="adj1" fmla="val 17114"/>
              <a:gd name="adj2" fmla="val 51115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9" name="Arrow: Down 154">
            <a:extLst>
              <a:ext uri="{FF2B5EF4-FFF2-40B4-BE49-F238E27FC236}">
                <a16:creationId xmlns:a16="http://schemas.microsoft.com/office/drawing/2014/main" id="{145E9231-8701-5581-87E3-B0DD56854826}"/>
              </a:ext>
            </a:extLst>
          </p:cNvPr>
          <p:cNvSpPr/>
          <p:nvPr/>
        </p:nvSpPr>
        <p:spPr>
          <a:xfrm rot="16953738">
            <a:off x="7820703" y="3854636"/>
            <a:ext cx="476961" cy="2948966"/>
          </a:xfrm>
          <a:prstGeom prst="downArrow">
            <a:avLst>
              <a:gd name="adj1" fmla="val 17114"/>
              <a:gd name="adj2" fmla="val 51115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549068C-02AD-570B-33A0-3EB8C59B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212" y="378148"/>
            <a:ext cx="16396395" cy="1465006"/>
          </a:xfrm>
        </p:spPr>
        <p:txBody>
          <a:bodyPr/>
          <a:lstStyle/>
          <a:p>
            <a:r>
              <a:rPr lang="en-US" dirty="0"/>
              <a:t>Fun-</a:t>
            </a:r>
            <a:r>
              <a:rPr lang="en-US" dirty="0" err="1"/>
              <a:t>FuSIC</a:t>
            </a:r>
            <a:r>
              <a:rPr lang="en-US" dirty="0"/>
              <a:t>: Estimate LLM Confidence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09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11" grpId="0"/>
      <p:bldP spid="1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4425A-931C-C763-D57E-83FB406B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08B8F3-9C3C-E7A9-6D14-F33EB40A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802" y="4024739"/>
            <a:ext cx="1154554" cy="10339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E21908E-6469-899E-C8F0-40E5D4FD64E1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C3D1DAE8-CDA3-CBB6-594F-AD7D8273A164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C9A79-0E37-0F3F-DB65-1C51C986EC35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25840FA-9241-0BA6-8C01-475038100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53D6B138-7BC7-D3A8-BD75-65D02D2998DB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24EB36-8A26-BD13-D0DB-B8F307BE3C52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4138ADB7-8DC2-A80E-EF9A-717658C546E3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B86D957-A270-81C0-54ED-89B35FE61A53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EFF4241-E9BF-F751-7095-A0BE784EB0DB}"/>
              </a:ext>
            </a:extLst>
          </p:cNvPr>
          <p:cNvSpPr/>
          <p:nvPr/>
        </p:nvSpPr>
        <p:spPr>
          <a:xfrm flipH="1">
            <a:off x="6779070" y="4260881"/>
            <a:ext cx="3291930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>
            <a:extLst>
              <a:ext uri="{FF2B5EF4-FFF2-40B4-BE49-F238E27FC236}">
                <a16:creationId xmlns:a16="http://schemas.microsoft.com/office/drawing/2014/main" id="{C01D7552-3C01-59E9-2B03-3F5FBA9D8488}"/>
              </a:ext>
            </a:extLst>
          </p:cNvPr>
          <p:cNvSpPr/>
          <p:nvPr/>
        </p:nvSpPr>
        <p:spPr>
          <a:xfrm rot="16200000" flipH="1" flipV="1">
            <a:off x="14344440" y="2057508"/>
            <a:ext cx="1088545" cy="1906294"/>
          </a:xfrm>
          <a:prstGeom prst="bentArrow">
            <a:avLst>
              <a:gd name="adj1" fmla="val 17499"/>
              <a:gd name="adj2" fmla="val 21488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4269E3A8-2A17-00DE-8326-D0CA242F6072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31452A56-41C0-AC4A-1CC4-7E8DD7EE598F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>
              <a:gd name="adj1" fmla="val 1405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2" name="Rectangle: Rounded Corners 144">
            <a:extLst>
              <a:ext uri="{FF2B5EF4-FFF2-40B4-BE49-F238E27FC236}">
                <a16:creationId xmlns:a16="http://schemas.microsoft.com/office/drawing/2014/main" id="{D34A8588-8F44-CE2C-1E75-CB6AA838DDB8}"/>
              </a:ext>
            </a:extLst>
          </p:cNvPr>
          <p:cNvSpPr/>
          <p:nvPr/>
        </p:nvSpPr>
        <p:spPr>
          <a:xfrm>
            <a:off x="13020051" y="3554927"/>
            <a:ext cx="5235234" cy="18637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DB91BD-11E9-E788-D6B2-D3824FF8B71A}"/>
              </a:ext>
            </a:extLst>
          </p:cNvPr>
          <p:cNvSpPr txBox="1"/>
          <p:nvPr/>
        </p:nvSpPr>
        <p:spPr>
          <a:xfrm>
            <a:off x="13218651" y="3510798"/>
            <a:ext cx="5235234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Sup. ML output for entity linking, </a:t>
            </a:r>
            <a:r>
              <a:rPr lang="en-IN" sz="3742" dirty="0" err="1"/>
              <a:t>rel</a:t>
            </a:r>
            <a:r>
              <a:rPr lang="en-IN" sz="3742" dirty="0"/>
              <a:t>/path retrieval</a:t>
            </a:r>
          </a:p>
          <a:p>
            <a:r>
              <a:rPr lang="en-IN" sz="3742" dirty="0"/>
              <a:t>+ Few-shot exemplars</a:t>
            </a:r>
          </a:p>
        </p:txBody>
      </p:sp>
      <p:sp>
        <p:nvSpPr>
          <p:cNvPr id="37" name="Arrow: Down 153">
            <a:extLst>
              <a:ext uri="{FF2B5EF4-FFF2-40B4-BE49-F238E27FC236}">
                <a16:creationId xmlns:a16="http://schemas.microsoft.com/office/drawing/2014/main" id="{8D352C79-377E-E363-9886-D1D7388027AA}"/>
              </a:ext>
            </a:extLst>
          </p:cNvPr>
          <p:cNvSpPr/>
          <p:nvPr/>
        </p:nvSpPr>
        <p:spPr>
          <a:xfrm>
            <a:off x="10460922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6EFE46D2-4BD3-6395-3B9F-BFBA4EF66525}"/>
              </a:ext>
            </a:extLst>
          </p:cNvPr>
          <p:cNvSpPr/>
          <p:nvPr/>
        </p:nvSpPr>
        <p:spPr>
          <a:xfrm flipH="1">
            <a:off x="11377363" y="4260881"/>
            <a:ext cx="1642684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D46459-628C-72F8-F09A-D8D3D40A863A}"/>
              </a:ext>
            </a:extLst>
          </p:cNvPr>
          <p:cNvSpPr txBox="1"/>
          <p:nvPr/>
        </p:nvSpPr>
        <p:spPr>
          <a:xfrm>
            <a:off x="6670677" y="3690516"/>
            <a:ext cx="4502656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Retrieval </a:t>
            </a:r>
            <a:r>
              <a:rPr lang="en-IN" sz="3742" dirty="0" err="1"/>
              <a:t>reranking</a:t>
            </a:r>
            <a:endParaRPr lang="en-IN" sz="3742" dirty="0"/>
          </a:p>
          <a:p>
            <a:endParaRPr lang="en-IN" sz="1000" dirty="0"/>
          </a:p>
          <a:p>
            <a:r>
              <a:rPr lang="en-IN" sz="3742" dirty="0"/>
              <a:t> and </a:t>
            </a:r>
            <a:r>
              <a:rPr lang="en-IN" sz="3742" dirty="0" err="1"/>
              <a:t>subselection</a:t>
            </a:r>
            <a:endParaRPr lang="en-IN" sz="3742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E05CC-DD71-4D0A-DED2-680A93B39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F5605A-F244-A325-6375-1213E5AC1A79}"/>
              </a:ext>
            </a:extLst>
          </p:cNvPr>
          <p:cNvSpPr/>
          <p:nvPr/>
        </p:nvSpPr>
        <p:spPr>
          <a:xfrm>
            <a:off x="5227986" y="5645770"/>
            <a:ext cx="155108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Logical Form (1)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4C25D-9EA4-781D-1782-92CD7B03D956}"/>
              </a:ext>
            </a:extLst>
          </p:cNvPr>
          <p:cNvSpPr/>
          <p:nvPr/>
        </p:nvSpPr>
        <p:spPr>
          <a:xfrm>
            <a:off x="6989270" y="5649206"/>
            <a:ext cx="155108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Logical Form (2)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827816-00D7-5A12-44A0-9FCD46379834}"/>
              </a:ext>
            </a:extLst>
          </p:cNvPr>
          <p:cNvSpPr/>
          <p:nvPr/>
        </p:nvSpPr>
        <p:spPr>
          <a:xfrm>
            <a:off x="9077502" y="5649206"/>
            <a:ext cx="155108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Logical Form (K)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A4247-CF83-A8B8-B1D4-7468F1F75731}"/>
              </a:ext>
            </a:extLst>
          </p:cNvPr>
          <p:cNvSpPr txBox="1"/>
          <p:nvPr/>
        </p:nvSpPr>
        <p:spPr>
          <a:xfrm>
            <a:off x="8574874" y="5717795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…</a:t>
            </a:r>
            <a:endParaRPr lang="en-IN" sz="4000" dirty="0"/>
          </a:p>
        </p:txBody>
      </p:sp>
      <p:sp>
        <p:nvSpPr>
          <p:cNvPr id="20" name="Arrow: Down 154">
            <a:extLst>
              <a:ext uri="{FF2B5EF4-FFF2-40B4-BE49-F238E27FC236}">
                <a16:creationId xmlns:a16="http://schemas.microsoft.com/office/drawing/2014/main" id="{3CBAFBD1-0DDF-749C-CF77-C0D14BCD5CB3}"/>
              </a:ext>
            </a:extLst>
          </p:cNvPr>
          <p:cNvSpPr/>
          <p:nvPr/>
        </p:nvSpPr>
        <p:spPr>
          <a:xfrm rot="17900889">
            <a:off x="6472741" y="4851504"/>
            <a:ext cx="476961" cy="949567"/>
          </a:xfrm>
          <a:prstGeom prst="downArrow">
            <a:avLst>
              <a:gd name="adj1" fmla="val 17114"/>
              <a:gd name="adj2" fmla="val 51115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9" name="Arrow: Down 154">
            <a:extLst>
              <a:ext uri="{FF2B5EF4-FFF2-40B4-BE49-F238E27FC236}">
                <a16:creationId xmlns:a16="http://schemas.microsoft.com/office/drawing/2014/main" id="{9E6A7D84-34DB-EBBC-5F2B-D0A6ACBCFC13}"/>
              </a:ext>
            </a:extLst>
          </p:cNvPr>
          <p:cNvSpPr/>
          <p:nvPr/>
        </p:nvSpPr>
        <p:spPr>
          <a:xfrm rot="16953738">
            <a:off x="7820703" y="3854636"/>
            <a:ext cx="476961" cy="2948966"/>
          </a:xfrm>
          <a:prstGeom prst="downArrow">
            <a:avLst>
              <a:gd name="adj1" fmla="val 17114"/>
              <a:gd name="adj2" fmla="val 51115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3" name="Arrow: Down 154">
            <a:extLst>
              <a:ext uri="{FF2B5EF4-FFF2-40B4-BE49-F238E27FC236}">
                <a16:creationId xmlns:a16="http://schemas.microsoft.com/office/drawing/2014/main" id="{443F4387-52C8-7256-3F3A-B9268F8A960C}"/>
              </a:ext>
            </a:extLst>
          </p:cNvPr>
          <p:cNvSpPr/>
          <p:nvPr/>
        </p:nvSpPr>
        <p:spPr>
          <a:xfrm rot="4956357">
            <a:off x="4691408" y="5702651"/>
            <a:ext cx="476961" cy="2039828"/>
          </a:xfrm>
          <a:prstGeom prst="downArrow">
            <a:avLst>
              <a:gd name="adj1" fmla="val 1405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4" name="Arrow: Down 154">
            <a:extLst>
              <a:ext uri="{FF2B5EF4-FFF2-40B4-BE49-F238E27FC236}">
                <a16:creationId xmlns:a16="http://schemas.microsoft.com/office/drawing/2014/main" id="{A89414E2-FB63-9A68-5EB5-C39CDF5DA2BF}"/>
              </a:ext>
            </a:extLst>
          </p:cNvPr>
          <p:cNvSpPr/>
          <p:nvPr/>
        </p:nvSpPr>
        <p:spPr>
          <a:xfrm rot="5079698">
            <a:off x="5728737" y="4905298"/>
            <a:ext cx="476961" cy="3761058"/>
          </a:xfrm>
          <a:prstGeom prst="downArrow">
            <a:avLst>
              <a:gd name="adj1" fmla="val 1405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5" name="Arrow: Down 154">
            <a:extLst>
              <a:ext uri="{FF2B5EF4-FFF2-40B4-BE49-F238E27FC236}">
                <a16:creationId xmlns:a16="http://schemas.microsoft.com/office/drawing/2014/main" id="{CE802477-3FCA-4CD2-FA47-25CB9A5A2366}"/>
              </a:ext>
            </a:extLst>
          </p:cNvPr>
          <p:cNvSpPr/>
          <p:nvPr/>
        </p:nvSpPr>
        <p:spPr>
          <a:xfrm rot="5033693">
            <a:off x="6706275" y="3977445"/>
            <a:ext cx="476961" cy="5777982"/>
          </a:xfrm>
          <a:prstGeom prst="downArrow">
            <a:avLst>
              <a:gd name="adj1" fmla="val 1405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6" name="Bent Arrow 29">
            <a:extLst>
              <a:ext uri="{FF2B5EF4-FFF2-40B4-BE49-F238E27FC236}">
                <a16:creationId xmlns:a16="http://schemas.microsoft.com/office/drawing/2014/main" id="{A21F1880-BB86-B09B-C5D2-1BFDCFB7D943}"/>
              </a:ext>
            </a:extLst>
          </p:cNvPr>
          <p:cNvSpPr/>
          <p:nvPr/>
        </p:nvSpPr>
        <p:spPr>
          <a:xfrm rot="10800000" flipH="1" flipV="1">
            <a:off x="2481420" y="4034966"/>
            <a:ext cx="3098153" cy="1906294"/>
          </a:xfrm>
          <a:prstGeom prst="bentArrow">
            <a:avLst>
              <a:gd name="adj1" fmla="val 10004"/>
              <a:gd name="adj2" fmla="val 21488"/>
              <a:gd name="adj3" fmla="val 27625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C3F1E6-04F0-35F7-FFF1-6B47B4FA5F01}"/>
              </a:ext>
            </a:extLst>
          </p:cNvPr>
          <p:cNvSpPr txBox="1"/>
          <p:nvPr/>
        </p:nvSpPr>
        <p:spPr>
          <a:xfrm>
            <a:off x="-215924" y="3660698"/>
            <a:ext cx="3251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3333FF"/>
                </a:solidFill>
              </a:rPr>
              <a:t>feedback</a:t>
            </a:r>
          </a:p>
          <a:p>
            <a:pPr algn="ctr"/>
            <a:r>
              <a:rPr lang="en-US" sz="3200" dirty="0">
                <a:solidFill>
                  <a:srgbClr val="3333FF"/>
                </a:solidFill>
              </a:rPr>
              <a:t>(e.g., syntactic correctness)</a:t>
            </a:r>
            <a:endParaRPr lang="en-IN" sz="3200" dirty="0">
              <a:solidFill>
                <a:srgbClr val="3333FF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C3C36FD-50A8-F6FC-60C1-9B33122D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1465006"/>
          </a:xfrm>
        </p:spPr>
        <p:txBody>
          <a:bodyPr/>
          <a:lstStyle/>
          <a:p>
            <a:r>
              <a:rPr lang="en-US" dirty="0"/>
              <a:t>Fun-</a:t>
            </a:r>
            <a:r>
              <a:rPr lang="en-US" dirty="0" err="1"/>
              <a:t>FuSIC</a:t>
            </a:r>
            <a:r>
              <a:rPr lang="en-US" dirty="0"/>
              <a:t>: Sequential Generation with Feedback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71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B4B5-0E87-ECC0-DA7C-DE03C7BD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3E22C8-3414-C079-B4E5-D76A5E445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802" y="4024739"/>
            <a:ext cx="1154554" cy="10339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4E746CE-6C2F-1DDC-F946-3B1B20690212}"/>
              </a:ext>
            </a:extLst>
          </p:cNvPr>
          <p:cNvSpPr txBox="1"/>
          <p:nvPr/>
        </p:nvSpPr>
        <p:spPr>
          <a:xfrm>
            <a:off x="1412922" y="6177872"/>
            <a:ext cx="1052029" cy="66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742" b="1" dirty="0"/>
              <a:t>KB</a:t>
            </a:r>
          </a:p>
        </p:txBody>
      </p:sp>
      <p:sp>
        <p:nvSpPr>
          <p:cNvPr id="25" name="Rectangle: Rounded Corners 144">
            <a:extLst>
              <a:ext uri="{FF2B5EF4-FFF2-40B4-BE49-F238E27FC236}">
                <a16:creationId xmlns:a16="http://schemas.microsoft.com/office/drawing/2014/main" id="{3078DD23-1505-8B6E-C333-4B596E4EC723}"/>
              </a:ext>
            </a:extLst>
          </p:cNvPr>
          <p:cNvSpPr/>
          <p:nvPr/>
        </p:nvSpPr>
        <p:spPr>
          <a:xfrm>
            <a:off x="5228352" y="1808951"/>
            <a:ext cx="8727486" cy="146012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A4DDA3-64D4-BD60-4CE2-C122B56B082E}"/>
              </a:ext>
            </a:extLst>
          </p:cNvPr>
          <p:cNvSpPr txBox="1"/>
          <p:nvPr/>
        </p:nvSpPr>
        <p:spPr>
          <a:xfrm>
            <a:off x="5227266" y="1968806"/>
            <a:ext cx="8872903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b="1" dirty="0"/>
              <a:t>Q: </a:t>
            </a:r>
            <a:r>
              <a:rPr lang="en-IN" sz="3742" dirty="0"/>
              <a:t>What papers have Chris Manning written in EMNLP?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1E2E83B-1177-6A29-BAA5-7F03497B4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94" y="5922076"/>
            <a:ext cx="1945946" cy="1568296"/>
          </a:xfrm>
          <a:prstGeom prst="rect">
            <a:avLst/>
          </a:prstGeom>
        </p:spPr>
      </p:pic>
      <p:sp>
        <p:nvSpPr>
          <p:cNvPr id="41" name="Arrow: Down 155">
            <a:extLst>
              <a:ext uri="{FF2B5EF4-FFF2-40B4-BE49-F238E27FC236}">
                <a16:creationId xmlns:a16="http://schemas.microsoft.com/office/drawing/2014/main" id="{E1EF5CB3-66CF-030E-617E-81B9B6B173BE}"/>
              </a:ext>
            </a:extLst>
          </p:cNvPr>
          <p:cNvSpPr/>
          <p:nvPr/>
        </p:nvSpPr>
        <p:spPr>
          <a:xfrm>
            <a:off x="2316166" y="7584883"/>
            <a:ext cx="476961" cy="5804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CD73F2-DEDA-1284-5223-03775F0DAFBE}"/>
              </a:ext>
            </a:extLst>
          </p:cNvPr>
          <p:cNvGrpSpPr/>
          <p:nvPr/>
        </p:nvGrpSpPr>
        <p:grpSpPr>
          <a:xfrm>
            <a:off x="1348553" y="8227020"/>
            <a:ext cx="2323955" cy="844155"/>
            <a:chOff x="944734" y="6077220"/>
            <a:chExt cx="1490436" cy="701097"/>
          </a:xfrm>
        </p:grpSpPr>
        <p:sp>
          <p:nvSpPr>
            <p:cNvPr id="43" name="Rectangle: Rounded Corners 149">
              <a:extLst>
                <a:ext uri="{FF2B5EF4-FFF2-40B4-BE49-F238E27FC236}">
                  <a16:creationId xmlns:a16="http://schemas.microsoft.com/office/drawing/2014/main" id="{CCB493E1-C790-92E3-8A41-810194A72D1E}"/>
                </a:ext>
              </a:extLst>
            </p:cNvPr>
            <p:cNvSpPr/>
            <p:nvPr/>
          </p:nvSpPr>
          <p:spPr>
            <a:xfrm>
              <a:off x="944734" y="6077220"/>
              <a:ext cx="1490436" cy="7010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742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100555-8E50-060C-0A31-5588F54A0CC1}"/>
                </a:ext>
              </a:extLst>
            </p:cNvPr>
            <p:cNvSpPr txBox="1"/>
            <p:nvPr/>
          </p:nvSpPr>
          <p:spPr>
            <a:xfrm>
              <a:off x="1085126" y="6193361"/>
              <a:ext cx="1317496" cy="554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742" b="1" dirty="0"/>
                <a:t>A: </a:t>
              </a:r>
              <a:r>
                <a:rPr lang="en-IN" sz="3742" dirty="0"/>
                <a:t>Glove</a:t>
              </a:r>
            </a:p>
          </p:txBody>
        </p:sp>
      </p:grpSp>
      <p:sp>
        <p:nvSpPr>
          <p:cNvPr id="21" name="Right Arrow 20">
            <a:extLst>
              <a:ext uri="{FF2B5EF4-FFF2-40B4-BE49-F238E27FC236}">
                <a16:creationId xmlns:a16="http://schemas.microsoft.com/office/drawing/2014/main" id="{9277CF32-74C4-33B4-D9BC-39FD5277FE5D}"/>
              </a:ext>
            </a:extLst>
          </p:cNvPr>
          <p:cNvSpPr/>
          <p:nvPr/>
        </p:nvSpPr>
        <p:spPr>
          <a:xfrm flipH="1">
            <a:off x="6779070" y="4260881"/>
            <a:ext cx="3291930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t Arrow 29">
            <a:extLst>
              <a:ext uri="{FF2B5EF4-FFF2-40B4-BE49-F238E27FC236}">
                <a16:creationId xmlns:a16="http://schemas.microsoft.com/office/drawing/2014/main" id="{DF3A0F92-02E7-E8A2-2C46-94F1FDF851BA}"/>
              </a:ext>
            </a:extLst>
          </p:cNvPr>
          <p:cNvSpPr/>
          <p:nvPr/>
        </p:nvSpPr>
        <p:spPr>
          <a:xfrm rot="16200000" flipH="1" flipV="1">
            <a:off x="14344440" y="2057508"/>
            <a:ext cx="1088545" cy="1906294"/>
          </a:xfrm>
          <a:prstGeom prst="bentArrow">
            <a:avLst>
              <a:gd name="adj1" fmla="val 17499"/>
              <a:gd name="adj2" fmla="val 21488"/>
              <a:gd name="adj3" fmla="val 25000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Arrow: Down 153">
            <a:extLst>
              <a:ext uri="{FF2B5EF4-FFF2-40B4-BE49-F238E27FC236}">
                <a16:creationId xmlns:a16="http://schemas.microsoft.com/office/drawing/2014/main" id="{251297EE-93FE-B3B3-B2BA-2484627D5594}"/>
              </a:ext>
            </a:extLst>
          </p:cNvPr>
          <p:cNvSpPr/>
          <p:nvPr/>
        </p:nvSpPr>
        <p:spPr>
          <a:xfrm>
            <a:off x="5862630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3" name="Arrow: Down 154">
            <a:extLst>
              <a:ext uri="{FF2B5EF4-FFF2-40B4-BE49-F238E27FC236}">
                <a16:creationId xmlns:a16="http://schemas.microsoft.com/office/drawing/2014/main" id="{E984A338-7187-851F-2794-2F8AC34536BA}"/>
              </a:ext>
            </a:extLst>
          </p:cNvPr>
          <p:cNvSpPr/>
          <p:nvPr/>
        </p:nvSpPr>
        <p:spPr>
          <a:xfrm>
            <a:off x="5863466" y="4986660"/>
            <a:ext cx="476961" cy="580424"/>
          </a:xfrm>
          <a:prstGeom prst="downArrow">
            <a:avLst>
              <a:gd name="adj1" fmla="val 47928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2" name="Rectangle: Rounded Corners 144">
            <a:extLst>
              <a:ext uri="{FF2B5EF4-FFF2-40B4-BE49-F238E27FC236}">
                <a16:creationId xmlns:a16="http://schemas.microsoft.com/office/drawing/2014/main" id="{71220B9C-1C9E-9D5D-FA5B-8361DAE7BF85}"/>
              </a:ext>
            </a:extLst>
          </p:cNvPr>
          <p:cNvSpPr/>
          <p:nvPr/>
        </p:nvSpPr>
        <p:spPr>
          <a:xfrm>
            <a:off x="13020051" y="3554927"/>
            <a:ext cx="5235234" cy="18637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742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2EFD37-1D5B-DE12-E1E8-3395C239FBA5}"/>
              </a:ext>
            </a:extLst>
          </p:cNvPr>
          <p:cNvSpPr txBox="1"/>
          <p:nvPr/>
        </p:nvSpPr>
        <p:spPr>
          <a:xfrm>
            <a:off x="13218651" y="3510798"/>
            <a:ext cx="5235234" cy="181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Sup. ML output for entity linking, </a:t>
            </a:r>
            <a:r>
              <a:rPr lang="en-IN" sz="3742" dirty="0" err="1"/>
              <a:t>rel</a:t>
            </a:r>
            <a:r>
              <a:rPr lang="en-IN" sz="3742" dirty="0"/>
              <a:t>/path retrieval</a:t>
            </a:r>
          </a:p>
          <a:p>
            <a:r>
              <a:rPr lang="en-IN" sz="3742" dirty="0"/>
              <a:t>+ Few-shot exemplars</a:t>
            </a:r>
          </a:p>
        </p:txBody>
      </p:sp>
      <p:sp>
        <p:nvSpPr>
          <p:cNvPr id="37" name="Arrow: Down 153">
            <a:extLst>
              <a:ext uri="{FF2B5EF4-FFF2-40B4-BE49-F238E27FC236}">
                <a16:creationId xmlns:a16="http://schemas.microsoft.com/office/drawing/2014/main" id="{E9E8660B-1D9E-D1D3-B9FE-204AB7CC139A}"/>
              </a:ext>
            </a:extLst>
          </p:cNvPr>
          <p:cNvSpPr/>
          <p:nvPr/>
        </p:nvSpPr>
        <p:spPr>
          <a:xfrm>
            <a:off x="10460922" y="3345530"/>
            <a:ext cx="477797" cy="6330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0ECE8A2C-77DF-C846-AC9F-7842D36113F9}"/>
              </a:ext>
            </a:extLst>
          </p:cNvPr>
          <p:cNvSpPr/>
          <p:nvPr/>
        </p:nvSpPr>
        <p:spPr>
          <a:xfrm flipH="1">
            <a:off x="11377363" y="4260881"/>
            <a:ext cx="1642684" cy="4180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551C04-9E05-71B8-FE28-CD165E11C7D7}"/>
              </a:ext>
            </a:extLst>
          </p:cNvPr>
          <p:cNvSpPr txBox="1"/>
          <p:nvPr/>
        </p:nvSpPr>
        <p:spPr>
          <a:xfrm>
            <a:off x="6670677" y="3690516"/>
            <a:ext cx="4502656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42" dirty="0"/>
              <a:t>Retrieval </a:t>
            </a:r>
            <a:r>
              <a:rPr lang="en-IN" sz="3742" dirty="0" err="1"/>
              <a:t>reranking</a:t>
            </a:r>
            <a:endParaRPr lang="en-IN" sz="3742" dirty="0"/>
          </a:p>
          <a:p>
            <a:endParaRPr lang="en-IN" sz="1000" dirty="0"/>
          </a:p>
          <a:p>
            <a:r>
              <a:rPr lang="en-IN" sz="3742" dirty="0"/>
              <a:t> and </a:t>
            </a:r>
            <a:r>
              <a:rPr lang="en-IN" sz="3742" dirty="0" err="1"/>
              <a:t>subselection</a:t>
            </a:r>
            <a:endParaRPr lang="en-IN" sz="3742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4C76DB-86DF-C37D-F3B7-B46DAE20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90" y="3993574"/>
            <a:ext cx="1154554" cy="10339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961DFB-8DAE-6D38-54C8-AC88324BC756}"/>
              </a:ext>
            </a:extLst>
          </p:cNvPr>
          <p:cNvSpPr/>
          <p:nvPr/>
        </p:nvSpPr>
        <p:spPr>
          <a:xfrm>
            <a:off x="5227986" y="5645770"/>
            <a:ext cx="155108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Logical Form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6" name="Bent Arrow 29">
            <a:extLst>
              <a:ext uri="{FF2B5EF4-FFF2-40B4-BE49-F238E27FC236}">
                <a16:creationId xmlns:a16="http://schemas.microsoft.com/office/drawing/2014/main" id="{9F96EC23-EDFB-5447-DA80-2458ABD87B07}"/>
              </a:ext>
            </a:extLst>
          </p:cNvPr>
          <p:cNvSpPr/>
          <p:nvPr/>
        </p:nvSpPr>
        <p:spPr>
          <a:xfrm rot="10800000" flipH="1" flipV="1">
            <a:off x="2481420" y="4034966"/>
            <a:ext cx="3098153" cy="1906294"/>
          </a:xfrm>
          <a:prstGeom prst="bentArrow">
            <a:avLst>
              <a:gd name="adj1" fmla="val 10004"/>
              <a:gd name="adj2" fmla="val 21488"/>
              <a:gd name="adj3" fmla="val 27625"/>
              <a:gd name="adj4" fmla="val 4908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826DF-D79F-F898-A124-C81556623790}"/>
              </a:ext>
            </a:extLst>
          </p:cNvPr>
          <p:cNvSpPr txBox="1"/>
          <p:nvPr/>
        </p:nvSpPr>
        <p:spPr>
          <a:xfrm>
            <a:off x="-215924" y="3660698"/>
            <a:ext cx="3251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3333FF"/>
                </a:solidFill>
              </a:rPr>
              <a:t>feedback</a:t>
            </a:r>
          </a:p>
          <a:p>
            <a:pPr algn="ctr"/>
            <a:r>
              <a:rPr lang="en-US" sz="3200" dirty="0">
                <a:solidFill>
                  <a:srgbClr val="3333FF"/>
                </a:solidFill>
              </a:rPr>
              <a:t>(e.g., syntactic correctness)</a:t>
            </a:r>
            <a:endParaRPr lang="en-IN" sz="3200" dirty="0">
              <a:solidFill>
                <a:srgbClr val="3333FF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A54E119-7019-853F-64FB-025755F3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1465006"/>
          </a:xfrm>
        </p:spPr>
        <p:txBody>
          <a:bodyPr/>
          <a:lstStyle/>
          <a:p>
            <a:r>
              <a:rPr lang="en-US" dirty="0"/>
              <a:t>Fun-</a:t>
            </a:r>
            <a:r>
              <a:rPr lang="en-US" dirty="0" err="1"/>
              <a:t>FuSIC</a:t>
            </a:r>
            <a:r>
              <a:rPr lang="en-US" dirty="0"/>
              <a:t>: Semantic Feedback</a:t>
            </a:r>
            <a:endParaRPr lang="en-IN" dirty="0"/>
          </a:p>
        </p:txBody>
      </p:sp>
      <p:sp>
        <p:nvSpPr>
          <p:cNvPr id="8" name="Arrow: Down 154">
            <a:extLst>
              <a:ext uri="{FF2B5EF4-FFF2-40B4-BE49-F238E27FC236}">
                <a16:creationId xmlns:a16="http://schemas.microsoft.com/office/drawing/2014/main" id="{CFB09588-3ACB-CACC-5778-1F22AF20A780}"/>
              </a:ext>
            </a:extLst>
          </p:cNvPr>
          <p:cNvSpPr/>
          <p:nvPr/>
        </p:nvSpPr>
        <p:spPr>
          <a:xfrm>
            <a:off x="5831594" y="8170974"/>
            <a:ext cx="476961" cy="580424"/>
          </a:xfrm>
          <a:prstGeom prst="downArrow">
            <a:avLst>
              <a:gd name="adj1" fmla="val 47928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6A4664-0C41-3BDD-822B-99CE4312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418" y="7177888"/>
            <a:ext cx="1154554" cy="1033929"/>
          </a:xfrm>
          <a:prstGeom prst="rect">
            <a:avLst/>
          </a:prstGeom>
        </p:spPr>
      </p:pic>
      <p:sp>
        <p:nvSpPr>
          <p:cNvPr id="10" name="Arrow: Down 154">
            <a:extLst>
              <a:ext uri="{FF2B5EF4-FFF2-40B4-BE49-F238E27FC236}">
                <a16:creationId xmlns:a16="http://schemas.microsoft.com/office/drawing/2014/main" id="{797CC6FB-2483-0E16-1651-D76CA1043BB5}"/>
              </a:ext>
            </a:extLst>
          </p:cNvPr>
          <p:cNvSpPr/>
          <p:nvPr/>
        </p:nvSpPr>
        <p:spPr>
          <a:xfrm>
            <a:off x="5849214" y="6560170"/>
            <a:ext cx="476961" cy="580424"/>
          </a:xfrm>
          <a:prstGeom prst="downArrow">
            <a:avLst>
              <a:gd name="adj1" fmla="val 47928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20E98F-BCF2-E71D-66DA-ACB0CD6EF434}"/>
              </a:ext>
            </a:extLst>
          </p:cNvPr>
          <p:cNvSpPr/>
          <p:nvPr/>
        </p:nvSpPr>
        <p:spPr>
          <a:xfrm>
            <a:off x="4896644" y="8824788"/>
            <a:ext cx="2374119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333FF"/>
                </a:solidFill>
              </a:rPr>
              <a:t>Back-translated question</a:t>
            </a:r>
            <a:endParaRPr lang="en-IN" sz="2400" b="1" dirty="0">
              <a:solidFill>
                <a:srgbClr val="3333FF"/>
              </a:solidFill>
            </a:endParaRPr>
          </a:p>
        </p:txBody>
      </p:sp>
      <p:sp>
        <p:nvSpPr>
          <p:cNvPr id="12" name="Bent Arrow 37">
            <a:extLst>
              <a:ext uri="{FF2B5EF4-FFF2-40B4-BE49-F238E27FC236}">
                <a16:creationId xmlns:a16="http://schemas.microsoft.com/office/drawing/2014/main" id="{86DDB682-AAE0-D43F-1F7C-954CA0DD267E}"/>
              </a:ext>
            </a:extLst>
          </p:cNvPr>
          <p:cNvSpPr/>
          <p:nvPr/>
        </p:nvSpPr>
        <p:spPr>
          <a:xfrm rot="16200000" flipV="1">
            <a:off x="7781916" y="7073447"/>
            <a:ext cx="1857450" cy="2880321"/>
          </a:xfrm>
          <a:prstGeom prst="bentArrow">
            <a:avLst>
              <a:gd name="adj1" fmla="val 17359"/>
              <a:gd name="adj2" fmla="val 28924"/>
              <a:gd name="adj3" fmla="val 25000"/>
              <a:gd name="adj4" fmla="val 56509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Arrow: Down 153">
            <a:extLst>
              <a:ext uri="{FF2B5EF4-FFF2-40B4-BE49-F238E27FC236}">
                <a16:creationId xmlns:a16="http://schemas.microsoft.com/office/drawing/2014/main" id="{0417D3FE-7036-7C9C-9B68-2D0C0988CA26}"/>
              </a:ext>
            </a:extLst>
          </p:cNvPr>
          <p:cNvSpPr/>
          <p:nvPr/>
        </p:nvSpPr>
        <p:spPr>
          <a:xfrm>
            <a:off x="9387399" y="3277048"/>
            <a:ext cx="477797" cy="3283122"/>
          </a:xfrm>
          <a:prstGeom prst="downArrow">
            <a:avLst>
              <a:gd name="adj1" fmla="val 50000"/>
              <a:gd name="adj2" fmla="val 64951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7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57E1D-4577-E23E-7677-E6401F160B0B}"/>
              </a:ext>
            </a:extLst>
          </p:cNvPr>
          <p:cNvSpPr txBox="1"/>
          <p:nvPr/>
        </p:nvSpPr>
        <p:spPr>
          <a:xfrm>
            <a:off x="10585276" y="6511970"/>
            <a:ext cx="3806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3333FF"/>
                </a:solidFill>
              </a:rPr>
              <a:t>are they semantically equivalent?</a:t>
            </a:r>
            <a:endParaRPr lang="en-IN" sz="3200" dirty="0">
              <a:solidFill>
                <a:srgbClr val="3333FF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27F6692-BCD4-C78A-5C85-B0991FE9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440" y="6570836"/>
            <a:ext cx="1154554" cy="1033929"/>
          </a:xfrm>
          <a:prstGeom prst="rect">
            <a:avLst/>
          </a:prstGeom>
        </p:spPr>
      </p:pic>
      <p:sp>
        <p:nvSpPr>
          <p:cNvPr id="35" name="Right Arrow 38">
            <a:extLst>
              <a:ext uri="{FF2B5EF4-FFF2-40B4-BE49-F238E27FC236}">
                <a16:creationId xmlns:a16="http://schemas.microsoft.com/office/drawing/2014/main" id="{0E54163C-7CD4-9FB0-8C7F-92E31FB0DDC7}"/>
              </a:ext>
            </a:extLst>
          </p:cNvPr>
          <p:cNvSpPr/>
          <p:nvPr/>
        </p:nvSpPr>
        <p:spPr>
          <a:xfrm flipH="1">
            <a:off x="3079986" y="5850756"/>
            <a:ext cx="2131457" cy="52931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ight Arrow 38">
            <a:extLst>
              <a:ext uri="{FF2B5EF4-FFF2-40B4-BE49-F238E27FC236}">
                <a16:creationId xmlns:a16="http://schemas.microsoft.com/office/drawing/2014/main" id="{01BE2AFE-CD58-B7A8-73D9-B6F98EBB8749}"/>
              </a:ext>
            </a:extLst>
          </p:cNvPr>
          <p:cNvSpPr/>
          <p:nvPr/>
        </p:nvSpPr>
        <p:spPr>
          <a:xfrm rot="2150133" flipH="1">
            <a:off x="6251673" y="5792954"/>
            <a:ext cx="3146202" cy="28032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091BD1-F10C-ED63-0E16-1B4644F5C03E}"/>
              </a:ext>
            </a:extLst>
          </p:cNvPr>
          <p:cNvSpPr txBox="1"/>
          <p:nvPr/>
        </p:nvSpPr>
        <p:spPr>
          <a:xfrm>
            <a:off x="6033420" y="6173698"/>
            <a:ext cx="32513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3333FF"/>
                </a:solidFill>
              </a:rPr>
              <a:t>semantic</a:t>
            </a:r>
          </a:p>
          <a:p>
            <a:pPr algn="ctr"/>
            <a:r>
              <a:rPr lang="en-IN" sz="3200" dirty="0">
                <a:solidFill>
                  <a:srgbClr val="3333FF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243518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27" grpId="0" animBg="1"/>
      <p:bldP spid="28" grpId="0"/>
      <p:bldP spid="38" grpId="0" animBg="1"/>
      <p:bldP spid="4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Experiments: Transfer Learning over Robust KBQA</a:t>
            </a:r>
            <a:br>
              <a:rPr lang="en-US" dirty="0"/>
            </a:br>
            <a:r>
              <a:rPr lang="en-US" sz="4900" dirty="0">
                <a:solidFill>
                  <a:schemeClr val="accent2">
                    <a:lumMod val="50000"/>
                  </a:schemeClr>
                </a:solidFill>
              </a:rPr>
              <a:t>[Sawhney et al, ACL Findings’25]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1088653"/>
              </p:ext>
            </p:extLst>
          </p:nvPr>
        </p:nvGraphicFramePr>
        <p:xfrm>
          <a:off x="432149" y="3618508"/>
          <a:ext cx="1728700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4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4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24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24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Data</a:t>
                      </a:r>
                      <a:endParaRPr lang="en-IN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Model</a:t>
                      </a:r>
                      <a:endParaRPr lang="en-IN" sz="4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Overall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Answerable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Unanswerable</a:t>
                      </a:r>
                      <a:endParaRPr lang="en-IN" sz="4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40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EM</a:t>
                      </a:r>
                      <a:endParaRPr lang="en-IN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b="1" dirty="0" err="1"/>
                        <a:t>WebQSP</a:t>
                      </a:r>
                      <a:endParaRPr lang="en-US" sz="3200" b="1" dirty="0"/>
                    </a:p>
                    <a:p>
                      <a:pPr algn="ctr"/>
                      <a:r>
                        <a:rPr lang="en-US" sz="3200" b="1" dirty="0"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3200" b="1" spc="-150" dirty="0" err="1">
                          <a:sym typeface="Wingdings" panose="05000000000000000000" pitchFamily="2" charset="2"/>
                        </a:rPr>
                        <a:t>GrailQAbility</a:t>
                      </a:r>
                      <a:endParaRPr lang="en-IN" sz="3200" b="1" spc="-15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3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FuSIC</a:t>
                      </a:r>
                      <a:r>
                        <a:rPr kumimoji="0" lang="en-US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-U</a:t>
                      </a:r>
                      <a:endParaRPr lang="en-IN" sz="3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76.6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48.2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67.5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59.2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85.6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37.2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Fun-</a:t>
                      </a:r>
                      <a:r>
                        <a:rPr lang="en-US" sz="3600" dirty="0" err="1"/>
                        <a:t>FuSIC</a:t>
                      </a:r>
                      <a:endParaRPr lang="en-IN" sz="3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76.1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60.2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67.1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61.2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80.0</a:t>
                      </a:r>
                      <a:endParaRPr lang="en-IN" sz="4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59.2</a:t>
                      </a:r>
                      <a:endParaRPr lang="en-IN" sz="4000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b="1" dirty="0" err="1"/>
                        <a:t>WebQSP</a:t>
                      </a:r>
                      <a:endParaRPr lang="en-US" sz="3200" b="1" dirty="0"/>
                    </a:p>
                    <a:p>
                      <a:pPr algn="ctr"/>
                      <a:r>
                        <a:rPr lang="en-US" sz="3200" b="1" dirty="0"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3200" b="1" spc="-150" dirty="0" err="1">
                          <a:sym typeface="Wingdings" panose="05000000000000000000" pitchFamily="2" charset="2"/>
                        </a:rPr>
                        <a:t>GraphQAbility</a:t>
                      </a:r>
                      <a:endParaRPr lang="en-IN" sz="3200" b="1" spc="-15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FuSIC</a:t>
                      </a:r>
                      <a:r>
                        <a:rPr kumimoji="0" lang="en-US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-U</a:t>
                      </a:r>
                      <a:endParaRPr lang="en-IN" sz="3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67.5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34.8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49.3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40.0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85.7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29.6</a:t>
                      </a:r>
                      <a:endParaRPr lang="en-IN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b="1" spc="-3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4257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Fun-</a:t>
                      </a:r>
                      <a:r>
                        <a:rPr lang="en-US" sz="3600" dirty="0" err="1"/>
                        <a:t>FuSIC</a:t>
                      </a:r>
                      <a:endParaRPr lang="en-IN" sz="3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70.0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53.8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50.7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42.8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89.2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64.8</a:t>
                      </a:r>
                      <a:endParaRPr lang="en-IN" sz="4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2337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TakeAways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Feedback to LLMs for solving more complex AI problems</a:t>
            </a:r>
          </a:p>
          <a:p>
            <a:endParaRPr lang="en-US" dirty="0"/>
          </a:p>
          <a:p>
            <a:r>
              <a:rPr lang="en-US" dirty="0"/>
              <a:t>Calibration of LLMs via self consistency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3275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2" y="6140742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 KBQA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470963"/>
              </p:ext>
            </p:extLst>
          </p:nvPr>
        </p:nvGraphicFramePr>
        <p:xfrm>
          <a:off x="2736404" y="2898428"/>
          <a:ext cx="1267354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/>
                      <a:endParaRPr lang="en-IN" sz="4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In-Domain Training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Transfer Learning</a:t>
                      </a:r>
                      <a:endParaRPr lang="en-IN" sz="4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chemeClr val="bg1"/>
                          </a:solidFill>
                        </a:rPr>
                        <a:t>Answerable Only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/>
                    </a:p>
                    <a:p>
                      <a:pPr algn="ctr"/>
                      <a:r>
                        <a:rPr lang="en-US" sz="4800" dirty="0">
                          <a:solidFill>
                            <a:schemeClr val="tx1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Answerable</a:t>
                      </a:r>
                      <a:r>
                        <a:rPr lang="en-US" sz="4800" b="1" baseline="0" dirty="0">
                          <a:solidFill>
                            <a:schemeClr val="bg1"/>
                          </a:solidFill>
                        </a:rPr>
                        <a:t> + Unanswerable</a:t>
                      </a:r>
                      <a:endParaRPr lang="en-IN" sz="4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SLM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800" dirty="0">
                        <a:solidFill>
                          <a:srgbClr val="3333FF"/>
                        </a:solidFill>
                      </a:endParaRPr>
                    </a:p>
                    <a:p>
                      <a:pPr algn="ctr"/>
                      <a:r>
                        <a:rPr lang="en-US" sz="4800" dirty="0">
                          <a:solidFill>
                            <a:srgbClr val="3333FF"/>
                          </a:solidFill>
                        </a:rPr>
                        <a:t>LLM+</a:t>
                      </a:r>
                      <a:endParaRPr lang="en-IN" sz="48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37404" y="8659068"/>
            <a:ext cx="2319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*our work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96844" y="8659068"/>
            <a:ext cx="3384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*previous work</a:t>
            </a:r>
            <a:endParaRPr lang="en-IN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648172" y="6210796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38811" y="2034332"/>
            <a:ext cx="1929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3333FF"/>
                </a:solidFill>
              </a:rPr>
              <a:t>datasets</a:t>
            </a:r>
            <a:endParaRPr lang="en-IN" sz="4000" dirty="0">
              <a:solidFill>
                <a:srgbClr val="3333FF"/>
              </a:solidFill>
            </a:endParaRPr>
          </a:p>
        </p:txBody>
      </p:sp>
      <p:pic>
        <p:nvPicPr>
          <p:cNvPr id="11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868" y="6586939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694" y="5057423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3989" y="5166561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388" y="2018635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00" y="6642844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Download Check Mark, Tick Mark, Check. Royalty-Free Vector Graphic -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472" y="6642844"/>
            <a:ext cx="864196" cy="8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7352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Value of Semantic Parsing for QA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0502453" cy="7237115"/>
          </a:xfrm>
        </p:spPr>
        <p:txBody>
          <a:bodyPr/>
          <a:lstStyle/>
          <a:p>
            <a:r>
              <a:rPr lang="en-US" dirty="0">
                <a:solidFill>
                  <a:srgbClr val="3333FF"/>
                </a:solidFill>
              </a:rPr>
              <a:t>LM as a semantic parser</a:t>
            </a:r>
            <a:endParaRPr lang="en-IN" dirty="0">
              <a:solidFill>
                <a:srgbClr val="3333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387676" y="3402484"/>
            <a:ext cx="3205712" cy="3096344"/>
            <a:chOff x="6120780" y="3402484"/>
            <a:chExt cx="4395201" cy="427005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0780" y="3402484"/>
              <a:ext cx="2230452" cy="217514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2085" y="5490716"/>
              <a:ext cx="2189148" cy="2133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1233" y="3406552"/>
              <a:ext cx="2164748" cy="2171081"/>
            </a:xfrm>
            <a:prstGeom prst="rect">
              <a:avLst/>
            </a:prstGeom>
          </p:spPr>
        </p:pic>
        <p:pic>
          <p:nvPicPr>
            <p:cNvPr id="9" name="Picture 2" descr="Google Gemini icon PNG and SVG Vector Free Downloa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856" y="5529412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6155428" y="4266580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1237" y="3546500"/>
            <a:ext cx="49895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What papers has Chris Manning written in EMNLP?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140" y="5130676"/>
            <a:ext cx="69127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/>
              <a:t>** </a:t>
            </a:r>
            <a:r>
              <a:rPr lang="en-US" sz="3200" i="1" dirty="0" err="1"/>
              <a:t>GloVe</a:t>
            </a:r>
            <a:r>
              <a:rPr lang="en-US" sz="3200" i="1" dirty="0"/>
              <a:t>: Global Vectors for Word Representation** (2014) </a:t>
            </a:r>
          </a:p>
          <a:p>
            <a:endParaRPr lang="en-US" sz="3200" i="1" dirty="0"/>
          </a:p>
          <a:p>
            <a:r>
              <a:rPr lang="en-US" sz="3200" i="1" dirty="0"/>
              <a:t>** </a:t>
            </a:r>
            <a:r>
              <a:rPr lang="en-US" sz="3200" i="1" dirty="0" err="1"/>
              <a:t>HotpotQA</a:t>
            </a:r>
            <a:r>
              <a:rPr lang="en-US" sz="3200" i="1" dirty="0"/>
              <a:t>: A dataset for diverse, explainable multi-hop question answering ** (2018)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3318693" y="2830984"/>
            <a:ext cx="55714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3333FF"/>
                </a:solidFill>
              </a:rPr>
              <a:t>Knowledge in KB/DB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/>
              <p:cNvSpPr txBox="1">
                <a:spLocks/>
              </p:cNvSpPr>
              <p:nvPr/>
            </p:nvSpPr>
            <p:spPr>
              <a:xfrm>
                <a:off x="12313468" y="4050184"/>
                <a:ext cx="684076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56433" indent="-356433" algn="l" defTabSz="1425732" rtl="0" eaLnBrk="1" latinLnBrk="0" hangingPunct="1">
                  <a:lnSpc>
                    <a:spcPct val="90000"/>
                  </a:lnSpc>
                  <a:spcBef>
                    <a:spcPts val="1559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069299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782166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95032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207898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920764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633631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46497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59363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sz="3600" dirty="0"/>
                  <a:t>limited applicability</a:t>
                </a:r>
              </a:p>
              <a:p>
                <a:pPr lvl="1"/>
                <a:r>
                  <a:rPr lang="en-US" sz="3600" dirty="0"/>
                  <a:t>domain-specific training data</a:t>
                </a:r>
              </a:p>
              <a:p>
                <a:pPr lvl="1"/>
                <a:r>
                  <a:rPr lang="en-US" sz="3600" dirty="0"/>
                  <a:t>hallucinatory if </a:t>
                </a:r>
                <a:r>
                  <a:rPr lang="en-US" sz="3600" dirty="0" err="1"/>
                  <a:t>ans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KB</a:t>
                </a:r>
              </a:p>
              <a:p>
                <a:pPr lvl="1"/>
                <a:r>
                  <a:rPr lang="en-US" sz="3600" dirty="0"/>
                  <a:t>models can be lightweight</a:t>
                </a:r>
              </a:p>
              <a:p>
                <a:pPr lvl="1"/>
                <a:r>
                  <a:rPr lang="en-US" sz="3600" dirty="0"/>
                  <a:t>fast at test time</a:t>
                </a:r>
              </a:p>
              <a:p>
                <a:pPr lvl="1"/>
                <a:r>
                  <a:rPr lang="en-US" sz="3600" dirty="0"/>
                  <a:t>real-time data updates</a:t>
                </a:r>
              </a:p>
              <a:p>
                <a:pPr lvl="1"/>
                <a:r>
                  <a:rPr lang="en-US" sz="3600" dirty="0"/>
                  <a:t>provenance</a:t>
                </a:r>
              </a:p>
              <a:p>
                <a:pPr lvl="1"/>
                <a:r>
                  <a:rPr lang="en-US" sz="3600" dirty="0"/>
                  <a:t>proprietary data</a:t>
                </a:r>
              </a:p>
            </p:txBody>
          </p:sp>
        </mc:Choice>
        <mc:Fallback xmlns="">
          <p:sp>
            <p:nvSpPr>
              <p:cNvPr id="1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3468" y="4050184"/>
                <a:ext cx="6840760" cy="4525963"/>
              </a:xfrm>
              <a:prstGeom prst="rect">
                <a:avLst/>
              </a:prstGeom>
              <a:blipFill rotWithShape="0">
                <a:blip r:embed="rId6"/>
                <a:stretch>
                  <a:fillRect t="-3230" b="-10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616" y="4191117"/>
            <a:ext cx="385762" cy="3857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4770636"/>
            <a:ext cx="385762" cy="38576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8324750"/>
            <a:ext cx="385762" cy="384048"/>
          </a:xfrm>
          <a:prstGeom prst="rect">
            <a:avLst/>
          </a:prstGeom>
        </p:spPr>
      </p:pic>
      <p:sp>
        <p:nvSpPr>
          <p:cNvPr id="23" name="Line 5"/>
          <p:cNvSpPr>
            <a:spLocks noChangeShapeType="1"/>
          </p:cNvSpPr>
          <p:nvPr/>
        </p:nvSpPr>
        <p:spPr bwMode="auto">
          <a:xfrm flipV="1">
            <a:off x="9577164" y="6498828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AutoShape 2" descr="What is the world wide web(www) | Motiv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772694"/>
            <a:ext cx="385762" cy="38404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64996" y="7146900"/>
            <a:ext cx="13786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logical</a:t>
            </a:r>
          </a:p>
          <a:p>
            <a:r>
              <a:rPr lang="en-US" sz="3200" dirty="0"/>
              <a:t>form</a:t>
            </a:r>
            <a:endParaRPr lang="en-IN" sz="32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196630"/>
            <a:ext cx="385762" cy="38404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6596558"/>
            <a:ext cx="385762" cy="38404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6020494"/>
            <a:ext cx="385762" cy="3840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9370" y="8593261"/>
            <a:ext cx="1945946" cy="156829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1539" y="5300414"/>
            <a:ext cx="493439" cy="513829"/>
          </a:xfrm>
          <a:prstGeom prst="rect">
            <a:avLst/>
          </a:prstGeom>
        </p:spPr>
      </p:pic>
      <p:sp>
        <p:nvSpPr>
          <p:cNvPr id="36" name="Line 5"/>
          <p:cNvSpPr>
            <a:spLocks noChangeShapeType="1"/>
          </p:cNvSpPr>
          <p:nvPr/>
        </p:nvSpPr>
        <p:spPr bwMode="auto">
          <a:xfrm flipV="1">
            <a:off x="10297244" y="6426820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358788" y="7146900"/>
            <a:ext cx="16263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answers</a:t>
            </a:r>
            <a:endParaRPr lang="en-IN" sz="3200" dirty="0"/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6192788" y="5778748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793591" y="4050184"/>
            <a:ext cx="6144613" cy="176405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7173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Paradigms of Information-Seeking Conversational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959" y="2394372"/>
            <a:ext cx="10502453" cy="7237115"/>
          </a:xfrm>
        </p:spPr>
        <p:txBody>
          <a:bodyPr/>
          <a:lstStyle/>
          <a:p>
            <a:r>
              <a:rPr lang="en-US" dirty="0">
                <a:solidFill>
                  <a:srgbClr val="3333FF"/>
                </a:solidFill>
              </a:rPr>
              <a:t>LM as a semantic parser</a:t>
            </a:r>
            <a:endParaRPr lang="en-IN" dirty="0">
              <a:solidFill>
                <a:srgbClr val="3333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387676" y="3402484"/>
            <a:ext cx="3205712" cy="3096344"/>
            <a:chOff x="6120780" y="3402484"/>
            <a:chExt cx="4395201" cy="427005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0780" y="3402484"/>
              <a:ext cx="2230452" cy="217514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2085" y="5490716"/>
              <a:ext cx="2189148" cy="2133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1233" y="3406552"/>
              <a:ext cx="2164748" cy="2171081"/>
            </a:xfrm>
            <a:prstGeom prst="rect">
              <a:avLst/>
            </a:prstGeom>
          </p:spPr>
        </p:pic>
        <p:pic>
          <p:nvPicPr>
            <p:cNvPr id="9" name="Picture 2" descr="Google Gemini icon PNG and SVG Vector Free Downloa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856" y="5529412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6155428" y="4266580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1237" y="3546500"/>
            <a:ext cx="49895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What papers has Chris Manning written in EMNLP?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140" y="5130676"/>
            <a:ext cx="69127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/>
              <a:t>** </a:t>
            </a:r>
            <a:r>
              <a:rPr lang="en-US" sz="3200" i="1" dirty="0" err="1"/>
              <a:t>GloVe</a:t>
            </a:r>
            <a:r>
              <a:rPr lang="en-US" sz="3200" i="1" dirty="0"/>
              <a:t>: Global Vectors for Word Representation** (2014) </a:t>
            </a:r>
          </a:p>
          <a:p>
            <a:endParaRPr lang="en-US" sz="3200" i="1" dirty="0"/>
          </a:p>
          <a:p>
            <a:r>
              <a:rPr lang="en-US" sz="3200" i="1" dirty="0"/>
              <a:t>** </a:t>
            </a:r>
            <a:r>
              <a:rPr lang="en-US" sz="3200" i="1" dirty="0" err="1"/>
              <a:t>HotpotQA</a:t>
            </a:r>
            <a:r>
              <a:rPr lang="en-US" sz="3200" i="1" dirty="0"/>
              <a:t>: A dataset for diverse, explainable multi-hop question answering ** (2018)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3318693" y="2830984"/>
            <a:ext cx="55714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3333FF"/>
                </a:solidFill>
              </a:rPr>
              <a:t>Knowledge in KB/DB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2"/>
              <p:cNvSpPr txBox="1">
                <a:spLocks/>
              </p:cNvSpPr>
              <p:nvPr/>
            </p:nvSpPr>
            <p:spPr>
              <a:xfrm>
                <a:off x="12313468" y="4050184"/>
                <a:ext cx="684076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56433" indent="-356433" algn="l" defTabSz="1425732" rtl="0" eaLnBrk="1" latinLnBrk="0" hangingPunct="1">
                  <a:lnSpc>
                    <a:spcPct val="90000"/>
                  </a:lnSpc>
                  <a:spcBef>
                    <a:spcPts val="1559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069299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782166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95032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207898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4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920764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633631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46497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059363" indent="-356433" algn="l" defTabSz="1425732" rtl="0" eaLnBrk="1" latinLnBrk="0" hangingPunct="1">
                  <a:lnSpc>
                    <a:spcPct val="90000"/>
                  </a:lnSpc>
                  <a:spcBef>
                    <a:spcPts val="780"/>
                  </a:spcBef>
                  <a:buFont typeface="Arial" panose="020B0604020202020204" pitchFamily="34" charset="0"/>
                  <a:buChar char="•"/>
                  <a:defRPr sz="28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sz="3600" dirty="0">
                    <a:solidFill>
                      <a:srgbClr val="3333FF"/>
                    </a:solidFill>
                  </a:rPr>
                  <a:t>limited applicability</a:t>
                </a:r>
              </a:p>
              <a:p>
                <a:pPr lvl="1"/>
                <a:r>
                  <a:rPr lang="en-US" sz="3600" dirty="0">
                    <a:solidFill>
                      <a:srgbClr val="3333FF"/>
                    </a:solidFill>
                  </a:rPr>
                  <a:t>low data/transfer settings</a:t>
                </a:r>
              </a:p>
              <a:p>
                <a:pPr lvl="1"/>
                <a:r>
                  <a:rPr lang="en-US" sz="3600" dirty="0">
                    <a:solidFill>
                      <a:srgbClr val="3333FF"/>
                    </a:solidFill>
                  </a:rPr>
                  <a:t>less hallucinatory if </a:t>
                </a:r>
                <a:r>
                  <a:rPr lang="en-US" sz="3600" dirty="0" err="1">
                    <a:solidFill>
                      <a:srgbClr val="3333FF"/>
                    </a:solidFill>
                  </a:rPr>
                  <a:t>ans</a:t>
                </a:r>
                <a:r>
                  <a:rPr lang="en-US" sz="3600" dirty="0">
                    <a:solidFill>
                      <a:srgbClr val="3333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3600" b="0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3333FF"/>
                    </a:solidFill>
                  </a:rPr>
                  <a:t>KB</a:t>
                </a:r>
              </a:p>
              <a:p>
                <a:pPr lvl="1"/>
                <a:r>
                  <a:rPr lang="en-US" sz="3600" dirty="0"/>
                  <a:t>models can be lightweight</a:t>
                </a:r>
              </a:p>
              <a:p>
                <a:pPr lvl="1"/>
                <a:r>
                  <a:rPr lang="en-US" sz="3600" dirty="0"/>
                  <a:t>fast at test time</a:t>
                </a:r>
              </a:p>
              <a:p>
                <a:pPr lvl="1"/>
                <a:r>
                  <a:rPr lang="en-US" sz="3600" dirty="0"/>
                  <a:t>real-time data updates</a:t>
                </a:r>
              </a:p>
              <a:p>
                <a:pPr lvl="1"/>
                <a:r>
                  <a:rPr lang="en-US" sz="3600" dirty="0"/>
                  <a:t>provenance</a:t>
                </a:r>
              </a:p>
              <a:p>
                <a:pPr lvl="1"/>
                <a:r>
                  <a:rPr lang="en-US" sz="3600" dirty="0"/>
                  <a:t>proprietary data</a:t>
                </a:r>
              </a:p>
            </p:txBody>
          </p:sp>
        </mc:Choice>
        <mc:Fallback>
          <p:sp>
            <p:nvSpPr>
              <p:cNvPr id="1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3468" y="4050184"/>
                <a:ext cx="6840760" cy="4525963"/>
              </a:xfrm>
              <a:prstGeom prst="rect">
                <a:avLst/>
              </a:prstGeom>
              <a:blipFill>
                <a:blip r:embed="rId6"/>
                <a:stretch>
                  <a:fillRect t="-3230" b="-10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8324750"/>
            <a:ext cx="385762" cy="384048"/>
          </a:xfrm>
          <a:prstGeom prst="rect">
            <a:avLst/>
          </a:prstGeom>
        </p:spPr>
      </p:pic>
      <p:sp>
        <p:nvSpPr>
          <p:cNvPr id="23" name="Line 5"/>
          <p:cNvSpPr>
            <a:spLocks noChangeShapeType="1"/>
          </p:cNvSpPr>
          <p:nvPr/>
        </p:nvSpPr>
        <p:spPr bwMode="auto">
          <a:xfrm flipV="1">
            <a:off x="9577164" y="6498828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AutoShape 2" descr="What is the world wide web(www) | Motiv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772694"/>
            <a:ext cx="385762" cy="38404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64996" y="7146900"/>
            <a:ext cx="13786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logical</a:t>
            </a:r>
          </a:p>
          <a:p>
            <a:r>
              <a:rPr lang="en-US" sz="3200" dirty="0"/>
              <a:t>form</a:t>
            </a:r>
            <a:endParaRPr lang="en-IN" sz="32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7196630"/>
            <a:ext cx="385762" cy="38404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6596558"/>
            <a:ext cx="385762" cy="38404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6020494"/>
            <a:ext cx="385762" cy="3840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9370" y="8593261"/>
            <a:ext cx="1945946" cy="1568296"/>
          </a:xfrm>
          <a:prstGeom prst="rect">
            <a:avLst/>
          </a:prstGeom>
        </p:spPr>
      </p:pic>
      <p:sp>
        <p:nvSpPr>
          <p:cNvPr id="36" name="Line 5"/>
          <p:cNvSpPr>
            <a:spLocks noChangeShapeType="1"/>
          </p:cNvSpPr>
          <p:nvPr/>
        </p:nvSpPr>
        <p:spPr bwMode="auto">
          <a:xfrm flipV="1">
            <a:off x="10297244" y="6426820"/>
            <a:ext cx="0" cy="20773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358788" y="7146900"/>
            <a:ext cx="16263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answers</a:t>
            </a:r>
            <a:endParaRPr lang="en-IN" sz="3200" dirty="0"/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6192788" y="5778748"/>
            <a:ext cx="215260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793591" y="3998284"/>
            <a:ext cx="6144613" cy="181596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826" y="5274692"/>
            <a:ext cx="385762" cy="3840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6C3C7C-90FF-F3DE-D38E-F1706B3000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1539" y="4688855"/>
            <a:ext cx="493439" cy="513829"/>
          </a:xfrm>
          <a:prstGeom prst="rect">
            <a:avLst/>
          </a:prstGeom>
        </p:spPr>
      </p:pic>
      <p:pic>
        <p:nvPicPr>
          <p:cNvPr id="19" name="Picture 18" descr="The image depicts a yellow circle with a black dot for eyes and a black circle for a mouth, resembling a simplified, cartoon-like expression.&#10;&#10;AI-generated content may be incorrect.">
            <a:extLst>
              <a:ext uri="{FF2B5EF4-FFF2-40B4-BE49-F238E27FC236}">
                <a16:creationId xmlns:a16="http://schemas.microsoft.com/office/drawing/2014/main" id="{A118C593-36A8-44A7-BDD5-6A8F54D749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5103" y="4025885"/>
            <a:ext cx="493439" cy="51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53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56" y="2551475"/>
            <a:ext cx="4222661" cy="175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www.huawei.com/-/media/corporate/images/home/lo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683" y="2466380"/>
            <a:ext cx="2088232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1465006"/>
          </a:xfrm>
        </p:spPr>
        <p:txBody>
          <a:bodyPr/>
          <a:lstStyle/>
          <a:p>
            <a:r>
              <a:rPr lang="en-US" dirty="0"/>
              <a:t>Thanks!</a:t>
            </a:r>
            <a:endParaRPr lang="en-IN" dirty="0"/>
          </a:p>
        </p:txBody>
      </p:sp>
      <p:pic>
        <p:nvPicPr>
          <p:cNvPr id="7" name="Picture 2" descr="Image result for ibm research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903" y="2538388"/>
            <a:ext cx="3361690" cy="17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TCS Research (@TCSResearch) / X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748" y="501089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Microsoft Education response - Global Education Coaliti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9043" y="4869309"/>
            <a:ext cx="8134057" cy="3645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 descr="Wipro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Wipro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Wipro - Wikipedi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 descr="undefine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5649" y="5476880"/>
            <a:ext cx="3413883" cy="268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FA6B642-6AFB-3A28-5BDB-AB53C3EF9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7564" y="2624231"/>
            <a:ext cx="5514535" cy="17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Leading source of information about insurance risk">
            <a:extLst>
              <a:ext uri="{FF2B5EF4-FFF2-40B4-BE49-F238E27FC236}">
                <a16:creationId xmlns:a16="http://schemas.microsoft.com/office/drawing/2014/main" id="{52C28DC8-8A43-C66E-797B-9D2C07ED1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7564" y="5922764"/>
            <a:ext cx="5141746" cy="153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ED3815-CB28-303C-D3B0-BB7E69220A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022" y="7461199"/>
            <a:ext cx="54959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8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Earth’s history Spread of life</Template>
  <TotalTime>4770</TotalTime>
  <Words>5159</Words>
  <Application>Microsoft Office PowerPoint</Application>
  <PresentationFormat>Custom</PresentationFormat>
  <Paragraphs>1072</Paragraphs>
  <Slides>76</Slides>
  <Notes>17</Notes>
  <HiddenSlides>7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7" baseType="lpstr">
      <vt:lpstr>Arial</vt:lpstr>
      <vt:lpstr>Calibri</vt:lpstr>
      <vt:lpstr>Calibri Light</vt:lpstr>
      <vt:lpstr>Cambria Math</vt:lpstr>
      <vt:lpstr>Consolas</vt:lpstr>
      <vt:lpstr>Helvetica Neue</vt:lpstr>
      <vt:lpstr>Lexend SemiBold</vt:lpstr>
      <vt:lpstr>Noto Sans Symbols</vt:lpstr>
      <vt:lpstr>Proxima Nova</vt:lpstr>
      <vt:lpstr>Wingdings</vt:lpstr>
      <vt:lpstr>Office Theme</vt:lpstr>
      <vt:lpstr>Semantic Parsing for KBQA:  Robustness, Reasoning &amp; Efficiency</vt:lpstr>
      <vt:lpstr>Conversational AI: Information at our Finger Tips!</vt:lpstr>
      <vt:lpstr>Three Paradigms of Information-Seeking Conversational AI</vt:lpstr>
      <vt:lpstr>Three Paradigms of Information-Seeking Conversational AI</vt:lpstr>
      <vt:lpstr>The Value of Semantic Parsing for QA</vt:lpstr>
      <vt:lpstr>Case Studies in Semantic Parsing</vt:lpstr>
      <vt:lpstr>Case Studies in Semantic Parsing</vt:lpstr>
      <vt:lpstr>Text  Query Languages</vt:lpstr>
      <vt:lpstr>∗STARQA: Structured Data Analytics &amp; Reasoning QA</vt:lpstr>
      <vt:lpstr>Examples</vt:lpstr>
      <vt:lpstr>∗STARQA: Dataset Details</vt:lpstr>
      <vt:lpstr>LLMs for Text2SQL</vt:lpstr>
      <vt:lpstr>Proposal: Text 2 SQL + Code</vt:lpstr>
      <vt:lpstr>Proposal: Text 2 SQL + Code</vt:lpstr>
      <vt:lpstr>Discussion</vt:lpstr>
      <vt:lpstr>Results [Maddella et al, EMNLP’25]</vt:lpstr>
      <vt:lpstr>Results [Maddella et al, EMNLP’25]</vt:lpstr>
      <vt:lpstr>Results [Maddella et al, EMNLP’25]</vt:lpstr>
      <vt:lpstr>Errors</vt:lpstr>
      <vt:lpstr>TakeAways</vt:lpstr>
      <vt:lpstr>Case Studies in Semantic Parsing</vt:lpstr>
      <vt:lpstr>Outline: KBQA</vt:lpstr>
      <vt:lpstr>Outline: KBQA</vt:lpstr>
      <vt:lpstr>Outline: KBQA</vt:lpstr>
      <vt:lpstr>PowerPoint Presentation</vt:lpstr>
      <vt:lpstr>PowerPoint Presentation</vt:lpstr>
      <vt:lpstr>PowerPoint Presentation</vt:lpstr>
      <vt:lpstr>Outline: KBQA</vt:lpstr>
      <vt:lpstr>Limitations of Existing Data Curation Process</vt:lpstr>
      <vt:lpstr>Execution Guided Feedback</vt:lpstr>
      <vt:lpstr>Execution Guided Feedback</vt:lpstr>
      <vt:lpstr>Limitations of Data Curation Process</vt:lpstr>
      <vt:lpstr>Two Forms of Unanswerability</vt:lpstr>
      <vt:lpstr>Creating Unanswerable Questions (Link Drop ⊂ Data Drop)</vt:lpstr>
      <vt:lpstr>Creating Unanswerable Questions (Entity Drop ⊂ Data Drop)</vt:lpstr>
      <vt:lpstr>Creating Unanswerable Questions (Entity Drop ⊂ Data Drop)</vt:lpstr>
      <vt:lpstr>Creating Unanswerable Questions (Relation Drop ⊂ Schema Drop)</vt:lpstr>
      <vt:lpstr>Creating Unanswerable Questions (Type Drop ⊂ Schema Drop)</vt:lpstr>
      <vt:lpstr>GrailQAbility [Patidar et al., ACL 2023]</vt:lpstr>
      <vt:lpstr>Outline: KBQA</vt:lpstr>
      <vt:lpstr>PowerPoint Presentation</vt:lpstr>
      <vt:lpstr>Outline: KBQA</vt:lpstr>
      <vt:lpstr>How to Generate l=NK? Simple Ideas…</vt:lpstr>
      <vt:lpstr>Experiments</vt:lpstr>
      <vt:lpstr>How to make one model robust to both answerable and unanswerable questions?</vt:lpstr>
      <vt:lpstr>Issues  Ideas</vt:lpstr>
      <vt:lpstr>PowerPoint Presentation</vt:lpstr>
      <vt:lpstr>PowerPoint Presentation</vt:lpstr>
      <vt:lpstr>Experiments: RetinaQA [Faldu et al., ACL 2024]</vt:lpstr>
      <vt:lpstr>TakeAways: SLMs</vt:lpstr>
      <vt:lpstr>Outline: KBQA</vt:lpstr>
      <vt:lpstr>When would LLMs be superior to specialized SLMs?  and how?</vt:lpstr>
      <vt:lpstr>LLMs for KBQA</vt:lpstr>
      <vt:lpstr>LLMs for KBQA</vt:lpstr>
      <vt:lpstr>LLMs for KBQA (In-Context Learning)</vt:lpstr>
      <vt:lpstr>LLMs for KBQA (Supervised Retriever Augmentation)</vt:lpstr>
      <vt:lpstr>PowerPoint Presentation</vt:lpstr>
      <vt:lpstr>In-domain Results [Patidar et al, ACL’24]</vt:lpstr>
      <vt:lpstr>Few-shot Transfer Learning</vt:lpstr>
      <vt:lpstr>Few-shot Transfer Learning</vt:lpstr>
      <vt:lpstr>PowerPoint Presentation</vt:lpstr>
      <vt:lpstr>Transfer Results [Patidar et al, ACL’24]</vt:lpstr>
      <vt:lpstr>TakeAways: LLM Workflows</vt:lpstr>
      <vt:lpstr>Outline: KBQA</vt:lpstr>
      <vt:lpstr>How to use LLMs when some questions may be unanswerable?</vt:lpstr>
      <vt:lpstr>Simple Ideas (FuSIC-U)</vt:lpstr>
      <vt:lpstr>PowerPoint Presentation</vt:lpstr>
      <vt:lpstr>Fun-FuSIC: Estimate LLM Confidence</vt:lpstr>
      <vt:lpstr>Fun-FuSIC: Sequential Generation with Feedback</vt:lpstr>
      <vt:lpstr>Fun-FuSIC: Semantic Feedback</vt:lpstr>
      <vt:lpstr>Experiments: Transfer Learning over Robust KBQA [Sawhney et al, ACL Findings’25]</vt:lpstr>
      <vt:lpstr>TakeAways</vt:lpstr>
      <vt:lpstr>Outline: KBQA</vt:lpstr>
      <vt:lpstr>The Value of Semantic Parsing for QA</vt:lpstr>
      <vt:lpstr>Three Paradigms of Information-Seeking Conversational AI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Mausam</cp:lastModifiedBy>
  <cp:revision>59</cp:revision>
  <dcterms:created xsi:type="dcterms:W3CDTF">2020-10-07T11:42:42Z</dcterms:created>
  <dcterms:modified xsi:type="dcterms:W3CDTF">2026-10-26T11:52:01Z</dcterms:modified>
</cp:coreProperties>
</file>