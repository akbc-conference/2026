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147483240" r:id="rId3"/>
    <p:sldId id="2147483301" r:id="rId4"/>
    <p:sldId id="298" r:id="rId5"/>
    <p:sldId id="2147483302" r:id="rId6"/>
    <p:sldId id="2147483303" r:id="rId7"/>
    <p:sldId id="2147483243" r:id="rId8"/>
    <p:sldId id="2147483309" r:id="rId9"/>
    <p:sldId id="2147483308" r:id="rId10"/>
    <p:sldId id="2147483307" r:id="rId11"/>
    <p:sldId id="2147483306" r:id="rId12"/>
    <p:sldId id="2147483304" r:id="rId13"/>
    <p:sldId id="2147483305" r:id="rId14"/>
    <p:sldId id="2147483248" r:id="rId15"/>
    <p:sldId id="2147483255" r:id="rId16"/>
    <p:sldId id="2147483242" r:id="rId17"/>
  </p:sldIdLst>
  <p:sldSz cx="12188825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4C00"/>
    <a:srgbClr val="191F6D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6"/>
    <p:restoredTop sz="94659"/>
  </p:normalViewPr>
  <p:slideViewPr>
    <p:cSldViewPr>
      <p:cViewPr>
        <p:scale>
          <a:sx n="131" d="100"/>
          <a:sy n="131" d="100"/>
        </p:scale>
        <p:origin x="448" y="51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Micro-F1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54C00"/>
              </a:solidFill>
            </c:spPr>
            <c:extLst>
              <c:ext xmlns:c16="http://schemas.microsoft.com/office/drawing/2014/chart" uri="{C3380CC4-5D6E-409C-BE32-E72D297353CC}">
                <c16:uniqueId val="{00000001-690F-BB4A-B133-E4CEAEF19973}"/>
              </c:ext>
            </c:extLst>
          </c:dPt>
          <c:dPt>
            <c:idx val="1"/>
            <c:invertIfNegative val="1"/>
            <c:bubble3D val="0"/>
            <c:spPr>
              <a:solidFill>
                <a:srgbClr val="1A206D"/>
              </a:solidFill>
            </c:spPr>
            <c:extLst>
              <c:ext xmlns:c16="http://schemas.microsoft.com/office/drawing/2014/chart" uri="{C3380CC4-5D6E-409C-BE32-E72D297353CC}">
                <c16:uniqueId val="{00000003-690F-BB4A-B133-E4CEAEF19973}"/>
              </c:ext>
            </c:extLst>
          </c:dPt>
          <c:dPt>
            <c:idx val="2"/>
            <c:invertIfNegative val="1"/>
            <c:bubble3D val="0"/>
            <c:spPr>
              <a:solidFill>
                <a:srgbClr val="1A206D"/>
              </a:solidFill>
            </c:spPr>
            <c:extLst>
              <c:ext xmlns:c16="http://schemas.microsoft.com/office/drawing/2014/chart" uri="{C3380CC4-5D6E-409C-BE32-E72D297353CC}">
                <c16:uniqueId val="{00000005-690F-BB4A-B133-E4CEAEF19973}"/>
              </c:ext>
            </c:extLst>
          </c:dPt>
          <c:dPt>
            <c:idx val="3"/>
            <c:invertIfNegative val="1"/>
            <c:bubble3D val="0"/>
            <c:spPr>
              <a:solidFill>
                <a:srgbClr val="1A206D"/>
              </a:solidFill>
            </c:spPr>
            <c:extLst>
              <c:ext xmlns:c16="http://schemas.microsoft.com/office/drawing/2014/chart" uri="{C3380CC4-5D6E-409C-BE32-E72D297353CC}">
                <c16:uniqueId val="{00000007-690F-BB4A-B133-E4CEAEF19973}"/>
              </c:ext>
            </c:extLst>
          </c:dPt>
          <c:dPt>
            <c:idx val="4"/>
            <c:invertIfNegative val="1"/>
            <c:bubble3D val="0"/>
            <c:spPr>
              <a:solidFill>
                <a:srgbClr val="C54C00"/>
              </a:solidFill>
            </c:spPr>
            <c:extLst>
              <c:ext xmlns:c16="http://schemas.microsoft.com/office/drawing/2014/chart" uri="{C3380CC4-5D6E-409C-BE32-E72D297353CC}">
                <c16:uniqueId val="{00000009-690F-BB4A-B133-E4CEAEF19973}"/>
              </c:ext>
            </c:extLst>
          </c:dPt>
          <c:dPt>
            <c:idx val="5"/>
            <c:invertIfNegative val="1"/>
            <c:bubble3D val="0"/>
            <c:spPr>
              <a:solidFill>
                <a:srgbClr val="ADA9CA"/>
              </a:solidFill>
            </c:spPr>
            <c:extLst>
              <c:ext xmlns:c16="http://schemas.microsoft.com/office/drawing/2014/chart" uri="{C3380CC4-5D6E-409C-BE32-E72D297353CC}">
                <c16:uniqueId val="{0000000B-690F-BB4A-B133-E4CEAEF19973}"/>
              </c:ext>
            </c:extLst>
          </c:dPt>
          <c:dPt>
            <c:idx val="6"/>
            <c:invertIfNegative val="1"/>
            <c:bubble3D val="0"/>
            <c:spPr>
              <a:solidFill>
                <a:srgbClr val="EEAF00"/>
              </a:solidFill>
            </c:spPr>
            <c:extLst>
              <c:ext xmlns:c16="http://schemas.microsoft.com/office/drawing/2014/chart" uri="{C3380CC4-5D6E-409C-BE32-E72D297353CC}">
                <c16:uniqueId val="{0000000D-690F-BB4A-B133-E4CEAEF19973}"/>
              </c:ext>
            </c:extLst>
          </c:dPt>
          <c:dPt>
            <c:idx val="7"/>
            <c:invertIfNegative val="1"/>
            <c:bubble3D val="0"/>
            <c:spPr>
              <a:solidFill>
                <a:srgbClr val="1A206D"/>
              </a:solidFill>
            </c:spPr>
            <c:extLst>
              <c:ext xmlns:c16="http://schemas.microsoft.com/office/drawing/2014/chart" uri="{C3380CC4-5D6E-409C-BE32-E72D297353CC}">
                <c16:uniqueId val="{0000000F-690F-BB4A-B133-E4CEAEF19973}"/>
              </c:ext>
            </c:extLst>
          </c:dPt>
          <c:dPt>
            <c:idx val="8"/>
            <c:invertIfNegative val="1"/>
            <c:bubble3D val="0"/>
            <c:spPr>
              <a:solidFill>
                <a:srgbClr val="C54C00"/>
              </a:solidFill>
            </c:spPr>
            <c:extLst>
              <c:ext xmlns:c16="http://schemas.microsoft.com/office/drawing/2014/chart" uri="{C3380CC4-5D6E-409C-BE32-E72D297353CC}">
                <c16:uniqueId val="{00000011-690F-BB4A-B133-E4CEAEF19973}"/>
              </c:ext>
            </c:extLst>
          </c:dPt>
          <c:dPt>
            <c:idx val="9"/>
            <c:invertIfNegative val="1"/>
            <c:bubble3D val="0"/>
            <c:spPr>
              <a:solidFill>
                <a:srgbClr val="1A206D"/>
              </a:solidFill>
            </c:spPr>
            <c:extLst>
              <c:ext xmlns:c16="http://schemas.microsoft.com/office/drawing/2014/chart" uri="{C3380CC4-5D6E-409C-BE32-E72D297353CC}">
                <c16:uniqueId val="{00000013-690F-BB4A-B133-E4CEAEF1997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83.1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90F-BB4A-B133-E4CEAEF1997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84.6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90F-BB4A-B133-E4CEAEF1997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84.1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0.07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90F-BB4A-B133-E4CEAEF1997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83.4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90F-BB4A-B133-E4CEAEF1997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77.4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90F-BB4A-B133-E4CEAEF1997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79.2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0.37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90F-BB4A-B133-E4CEAEF1997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86.9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0.04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90F-BB4A-B133-E4CEAEF1997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48.0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0.87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690F-BB4A-B133-E4CEAEF1997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72.3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690F-BB4A-B133-E4CEAEF1997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200" b="0" i="0">
                        <a:solidFill>
                          <a:schemeClr val="tx1"/>
                        </a:solidFill>
                        <a:latin typeface="Arial"/>
                      </a:rPr>
                      <a:t> </a:t>
                    </a:r>
                    <a:r>
                      <a:rPr lang="en-US" sz="1200" b="1" i="0">
                        <a:solidFill>
                          <a:schemeClr val="tx1"/>
                        </a:solidFill>
                        <a:latin typeface="Arial"/>
                      </a:rPr>
                      <a:t>49.8</a:t>
                    </a:r>
                    <a:r>
                      <a:rPr lang="en-US" sz="1000" b="0" i="0">
                        <a:solidFill>
                          <a:schemeClr val="tx1"/>
                        </a:solidFill>
                        <a:latin typeface="Arial"/>
                      </a:rPr>
                      <a:t> ± 0.34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690F-BB4A-B133-E4CEAEF1997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both"/>
            <c:errValType val="cust"/>
            <c:noEndCap val="0"/>
            <c:plus>
              <c:numLit>
                <c:formatCode>General</c:formatCode>
                <c:ptCount val="10"/>
                <c:pt idx="0">
                  <c:v>0.16</c:v>
                </c:pt>
                <c:pt idx="1">
                  <c:v>0.14000000000000001</c:v>
                </c:pt>
                <c:pt idx="2">
                  <c:v>7.0000000000000007E-2</c:v>
                </c:pt>
                <c:pt idx="3">
                  <c:v>0.3</c:v>
                </c:pt>
                <c:pt idx="4">
                  <c:v>0.25</c:v>
                </c:pt>
                <c:pt idx="5">
                  <c:v>0.37</c:v>
                </c:pt>
                <c:pt idx="6">
                  <c:v>0.04</c:v>
                </c:pt>
                <c:pt idx="7">
                  <c:v>0.87</c:v>
                </c:pt>
                <c:pt idx="8">
                  <c:v>0.32</c:v>
                </c:pt>
                <c:pt idx="9">
                  <c:v>0.34</c:v>
                </c:pt>
              </c:numLit>
            </c:plus>
            <c:minus>
              <c:numLit>
                <c:formatCode>General</c:formatCode>
                <c:ptCount val="10"/>
                <c:pt idx="0">
                  <c:v>0.16</c:v>
                </c:pt>
                <c:pt idx="1">
                  <c:v>0.14000000000000001</c:v>
                </c:pt>
                <c:pt idx="2">
                  <c:v>7.0000000000000007E-2</c:v>
                </c:pt>
                <c:pt idx="3">
                  <c:v>0.3</c:v>
                </c:pt>
                <c:pt idx="4">
                  <c:v>0.25</c:v>
                </c:pt>
                <c:pt idx="5">
                  <c:v>0.37</c:v>
                </c:pt>
                <c:pt idx="6">
                  <c:v>0.04</c:v>
                </c:pt>
                <c:pt idx="7">
                  <c:v>0.87</c:v>
                </c:pt>
                <c:pt idx="8">
                  <c:v>0.32</c:v>
                </c:pt>
                <c:pt idx="9">
                  <c:v>0.34</c:v>
                </c:pt>
              </c:numLit>
            </c:minus>
            <c:spPr>
              <a:ln w="12700">
                <a:solidFill>
                  <a:srgbClr val="000000"/>
                </a:solidFill>
              </a:ln>
            </c:spPr>
          </c:errBars>
          <c:cat>
            <c:strRef>
              <c:f>Sheet1!$A$2:$A$11</c:f>
              <c:strCache>
                <c:ptCount val="10"/>
                <c:pt idx="0">
                  <c:v>Mixtral-8x22B (176B)</c:v>
                </c:pt>
                <c:pt idx="1">
                  <c:v>Llama-4-Scout (109B)</c:v>
                </c:pt>
                <c:pt idx="2">
                  <c:v>Llama-3.3-70B</c:v>
                </c:pt>
                <c:pt idx="3">
                  <c:v>Llama-3.1-70B</c:v>
                </c:pt>
                <c:pt idx="4">
                  <c:v>Mixtral-8x7B (56B)</c:v>
                </c:pt>
                <c:pt idx="5">
                  <c:v>DeepSeek-R1-Distill-Qwen-32B</c:v>
                </c:pt>
                <c:pt idx="6">
                  <c:v>Qwen2.5-VL-32B</c:v>
                </c:pt>
                <c:pt idx="7">
                  <c:v>Llama-3.1-8B</c:v>
                </c:pt>
                <c:pt idx="8">
                  <c:v>Mistral-7B</c:v>
                </c:pt>
                <c:pt idx="9">
                  <c:v>Llama-3.2-3B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83.1</c:v>
                </c:pt>
                <c:pt idx="1">
                  <c:v>84.6</c:v>
                </c:pt>
                <c:pt idx="2">
                  <c:v>84.1</c:v>
                </c:pt>
                <c:pt idx="3">
                  <c:v>83.4</c:v>
                </c:pt>
                <c:pt idx="4">
                  <c:v>77.400000000000006</c:v>
                </c:pt>
                <c:pt idx="5">
                  <c:v>79.2</c:v>
                </c:pt>
                <c:pt idx="6">
                  <c:v>86.9</c:v>
                </c:pt>
                <c:pt idx="7">
                  <c:v>48</c:v>
                </c:pt>
                <c:pt idx="8">
                  <c:v>72.3</c:v>
                </c:pt>
                <c:pt idx="9">
                  <c:v>49.8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90F-BB4A-B133-E4CEAEF199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8E908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2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 b="1">
          <a:solidFill>
            <a:schemeClr val="tx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micro-F1</c:v>
                </c:pt>
              </c:strCache>
            </c:strRef>
          </c:tx>
          <c:spPr>
            <a:solidFill>
              <a:srgbClr val="191F6D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91F6D"/>
              </a:solidFill>
            </c:spPr>
            <c:extLst>
              <c:ext xmlns:c16="http://schemas.microsoft.com/office/drawing/2014/chart" uri="{C3380CC4-5D6E-409C-BE32-E72D297353CC}">
                <c16:uniqueId val="{00000001-D95B-0C43-A57E-DE64C06A777C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95B-0C43-A57E-DE64C06A777C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D95B-0C43-A57E-DE64C06A777C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D95B-0C43-A57E-DE64C06A777C}"/>
              </c:ext>
            </c:extLst>
          </c:dPt>
          <c:dLbls>
            <c:numFmt formatCode="0.00;\−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Binary Only (no ρ ranking)</c:v>
                </c:pt>
                <c:pt idx="1">
                  <c:v>No Entity-Type Filter</c:v>
                </c:pt>
                <c:pt idx="2">
                  <c:v>No Relation Definitions</c:v>
                </c:pt>
                <c:pt idx="3">
                  <c:v>Score Only (no true/false)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-15.03</c:v>
                </c:pt>
                <c:pt idx="1">
                  <c:v>-7.52</c:v>
                </c:pt>
                <c:pt idx="2">
                  <c:v>-3.29</c:v>
                </c:pt>
                <c:pt idx="3">
                  <c:v>-0.04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191F6D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D95B-0C43-A57E-DE64C06A77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high"/>
        <c:spPr>
          <a:ln>
            <a:solidFill>
              <a:srgbClr val="8E908F"/>
            </a:solidFill>
          </a:ln>
        </c:spPr>
        <c:txPr>
          <a:bodyPr/>
          <a:lstStyle/>
          <a:p>
            <a:pPr>
              <a:defRPr>
                <a:solidFill>
                  <a:schemeClr val="tx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"/>
          <c:min val="-19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300" b="1">
          <a:solidFill>
            <a:srgbClr val="1A206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latin typeface="Times New Roman" pitchFamily="-110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Times New Roman" pitchFamily="-110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latin typeface="Times New Roman" pitchFamily="-110" charset="0"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Times New Roman" pitchFamily="-110" charset="0"/>
              </a:defRPr>
            </a:lvl1pPr>
          </a:lstStyle>
          <a:p>
            <a:fld id="{F294CCFB-749A-2F47-8EBA-00DE4241A4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323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latin typeface="Times New Roman" pitchFamily="-110" charset="0"/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Times New Roman" pitchFamily="-110" charset="0"/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latin typeface="Times New Roman" pitchFamily="-110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Times New Roman" pitchFamily="-110" charset="0"/>
              </a:defRPr>
            </a:lvl1pPr>
          </a:lstStyle>
          <a:p>
            <a:fld id="{1783C958-1F1B-2347-8B37-D6BC4B56CB4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43400"/>
            <a:ext cx="50323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36048723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8FCF78-6F42-DD47-BFB7-03FB0C2A10D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9050" tIns="0" rIns="19050" bIns="0" anchor="b">
            <a:prstTxWarp prst="textNoShape">
              <a:avLst/>
            </a:prstTxWarp>
          </a:bodyPr>
          <a:lstStyle/>
          <a:p>
            <a:pPr algn="r"/>
            <a:r>
              <a:rPr lang="en-US" altLang="en-US" sz="1000" i="1">
                <a:latin typeface="Times New Roman" pitchFamily="-110" charset="0"/>
              </a:rPr>
              <a:t>1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3883025" y="0"/>
            <a:ext cx="2974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9050" tIns="0" rIns="19050" bIns="0" anchor="b">
            <a:prstTxWarp prst="textNoShape">
              <a:avLst/>
            </a:prstTxWarp>
          </a:bodyPr>
          <a:lstStyle/>
          <a:p>
            <a:pPr algn="r"/>
            <a:r>
              <a:rPr lang="en-US" altLang="en-US" sz="1000" i="1">
                <a:latin typeface="Times New Roman" pitchFamily="-110" charset="0"/>
              </a:rPr>
              <a:t>1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5131" name="Rectangle 11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8CD9-D2AC-E2B5-F613-4D0A0D42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88F06-BBD9-E80E-24A7-8761FA30A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A0B9B-AF36-5DB8-5A3E-CF9A81E1F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0D59D-243A-ABDD-FBC6-66DF838FE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FBA5-F957-4CE9-A734-9CFA9C4F560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87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3C958-1F1B-2347-8B37-D6BC4B56CB4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557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633E62-BF0A-C5AB-F79C-8287B99A9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9912" y="5111496"/>
            <a:ext cx="3429000" cy="464344"/>
          </a:xfrm>
          <a:prstGeom prst="rect">
            <a:avLst/>
          </a:prstGeom>
        </p:spPr>
      </p:pic>
      <p:sp>
        <p:nvSpPr>
          <p:cNvPr id="6146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1109183" y="1389888"/>
            <a:ext cx="9970459" cy="1298448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 sz="3600"/>
            </a:lvl1pPr>
          </a:lstStyle>
          <a:p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6202" name="Rectangle 108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109183" y="3008376"/>
            <a:ext cx="9970459" cy="1792224"/>
          </a:xfrm>
          <a:prstGeom prst="rect">
            <a:avLst/>
          </a:prstGeom>
          <a:ln w="12700">
            <a:headEnd type="none" w="sm" len="sm"/>
            <a:tailEnd type="none" w="sm" len="sm"/>
          </a:ln>
        </p:spPr>
        <p:txBody>
          <a:bodyPr lIns="91440" tIns="45720" rIns="91440" bIns="4572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Tx/>
              <a:buNone/>
              <a:defRPr sz="2200"/>
            </a:lvl1pPr>
          </a:lstStyle>
          <a:p>
            <a:r>
              <a:rPr lang="en-US" altLang="en-US"/>
              <a:t>Click to edit Master subtitle style</a:t>
            </a:r>
            <a:endParaRPr lang="en-US" altLang="en-US" dirty="0"/>
          </a:p>
        </p:txBody>
      </p:sp>
      <p:sp>
        <p:nvSpPr>
          <p:cNvPr id="9" name="Freeform 8"/>
          <p:cNvSpPr>
            <a:spLocks/>
          </p:cNvSpPr>
          <p:nvPr userDrawn="1"/>
        </p:nvSpPr>
        <p:spPr bwMode="auto">
          <a:xfrm>
            <a:off x="0" y="950976"/>
            <a:ext cx="12188825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144" y="0"/>
              </a:cxn>
              <a:cxn ang="0">
                <a:pos x="0" y="0"/>
              </a:cxn>
            </a:cxnLst>
            <a:rect l="0" t="0" r="r" b="b"/>
            <a:pathLst>
              <a:path w="6145" h="1">
                <a:moveTo>
                  <a:pt x="0" y="0"/>
                </a:moveTo>
                <a:lnTo>
                  <a:pt x="6144" y="0"/>
                </a:lnTo>
                <a:lnTo>
                  <a:pt x="0" y="0"/>
                </a:lnTo>
              </a:path>
            </a:pathLst>
          </a:custGeom>
          <a:noFill/>
          <a:ln w="22225" cap="flat" cmpd="sng">
            <a:solidFill>
              <a:schemeClr val="accent4"/>
            </a:solidFill>
            <a:prstDash val="solid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0" y="6355080"/>
            <a:ext cx="12188825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144" y="0"/>
              </a:cxn>
              <a:cxn ang="0">
                <a:pos x="0" y="0"/>
              </a:cxn>
            </a:cxnLst>
            <a:rect l="0" t="0" r="r" b="b"/>
            <a:pathLst>
              <a:path w="6145" h="1">
                <a:moveTo>
                  <a:pt x="0" y="0"/>
                </a:moveTo>
                <a:lnTo>
                  <a:pt x="6144" y="0"/>
                </a:lnTo>
                <a:lnTo>
                  <a:pt x="0" y="0"/>
                </a:lnTo>
              </a:path>
            </a:pathLst>
          </a:custGeom>
          <a:noFill/>
          <a:ln w="22225" cap="flat" cmpd="sng">
            <a:solidFill>
              <a:schemeClr val="accent4"/>
            </a:solidFill>
            <a:prstDash val="solid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19" y="1289304"/>
            <a:ext cx="10921187" cy="4828032"/>
          </a:xfrm>
          <a:prstGeom prst="rect">
            <a:avLst/>
          </a:prstGeom>
        </p:spPr>
        <p:txBody>
          <a:bodyPr/>
          <a:lstStyle>
            <a:lvl1pPr marL="237744" indent="-237744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/>
            </a:lvl1pPr>
            <a:lvl2pPr marL="539496" indent="-256032">
              <a:lnSpc>
                <a:spcPct val="90000"/>
              </a:lnSpc>
              <a:spcBef>
                <a:spcPts val="600"/>
              </a:spcBef>
              <a:defRPr/>
            </a:lvl2pPr>
            <a:lvl3pPr marL="758952" indent="-182880">
              <a:lnSpc>
                <a:spcPct val="90000"/>
              </a:lnSpc>
              <a:spcBef>
                <a:spcPts val="600"/>
              </a:spcBef>
              <a:buSzPct val="90000"/>
              <a:buFont typeface="Arial"/>
              <a:buChar char="•"/>
              <a:defRPr/>
            </a:lvl3pPr>
            <a:lvl4pPr marL="1033272" indent="0">
              <a:lnSpc>
                <a:spcPct val="90000"/>
              </a:lnSpc>
              <a:spcBef>
                <a:spcPts val="600"/>
              </a:spcBef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3819" y="1289304"/>
            <a:ext cx="5314328" cy="4828032"/>
          </a:xfrm>
          <a:prstGeom prst="rect">
            <a:avLst/>
          </a:prstGeom>
        </p:spPr>
        <p:txBody>
          <a:bodyPr/>
          <a:lstStyle>
            <a:lvl1pPr marL="237744" indent="-237744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/>
            </a:lvl1pPr>
            <a:lvl2pPr marL="539496" indent="-256032">
              <a:lnSpc>
                <a:spcPct val="90000"/>
              </a:lnSpc>
              <a:spcBef>
                <a:spcPts val="600"/>
              </a:spcBef>
              <a:defRPr/>
            </a:lvl2pPr>
            <a:lvl3pPr marL="758952" indent="-182880">
              <a:lnSpc>
                <a:spcPct val="90000"/>
              </a:lnSpc>
              <a:spcBef>
                <a:spcPts val="600"/>
              </a:spcBef>
              <a:buSzPct val="90000"/>
              <a:buFont typeface="Wingdings" charset="2"/>
              <a:buChar char="§"/>
              <a:defRPr/>
            </a:lvl3pPr>
            <a:lvl4pPr marL="1033272" indent="0">
              <a:lnSpc>
                <a:spcPct val="90000"/>
              </a:lnSpc>
              <a:spcBef>
                <a:spcPts val="600"/>
              </a:spcBef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6216301" y="1289304"/>
            <a:ext cx="5314328" cy="4828032"/>
          </a:xfrm>
          <a:prstGeom prst="rect">
            <a:avLst/>
          </a:prstGeom>
        </p:spPr>
        <p:txBody>
          <a:bodyPr/>
          <a:lstStyle>
            <a:lvl1pPr marL="237744" indent="-237744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/>
            </a:lvl1pPr>
            <a:lvl2pPr marL="539496" indent="-256032">
              <a:lnSpc>
                <a:spcPct val="90000"/>
              </a:lnSpc>
              <a:spcBef>
                <a:spcPts val="600"/>
              </a:spcBef>
              <a:defRPr/>
            </a:lvl2pPr>
            <a:lvl3pPr marL="758952" indent="-182880">
              <a:lnSpc>
                <a:spcPct val="90000"/>
              </a:lnSpc>
              <a:spcBef>
                <a:spcPts val="600"/>
              </a:spcBef>
              <a:buSzPct val="90000"/>
              <a:buFont typeface="Wingdings" charset="2"/>
              <a:buChar char="§"/>
              <a:defRPr/>
            </a:lvl3pPr>
            <a:lvl4pPr marL="1033272" indent="0">
              <a:lnSpc>
                <a:spcPct val="90000"/>
              </a:lnSpc>
              <a:spcBef>
                <a:spcPts val="600"/>
              </a:spcBef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80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14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5449" y="146304"/>
            <a:ext cx="9677927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19" y="1289304"/>
            <a:ext cx="10921187" cy="4828032"/>
          </a:xfrm>
          <a:prstGeom prst="rect">
            <a:avLst/>
          </a:prstGeom>
        </p:spPr>
        <p:txBody>
          <a:bodyPr/>
          <a:lstStyle>
            <a:lvl1pPr marL="237744" indent="-237744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/>
            </a:lvl1pPr>
            <a:lvl2pPr marL="539496" indent="-256032">
              <a:lnSpc>
                <a:spcPct val="90000"/>
              </a:lnSpc>
              <a:spcBef>
                <a:spcPts val="600"/>
              </a:spcBef>
              <a:defRPr/>
            </a:lvl2pPr>
            <a:lvl3pPr marL="758952" indent="-182880">
              <a:lnSpc>
                <a:spcPct val="90000"/>
              </a:lnSpc>
              <a:spcBef>
                <a:spcPts val="600"/>
              </a:spcBef>
              <a:buSzPct val="90000"/>
              <a:buFont typeface="Wingdings" charset="2"/>
              <a:buChar char="§"/>
              <a:defRPr/>
            </a:lvl3pPr>
            <a:lvl4pPr marL="1033272" indent="0">
              <a:lnSpc>
                <a:spcPct val="90000"/>
              </a:lnSpc>
              <a:spcBef>
                <a:spcPts val="600"/>
              </a:spcBef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255449" y="594360"/>
            <a:ext cx="9677927" cy="304800"/>
          </a:xfrm>
          <a:prstGeom prst="rect">
            <a:avLst/>
          </a:prstGeom>
        </p:spPr>
        <p:txBody>
          <a:bodyPr vert="horz"/>
          <a:lstStyle>
            <a:lvl1pPr marL="0" indent="0" algn="ctr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 sz="2400" baseline="0"/>
            </a:lvl1pPr>
            <a:lvl2pPr marL="520700" indent="0">
              <a:buNone/>
              <a:defRPr/>
            </a:lvl2pPr>
            <a:lvl3pPr marL="976313" indent="0">
              <a:buNone/>
              <a:defRPr/>
            </a:lvl3pPr>
            <a:lvl4pPr marL="1427162" indent="0"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41134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19" y="1682496"/>
            <a:ext cx="10921187" cy="4443984"/>
          </a:xfrm>
          <a:prstGeom prst="rect">
            <a:avLst/>
          </a:prstGeom>
        </p:spPr>
        <p:txBody>
          <a:bodyPr anchor="t" anchorCtr="1"/>
          <a:lstStyle>
            <a:lvl1pPr marL="237744" indent="-237744">
              <a:lnSpc>
                <a:spcPct val="90000"/>
              </a:lnSpc>
              <a:spcBef>
                <a:spcPts val="1500"/>
              </a:spcBef>
              <a:buSzPct val="100000"/>
              <a:buFont typeface="Arial"/>
              <a:buChar char="•"/>
              <a:defRPr/>
            </a:lvl1pPr>
            <a:lvl2pPr marL="539496" indent="-256032">
              <a:lnSpc>
                <a:spcPct val="90000"/>
              </a:lnSpc>
              <a:spcBef>
                <a:spcPts val="1500"/>
              </a:spcBef>
              <a:defRPr/>
            </a:lvl2pPr>
            <a:lvl3pPr marL="758952" indent="-182880">
              <a:lnSpc>
                <a:spcPct val="90000"/>
              </a:lnSpc>
              <a:spcBef>
                <a:spcPts val="1500"/>
              </a:spcBef>
              <a:buSzPct val="90000"/>
              <a:buFont typeface="Wingdings" charset="2"/>
              <a:buChar char="§"/>
              <a:defRPr/>
            </a:lvl3pPr>
            <a:lvl4pPr marL="1033272" indent="0">
              <a:lnSpc>
                <a:spcPct val="90000"/>
              </a:lnSpc>
              <a:spcBef>
                <a:spcPts val="1500"/>
              </a:spcBef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15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46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2108667" y="1764792"/>
            <a:ext cx="7959303" cy="377647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/>
          <a:lstStyle>
            <a:lvl1pPr marL="0" indent="0" algn="ctr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108667" y="1316736"/>
            <a:ext cx="7959303" cy="374904"/>
          </a:xfrm>
          <a:prstGeom prst="rect">
            <a:avLst/>
          </a:prstGeom>
        </p:spPr>
        <p:txBody>
          <a:bodyPr vert="horz" anchor="b" anchorCtr="0"/>
          <a:lstStyle>
            <a:lvl1pPr marL="0" indent="0" algn="ctr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 sz="1800" baseline="0"/>
            </a:lvl1pPr>
            <a:lvl2pPr marL="520700" indent="0">
              <a:buNone/>
              <a:defRPr/>
            </a:lvl2pPr>
            <a:lvl3pPr marL="976313" indent="0">
              <a:buNone/>
              <a:defRPr/>
            </a:lvl3pPr>
            <a:lvl4pPr marL="1427162" indent="0"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108667" y="5605272"/>
            <a:ext cx="7959303" cy="274320"/>
          </a:xfrm>
          <a:prstGeom prst="rect">
            <a:avLst/>
          </a:prstGeom>
        </p:spPr>
        <p:txBody>
          <a:bodyPr vert="horz" anchor="t" anchorCtr="0"/>
          <a:lstStyle>
            <a:lvl1pPr marL="0" indent="0" algn="ctr">
              <a:lnSpc>
                <a:spcPts val="14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 sz="1200" b="1" i="0" baseline="0"/>
            </a:lvl1pPr>
            <a:lvl2pPr marL="520700" indent="0">
              <a:buNone/>
              <a:defRPr/>
            </a:lvl2pPr>
            <a:lvl3pPr marL="976313" indent="0">
              <a:buNone/>
              <a:defRPr/>
            </a:lvl3pPr>
            <a:lvl4pPr marL="1427162" indent="0"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90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0"/>
          </p:nvPr>
        </p:nvSpPr>
        <p:spPr>
          <a:xfrm>
            <a:off x="2315877" y="1828800"/>
            <a:ext cx="7581449" cy="334670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/>
          <a:lstStyle>
            <a:lvl1pPr marL="0" indent="0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315877" y="1371600"/>
            <a:ext cx="7581449" cy="374904"/>
          </a:xfrm>
          <a:prstGeom prst="rect">
            <a:avLst/>
          </a:prstGeom>
        </p:spPr>
        <p:txBody>
          <a:bodyPr vert="horz" anchor="b" anchorCtr="0"/>
          <a:lstStyle>
            <a:lvl1pPr marL="0" indent="0" algn="ctr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 sz="1800" baseline="0"/>
            </a:lvl1pPr>
            <a:lvl2pPr marL="520700" indent="0">
              <a:buNone/>
              <a:defRPr/>
            </a:lvl2pPr>
            <a:lvl3pPr marL="976313" indent="0">
              <a:buNone/>
              <a:defRPr/>
            </a:lvl3pPr>
            <a:lvl4pPr marL="1427162" indent="0"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315877" y="5230368"/>
            <a:ext cx="7581449" cy="274320"/>
          </a:xfrm>
          <a:prstGeom prst="rect">
            <a:avLst/>
          </a:prstGeom>
        </p:spPr>
        <p:txBody>
          <a:bodyPr vert="horz" anchor="t" anchorCtr="0"/>
          <a:lstStyle>
            <a:lvl1pPr marL="0" indent="0" algn="ctr">
              <a:lnSpc>
                <a:spcPts val="14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 sz="1200" b="1" i="0" baseline="0"/>
            </a:lvl1pPr>
            <a:lvl2pPr marL="520700" indent="0">
              <a:buNone/>
              <a:defRPr/>
            </a:lvl2pPr>
            <a:lvl3pPr marL="976313" indent="0">
              <a:buNone/>
              <a:defRPr/>
            </a:lvl3pPr>
            <a:lvl4pPr marL="1427162" indent="0"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039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1791758" y="1700784"/>
            <a:ext cx="8605310" cy="39410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/>
          <a:lstStyle>
            <a:lvl1pPr marL="0" indent="0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791758" y="1252728"/>
            <a:ext cx="8605310" cy="374904"/>
          </a:xfrm>
          <a:prstGeom prst="rect">
            <a:avLst/>
          </a:prstGeom>
        </p:spPr>
        <p:txBody>
          <a:bodyPr vert="horz" anchor="b" anchorCtr="0"/>
          <a:lstStyle>
            <a:lvl1pPr marL="0" indent="0" algn="ctr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 sz="1800" baseline="0"/>
            </a:lvl1pPr>
            <a:lvl2pPr marL="520700" indent="0">
              <a:buNone/>
              <a:defRPr/>
            </a:lvl2pPr>
            <a:lvl3pPr marL="976313" indent="0">
              <a:buNone/>
              <a:defRPr/>
            </a:lvl3pPr>
            <a:lvl4pPr marL="1427162" indent="0"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1791758" y="5705856"/>
            <a:ext cx="8605310" cy="274320"/>
          </a:xfrm>
          <a:prstGeom prst="rect">
            <a:avLst/>
          </a:prstGeom>
        </p:spPr>
        <p:txBody>
          <a:bodyPr vert="horz" anchor="t" anchorCtr="0"/>
          <a:lstStyle>
            <a:lvl1pPr marL="0" indent="0" algn="ctr">
              <a:lnSpc>
                <a:spcPts val="1400"/>
              </a:lnSpc>
              <a:spcBef>
                <a:spcPts val="300"/>
              </a:spcBef>
              <a:spcAft>
                <a:spcPts val="600"/>
              </a:spcAft>
              <a:buFontTx/>
              <a:buNone/>
              <a:defRPr sz="1200" b="1" i="0" baseline="0"/>
            </a:lvl1pPr>
            <a:lvl2pPr marL="520700" indent="0">
              <a:buNone/>
              <a:defRPr/>
            </a:lvl2pPr>
            <a:lvl3pPr marL="976313" indent="0">
              <a:buNone/>
              <a:defRPr/>
            </a:lvl3pPr>
            <a:lvl4pPr marL="1427162" indent="0"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709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33083" y="1293094"/>
            <a:ext cx="5317368" cy="483061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/>
            </a:lvl1pPr>
            <a:lvl2pPr marL="539750" indent="-255588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defRPr sz="1800"/>
            </a:lvl2pPr>
            <a:lvl3pPr marL="757238" indent="-1841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 charset="0"/>
              <a:buChar char="•"/>
              <a:defRPr/>
            </a:lvl3pPr>
            <a:lvl4pPr marL="1033272" indent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FontTx/>
              <a:buNone/>
              <a:defRPr sz="1200"/>
            </a:lvl5pPr>
            <a:lvl6pPr>
              <a:buFont typeface="Arial" pitchFamily="34" charset="0"/>
              <a:buChar char="•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1"/>
          </p:nvPr>
        </p:nvSpPr>
        <p:spPr>
          <a:xfrm>
            <a:off x="6218828" y="1293094"/>
            <a:ext cx="5317368" cy="483061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/>
            </a:lvl1pPr>
            <a:lvl2pPr marL="539750" indent="-255588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defRPr sz="1800"/>
            </a:lvl2pPr>
            <a:lvl3pPr marL="757238" indent="-1841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 charset="0"/>
              <a:buChar char="•"/>
              <a:defRPr/>
            </a:lvl3pPr>
            <a:lvl4pPr marL="1033272" indent="1588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FontTx/>
              <a:buNone/>
              <a:defRPr sz="1200"/>
            </a:lvl5pPr>
            <a:lvl6pPr>
              <a:buFont typeface="Arial" pitchFamily="34" charset="0"/>
              <a:buChar char="•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37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33082" y="1293094"/>
            <a:ext cx="10915522" cy="483061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/>
            </a:lvl1pPr>
            <a:lvl2pPr marL="539750" indent="-255588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defRPr sz="1800"/>
            </a:lvl2pPr>
            <a:lvl3pPr marL="757238" indent="-1841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 charset="0"/>
              <a:buChar char="•"/>
              <a:defRPr/>
            </a:lvl3pPr>
            <a:lvl4pPr marL="1033272" indent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FontTx/>
              <a:buNone/>
              <a:defRPr sz="1200"/>
            </a:lvl5pPr>
            <a:lvl6pPr>
              <a:buFont typeface="Arial" pitchFamily="34" charset="0"/>
              <a:buChar char="•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6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38748-2AB8-029B-B53A-D73DEB3FE38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83044" y="239486"/>
            <a:ext cx="548640" cy="522514"/>
          </a:xfrm>
          <a:prstGeom prst="rect">
            <a:avLst/>
          </a:prstGeom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55449" y="100584"/>
            <a:ext cx="9677927" cy="81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64" tIns="46033" rIns="92064" bIns="460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32" name="Freeform 8"/>
          <p:cNvSpPr>
            <a:spLocks/>
          </p:cNvSpPr>
          <p:nvPr/>
        </p:nvSpPr>
        <p:spPr bwMode="auto">
          <a:xfrm>
            <a:off x="0" y="950976"/>
            <a:ext cx="12188825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144" y="0"/>
              </a:cxn>
              <a:cxn ang="0">
                <a:pos x="0" y="0"/>
              </a:cxn>
            </a:cxnLst>
            <a:rect l="0" t="0" r="r" b="b"/>
            <a:pathLst>
              <a:path w="6145" h="1">
                <a:moveTo>
                  <a:pt x="0" y="0"/>
                </a:moveTo>
                <a:lnTo>
                  <a:pt x="6144" y="0"/>
                </a:lnTo>
                <a:lnTo>
                  <a:pt x="0" y="0"/>
                </a:lnTo>
              </a:path>
            </a:pathLst>
          </a:custGeom>
          <a:noFill/>
          <a:ln w="22225" cap="flat" cmpd="sng">
            <a:solidFill>
              <a:schemeClr val="accent4"/>
            </a:solidFill>
            <a:prstDash val="solid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426609" y="6455664"/>
            <a:ext cx="1450470" cy="219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0" i="0" dirty="0"/>
              <a:t>Presentation</a:t>
            </a:r>
            <a:r>
              <a:rPr lang="en-US" altLang="en-US" sz="700" b="0" i="0" baseline="0" dirty="0"/>
              <a:t> Name - </a:t>
            </a:r>
            <a:fld id="{321F32AB-3DDB-C54A-A434-42EC1FB733CD}" type="slidenum">
              <a:rPr lang="en-US" altLang="en-US" sz="700" b="0" i="0" smtClean="0"/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700" b="0" i="0" baseline="0" dirty="0"/>
          </a:p>
          <a:p>
            <a:pPr algn="l">
              <a:lnSpc>
                <a:spcPct val="100000"/>
              </a:lnSpc>
            </a:pPr>
            <a:r>
              <a:rPr lang="en-US" altLang="en-US" sz="700" b="0" i="0" baseline="0" dirty="0"/>
              <a:t>Author Initials  MM/DD/YY</a:t>
            </a:r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0" y="6355080"/>
            <a:ext cx="12188825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144" y="0"/>
              </a:cxn>
              <a:cxn ang="0">
                <a:pos x="0" y="0"/>
              </a:cxn>
            </a:cxnLst>
            <a:rect l="0" t="0" r="r" b="b"/>
            <a:pathLst>
              <a:path w="6145" h="1">
                <a:moveTo>
                  <a:pt x="0" y="0"/>
                </a:moveTo>
                <a:lnTo>
                  <a:pt x="6144" y="0"/>
                </a:lnTo>
                <a:lnTo>
                  <a:pt x="0" y="0"/>
                </a:lnTo>
              </a:path>
            </a:pathLst>
          </a:custGeom>
          <a:noFill/>
          <a:ln w="22225" cap="flat" cmpd="sng">
            <a:solidFill>
              <a:schemeClr val="accent4"/>
            </a:solidFill>
            <a:prstDash val="solid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LL_Logo_blue_nomark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496" y="6473952"/>
            <a:ext cx="2023269" cy="2300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4" r:id="rId4"/>
    <p:sldLayoutId id="2147483662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3" r:id="rId11"/>
    <p:sldLayoutId id="2147483664" r:id="rId12"/>
  </p:sldLayoutIdLst>
  <p:txStyles>
    <p:titleStyle>
      <a:lvl1pPr algn="ctr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2pPr>
      <a:lvl3pPr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3pPr>
      <a:lvl4pPr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4pPr>
      <a:lvl5pPr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5pPr>
      <a:lvl6pPr marL="457200"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6pPr>
      <a:lvl7pPr marL="914400"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7pPr>
      <a:lvl8pPr marL="1371600"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8pPr>
      <a:lvl9pPr marL="1828800" algn="ctr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itchFamily="-110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25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862013" indent="-341313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–"/>
        <a:defRPr b="1">
          <a:solidFill>
            <a:schemeClr val="tx1"/>
          </a:solidFill>
          <a:latin typeface="+mn-lt"/>
          <a:ea typeface="ＭＳ Ｐゴシック" pitchFamily="-110" charset="-128"/>
        </a:defRPr>
      </a:lvl2pPr>
      <a:lvl3pPr marL="1204913" indent="-2286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600" b="1">
          <a:solidFill>
            <a:schemeClr val="tx1"/>
          </a:solidFill>
          <a:latin typeface="+mn-lt"/>
          <a:ea typeface="ＭＳ Ｐゴシック" pitchFamily="-110" charset="-128"/>
        </a:defRPr>
      </a:lvl3pPr>
      <a:lvl4pPr marL="1546225" indent="-119063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  <a:ea typeface="ＭＳ Ｐゴシック" pitchFamily="-110" charset="-128"/>
        </a:defRPr>
      </a:lvl4pPr>
      <a:lvl5pPr marL="18288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  <a:ea typeface="ＭＳ Ｐゴシック" pitchFamily="-110" charset="-128"/>
        </a:defRPr>
      </a:lvl5pPr>
      <a:lvl6pPr marL="22860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  <a:ea typeface="ＭＳ Ｐゴシック" pitchFamily="-110" charset="-128"/>
        </a:defRPr>
      </a:lvl6pPr>
      <a:lvl7pPr marL="27432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  <a:ea typeface="ＭＳ Ｐゴシック" pitchFamily="-110" charset="-128"/>
        </a:defRPr>
      </a:lvl7pPr>
      <a:lvl8pPr marL="32004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  <a:ea typeface="ＭＳ Ｐゴシック" pitchFamily="-110" charset="-128"/>
        </a:defRPr>
      </a:lvl8pPr>
      <a:lvl9pPr marL="36576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Zero-Shot Relation Classification with LLMs: </a:t>
            </a:r>
            <a:r>
              <a:rPr lang="en-US" sz="3200" dirty="0"/>
              <a:t>Binary Prompting and Relevance Elicitation</a:t>
            </a:r>
            <a:endParaRPr lang="en-US" dirty="0"/>
          </a:p>
        </p:txBody>
      </p:sp>
      <p:sp>
        <p:nvSpPr>
          <p:cNvPr id="4110" name="Text Box 14"/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1109183" y="3008376"/>
            <a:ext cx="9970459" cy="1792224"/>
          </a:xfrm>
          <a:noFill/>
          <a:ln/>
        </p:spPr>
        <p:txBody>
          <a:bodyPr/>
          <a:lstStyle/>
          <a:p>
            <a:r>
              <a:rPr lang="en-US" altLang="en-US" sz="2400" dirty="0"/>
              <a:t>Sheila Alemany, Danielle Sullivan-Pao, Olga Simek</a:t>
            </a:r>
          </a:p>
          <a:p>
            <a:r>
              <a:rPr lang="en-US" altLang="en-US" sz="2000" dirty="0"/>
              <a:t>11</a:t>
            </a:r>
            <a:r>
              <a:rPr lang="en-US" altLang="en-US" sz="2000" baseline="30000" dirty="0"/>
              <a:t>th</a:t>
            </a:r>
            <a:r>
              <a:rPr lang="en-US" altLang="en-US" sz="2000" dirty="0"/>
              <a:t> Workshop on Automated Knowledge Base Construction (AKBC) </a:t>
            </a:r>
            <a:br>
              <a:rPr lang="en-US" altLang="en-US" sz="2000" dirty="0"/>
            </a:br>
            <a:r>
              <a:rPr lang="en-US" altLang="en-US" sz="2000" dirty="0"/>
              <a:t>at EMNLP 2026</a:t>
            </a:r>
            <a:endParaRPr lang="en-US" altLang="en-US" dirty="0"/>
          </a:p>
          <a:p>
            <a:r>
              <a:rPr lang="en-US" altLang="en-US" sz="2000" dirty="0"/>
              <a:t>October 28, 2026</a:t>
            </a: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EFCC0-D1A5-FC60-C588-A88247771888}"/>
              </a:ext>
            </a:extLst>
          </p:cNvPr>
          <p:cNvSpPr txBox="1"/>
          <p:nvPr/>
        </p:nvSpPr>
        <p:spPr>
          <a:xfrm>
            <a:off x="383009" y="5747657"/>
            <a:ext cx="11422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DISTRIBUTION STATEMENT A. Approved for public release. Distribution is unlimited. This material is based upon work supported by the Combatant Commands under Air Force Contract No. FA8702-15-D-0001 or FA8702-25-D-B002. Any opinions, findings, conclusions or recommendations expressed in this material are those of the author(s) and do not necessarily reflect the views of the Combatant Commands.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© 2026 Massachusetts Institute of Technology. Delivered to the U.S. Government with Unlimited Rights, as defined in DFARS Part 252.227-7013 or 7014 (Feb 2014). Notwithstanding any copyright notice, U.S. Government rights in this work are defined by DFARS 252.227-7013 or DFARS 252.227-7014 as detailed above. Use of this work other than as specifically authorized by the U.S. Government may violate any copyrights that exist in this work.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3ADC-77DE-E096-44E7-AE7EDE8C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B022CF-5AA5-B0B9-6317-51D38EEE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Classification Pipeline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4D276833-8274-1E5A-5DD7-EC1F8C3FC1AA}"/>
              </a:ext>
            </a:extLst>
          </p:cNvPr>
          <p:cNvGrpSpPr/>
          <p:nvPr/>
        </p:nvGrpSpPr>
        <p:grpSpPr>
          <a:xfrm>
            <a:off x="1104192" y="3448753"/>
            <a:ext cx="9980440" cy="2463674"/>
            <a:chOff x="1150348" y="1210399"/>
            <a:chExt cx="9980440" cy="2463674"/>
          </a:xfrm>
        </p:grpSpPr>
        <p:sp>
          <p:nvSpPr>
            <p:cNvPr id="82" name="Down Arrow 51">
              <a:extLst>
                <a:ext uri="{FF2B5EF4-FFF2-40B4-BE49-F238E27FC236}">
                  <a16:creationId xmlns:a16="http://schemas.microsoft.com/office/drawing/2014/main" id="{136BC0F1-44DA-03FA-2CFD-B63ECADA8A0C}"/>
                </a:ext>
              </a:extLst>
            </p:cNvPr>
            <p:cNvSpPr/>
            <p:nvPr/>
          </p:nvSpPr>
          <p:spPr>
            <a:xfrm rot="16200000">
              <a:off x="4380757" y="2228648"/>
              <a:ext cx="365760" cy="427176"/>
            </a:xfrm>
            <a:prstGeom prst="downArrow">
              <a:avLst>
                <a:gd name="adj1" fmla="val 50000"/>
                <a:gd name="adj2" fmla="val 5504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Down Arrow 51">
              <a:extLst>
                <a:ext uri="{FF2B5EF4-FFF2-40B4-BE49-F238E27FC236}">
                  <a16:creationId xmlns:a16="http://schemas.microsoft.com/office/drawing/2014/main" id="{C414C562-209F-BAA6-4BC4-62C06CDA4EC1}"/>
                </a:ext>
              </a:extLst>
            </p:cNvPr>
            <p:cNvSpPr/>
            <p:nvPr/>
          </p:nvSpPr>
          <p:spPr>
            <a:xfrm rot="16200000">
              <a:off x="8263417" y="2228648"/>
              <a:ext cx="365760" cy="427176"/>
            </a:xfrm>
            <a:prstGeom prst="downArrow">
              <a:avLst>
                <a:gd name="adj1" fmla="val 50000"/>
                <a:gd name="adj2" fmla="val 55043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048" name="Group 1047">
              <a:extLst>
                <a:ext uri="{FF2B5EF4-FFF2-40B4-BE49-F238E27FC236}">
                  <a16:creationId xmlns:a16="http://schemas.microsoft.com/office/drawing/2014/main" id="{F7D838A0-F25B-B43E-24C4-7979A89F5DF2}"/>
                </a:ext>
              </a:extLst>
            </p:cNvPr>
            <p:cNvGrpSpPr/>
            <p:nvPr/>
          </p:nvGrpSpPr>
          <p:grpSpPr>
            <a:xfrm>
              <a:off x="8915666" y="1771664"/>
              <a:ext cx="2215122" cy="1341145"/>
              <a:chOff x="9445605" y="1891060"/>
              <a:chExt cx="2215122" cy="1341145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50A73C9-AE13-0394-030B-86CCBD3858B7}"/>
                  </a:ext>
                </a:extLst>
              </p:cNvPr>
              <p:cNvSpPr txBox="1"/>
              <p:nvPr/>
            </p:nvSpPr>
            <p:spPr>
              <a:xfrm>
                <a:off x="9494353" y="2924428"/>
                <a:ext cx="21176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Downstream Analysis 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F9F7B64-D8F0-1520-5382-BFDF6D3EA093}"/>
                  </a:ext>
                </a:extLst>
              </p:cNvPr>
              <p:cNvSpPr txBox="1"/>
              <p:nvPr/>
            </p:nvSpPr>
            <p:spPr>
              <a:xfrm>
                <a:off x="9445605" y="1891060"/>
                <a:ext cx="221512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Helvetica" pitchFamily="2" charset="0"/>
                  </a:rPr>
                  <a:t>K</a:t>
                </a:r>
                <a:r>
                  <a:rPr lang="en-US" sz="1400" dirty="0">
                    <a:effectLst/>
                    <a:latin typeface="Helvetica" pitchFamily="2" charset="0"/>
                  </a:rPr>
                  <a:t>nowledge graph construction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Helvetica" pitchFamily="2" charset="0"/>
                  </a:rPr>
                  <a:t>Q</a:t>
                </a:r>
                <a:r>
                  <a:rPr lang="en-US" sz="1400" dirty="0">
                    <a:effectLst/>
                    <a:latin typeface="Helvetica" pitchFamily="2" charset="0"/>
                  </a:rPr>
                  <a:t>uestion answering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Helvetica" pitchFamily="2" charset="0"/>
                  </a:rPr>
                  <a:t>S</a:t>
                </a:r>
                <a:r>
                  <a:rPr lang="en-US" sz="1400" dirty="0">
                    <a:effectLst/>
                    <a:latin typeface="Helvetica" pitchFamily="2" charset="0"/>
                  </a:rPr>
                  <a:t>emantic search</a:t>
                </a:r>
              </a:p>
            </p:txBody>
          </p: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B2CD13B3-D1D0-6575-F41E-D135C06070D8}"/>
                </a:ext>
              </a:extLst>
            </p:cNvPr>
            <p:cNvGrpSpPr/>
            <p:nvPr/>
          </p:nvGrpSpPr>
          <p:grpSpPr>
            <a:xfrm>
              <a:off x="1150348" y="1210399"/>
              <a:ext cx="2943918" cy="2463674"/>
              <a:chOff x="1454165" y="1363608"/>
              <a:chExt cx="2943918" cy="2463674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3FB8C05-01B8-DE34-E42E-00A66EEF378A}"/>
                  </a:ext>
                </a:extLst>
              </p:cNvPr>
              <p:cNvSpPr txBox="1"/>
              <p:nvPr/>
            </p:nvSpPr>
            <p:spPr>
              <a:xfrm>
                <a:off x="1856966" y="3519505"/>
                <a:ext cx="21383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Known Entities</a:t>
                </a: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FDE1C151-F19C-D3B1-13CE-04441B929221}"/>
                  </a:ext>
                </a:extLst>
              </p:cNvPr>
              <p:cNvGrpSpPr/>
              <p:nvPr/>
            </p:nvGrpSpPr>
            <p:grpSpPr>
              <a:xfrm>
                <a:off x="1454165" y="1363608"/>
                <a:ext cx="2943918" cy="2051311"/>
                <a:chOff x="1454165" y="1342457"/>
                <a:chExt cx="2943918" cy="2051311"/>
              </a:xfrm>
            </p:grpSpPr>
            <p:pic>
              <p:nvPicPr>
                <p:cNvPr id="45" name="Graphic 44" descr="User with solid fill">
                  <a:extLst>
                    <a:ext uri="{FF2B5EF4-FFF2-40B4-BE49-F238E27FC236}">
                      <a16:creationId xmlns:a16="http://schemas.microsoft.com/office/drawing/2014/main" id="{05B67095-5B88-8A68-ACEE-589D0D563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5048" y="2087230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46" name="Graphic 45" descr="User with solid fill">
                  <a:extLst>
                    <a:ext uri="{FF2B5EF4-FFF2-40B4-BE49-F238E27FC236}">
                      <a16:creationId xmlns:a16="http://schemas.microsoft.com/office/drawing/2014/main" id="{D3D0A2E3-57CD-2F72-1CB3-7B8B02A27F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6137" y="2827126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47" name="Graphic 46" descr="User with solid fill">
                  <a:extLst>
                    <a:ext uri="{FF2B5EF4-FFF2-40B4-BE49-F238E27FC236}">
                      <a16:creationId xmlns:a16="http://schemas.microsoft.com/office/drawing/2014/main" id="{DF03E834-8E22-B6F8-41A4-8C0DA4B50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15352" y="1775083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48" name="Graphic 47" descr="User with solid fill">
                  <a:extLst>
                    <a:ext uri="{FF2B5EF4-FFF2-40B4-BE49-F238E27FC236}">
                      <a16:creationId xmlns:a16="http://schemas.microsoft.com/office/drawing/2014/main" id="{3DA8FB5F-D56C-D72C-8CCF-A2535C51C7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09405" y="1612984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60" name="Graphic 59" descr="User with solid fill">
                  <a:extLst>
                    <a:ext uri="{FF2B5EF4-FFF2-40B4-BE49-F238E27FC236}">
                      <a16:creationId xmlns:a16="http://schemas.microsoft.com/office/drawing/2014/main" id="{12BED11F-FE21-5B76-E824-3773110058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57693" y="2059858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61" name="Graphic 60" descr="User with solid fill">
                  <a:extLst>
                    <a:ext uri="{FF2B5EF4-FFF2-40B4-BE49-F238E27FC236}">
                      <a16:creationId xmlns:a16="http://schemas.microsoft.com/office/drawing/2014/main" id="{381FBACD-9AB3-59D1-5EB3-619B4241DA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10088" y="2147060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62" name="Graphic 61" descr="User with solid fill">
                  <a:extLst>
                    <a:ext uri="{FF2B5EF4-FFF2-40B4-BE49-F238E27FC236}">
                      <a16:creationId xmlns:a16="http://schemas.microsoft.com/office/drawing/2014/main" id="{AD22C9FE-E29D-9F29-7E72-C0D78807B5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94176" y="2135516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63" name="Graphic 62" descr="User with solid fill">
                  <a:extLst>
                    <a:ext uri="{FF2B5EF4-FFF2-40B4-BE49-F238E27FC236}">
                      <a16:creationId xmlns:a16="http://schemas.microsoft.com/office/drawing/2014/main" id="{234A6465-FE7B-1C6F-BDC8-FC2DEC6367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31711" y="2579603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64" name="Graphic 63" descr="User with solid fill">
                  <a:extLst>
                    <a:ext uri="{FF2B5EF4-FFF2-40B4-BE49-F238E27FC236}">
                      <a16:creationId xmlns:a16="http://schemas.microsoft.com/office/drawing/2014/main" id="{9E1FCDFC-A391-9A48-BF47-470EDA1B98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7578" y="2702023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65" name="Graphic 64" descr="User with solid fill">
                  <a:extLst>
                    <a:ext uri="{FF2B5EF4-FFF2-40B4-BE49-F238E27FC236}">
                      <a16:creationId xmlns:a16="http://schemas.microsoft.com/office/drawing/2014/main" id="{A874DF9E-DE0C-F12A-3FF6-B1622E54AE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17952" y="2973263"/>
                  <a:ext cx="420505" cy="420505"/>
                </a:xfrm>
                <a:prstGeom prst="rect">
                  <a:avLst/>
                </a:prstGeom>
              </p:spPr>
            </p:pic>
            <p:pic>
              <p:nvPicPr>
                <p:cNvPr id="67" name="Graphic 66" descr="Speech outline">
                  <a:extLst>
                    <a:ext uri="{FF2B5EF4-FFF2-40B4-BE49-F238E27FC236}">
                      <a16:creationId xmlns:a16="http://schemas.microsoft.com/office/drawing/2014/main" id="{6C016604-A7B5-A9F8-01F1-C43B9AEACF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54165" y="1794594"/>
                  <a:ext cx="407731" cy="407731"/>
                </a:xfrm>
                <a:prstGeom prst="rect">
                  <a:avLst/>
                </a:prstGeom>
              </p:spPr>
            </p:pic>
            <p:pic>
              <p:nvPicPr>
                <p:cNvPr id="68" name="Graphic 67" descr="Speech outline">
                  <a:extLst>
                    <a:ext uri="{FF2B5EF4-FFF2-40B4-BE49-F238E27FC236}">
                      <a16:creationId xmlns:a16="http://schemas.microsoft.com/office/drawing/2014/main" id="{FC4928A4-E06D-808C-3707-9D06CD822C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3002887" y="1342457"/>
                  <a:ext cx="407731" cy="407731"/>
                </a:xfrm>
                <a:prstGeom prst="rect">
                  <a:avLst/>
                </a:prstGeom>
              </p:spPr>
            </p:pic>
            <p:pic>
              <p:nvPicPr>
                <p:cNvPr id="69" name="Graphic 68" descr="Speech outline">
                  <a:extLst>
                    <a:ext uri="{FF2B5EF4-FFF2-40B4-BE49-F238E27FC236}">
                      <a16:creationId xmlns:a16="http://schemas.microsoft.com/office/drawing/2014/main" id="{A55EE876-D110-B47E-0C7D-52D63C4ED4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3485597" y="1883364"/>
                  <a:ext cx="407731" cy="407731"/>
                </a:xfrm>
                <a:prstGeom prst="rect">
                  <a:avLst/>
                </a:prstGeom>
              </p:spPr>
            </p:pic>
            <p:pic>
              <p:nvPicPr>
                <p:cNvPr id="83" name="Graphic 82" descr="Speech outline">
                  <a:extLst>
                    <a:ext uri="{FF2B5EF4-FFF2-40B4-BE49-F238E27FC236}">
                      <a16:creationId xmlns:a16="http://schemas.microsoft.com/office/drawing/2014/main" id="{CAD71620-6CE1-2A1D-FFC2-AA967DFB9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51465" y="2702023"/>
                  <a:ext cx="407731" cy="40773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7" name="Group 1046">
              <a:extLst>
                <a:ext uri="{FF2B5EF4-FFF2-40B4-BE49-F238E27FC236}">
                  <a16:creationId xmlns:a16="http://schemas.microsoft.com/office/drawing/2014/main" id="{8AD4D92D-5D3E-65C6-729B-C95EADF088EF}"/>
                </a:ext>
              </a:extLst>
            </p:cNvPr>
            <p:cNvGrpSpPr/>
            <p:nvPr/>
          </p:nvGrpSpPr>
          <p:grpSpPr>
            <a:xfrm>
              <a:off x="5033008" y="1210399"/>
              <a:ext cx="2943918" cy="2463674"/>
              <a:chOff x="4966607" y="1363608"/>
              <a:chExt cx="2943918" cy="2463674"/>
            </a:xfrm>
          </p:grpSpPr>
          <p:grpSp>
            <p:nvGrpSpPr>
              <p:cNvPr id="1045" name="Group 1044">
                <a:extLst>
                  <a:ext uri="{FF2B5EF4-FFF2-40B4-BE49-F238E27FC236}">
                    <a16:creationId xmlns:a16="http://schemas.microsoft.com/office/drawing/2014/main" id="{7043D9C1-BD82-86E9-2574-D894BB6A16AB}"/>
                  </a:ext>
                </a:extLst>
              </p:cNvPr>
              <p:cNvGrpSpPr/>
              <p:nvPr/>
            </p:nvGrpSpPr>
            <p:grpSpPr>
              <a:xfrm>
                <a:off x="4966607" y="1363608"/>
                <a:ext cx="2943918" cy="2051311"/>
                <a:chOff x="4966607" y="1363608"/>
                <a:chExt cx="2943918" cy="2051311"/>
              </a:xfrm>
            </p:grpSpPr>
            <p:cxnSp>
              <p:nvCxnSpPr>
                <p:cNvPr id="1025" name="Straight Connector 1024">
                  <a:extLst>
                    <a:ext uri="{FF2B5EF4-FFF2-40B4-BE49-F238E27FC236}">
                      <a16:creationId xmlns:a16="http://schemas.microsoft.com/office/drawing/2014/main" id="{66775A00-68AE-0037-5F62-23C8405E3923}"/>
                    </a:ext>
                  </a:extLst>
                </p:cNvPr>
                <p:cNvCxnSpPr/>
                <p:nvPr/>
              </p:nvCxnSpPr>
              <p:spPr>
                <a:xfrm flipV="1">
                  <a:off x="5327742" y="2081009"/>
                  <a:ext cx="710304" cy="32091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9" name="Straight Connector 1028">
                  <a:extLst>
                    <a:ext uri="{FF2B5EF4-FFF2-40B4-BE49-F238E27FC236}">
                      <a16:creationId xmlns:a16="http://schemas.microsoft.com/office/drawing/2014/main" id="{8A5AC50D-834A-5310-A0CE-238C504C23F8}"/>
                    </a:ext>
                  </a:extLst>
                </p:cNvPr>
                <p:cNvCxnSpPr/>
                <p:nvPr/>
              </p:nvCxnSpPr>
              <p:spPr>
                <a:xfrm>
                  <a:off x="5327742" y="2401920"/>
                  <a:ext cx="500052" cy="7417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3FF6D6D0-7DF5-3AF2-4891-1538BC59D90E}"/>
                    </a:ext>
                  </a:extLst>
                </p:cNvPr>
                <p:cNvCxnSpPr/>
                <p:nvPr/>
              </p:nvCxnSpPr>
              <p:spPr>
                <a:xfrm>
                  <a:off x="5848831" y="3143679"/>
                  <a:ext cx="870363" cy="1385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3" name="Straight Connector 1032">
                  <a:extLst>
                    <a:ext uri="{FF2B5EF4-FFF2-40B4-BE49-F238E27FC236}">
                      <a16:creationId xmlns:a16="http://schemas.microsoft.com/office/drawing/2014/main" id="{A547C9F9-824D-B9D2-A304-AB29987F84FD}"/>
                    </a:ext>
                  </a:extLst>
                </p:cNvPr>
                <p:cNvCxnSpPr/>
                <p:nvPr/>
              </p:nvCxnSpPr>
              <p:spPr>
                <a:xfrm flipV="1">
                  <a:off x="6740646" y="2886716"/>
                  <a:ext cx="513759" cy="39546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F5BCE1C3-F69E-44C3-79BD-C2777693FB17}"/>
                    </a:ext>
                  </a:extLst>
                </p:cNvPr>
                <p:cNvCxnSpPr/>
                <p:nvPr/>
              </p:nvCxnSpPr>
              <p:spPr>
                <a:xfrm>
                  <a:off x="7254405" y="2890816"/>
                  <a:ext cx="445867" cy="13044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7" name="Straight Connector 1036">
                  <a:extLst>
                    <a:ext uri="{FF2B5EF4-FFF2-40B4-BE49-F238E27FC236}">
                      <a16:creationId xmlns:a16="http://schemas.microsoft.com/office/drawing/2014/main" id="{A902B348-ACD0-C5E0-35BA-E8C20D113503}"/>
                    </a:ext>
                  </a:extLst>
                </p:cNvPr>
                <p:cNvCxnSpPr/>
                <p:nvPr/>
              </p:nvCxnSpPr>
              <p:spPr>
                <a:xfrm flipH="1" flipV="1">
                  <a:off x="6480387" y="2366919"/>
                  <a:ext cx="563766" cy="851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9" name="Straight Connector 1038">
                  <a:extLst>
                    <a:ext uri="{FF2B5EF4-FFF2-40B4-BE49-F238E27FC236}">
                      <a16:creationId xmlns:a16="http://schemas.microsoft.com/office/drawing/2014/main" id="{706DE879-6EF1-9077-E808-AC332366111C}"/>
                    </a:ext>
                  </a:extLst>
                </p:cNvPr>
                <p:cNvCxnSpPr/>
                <p:nvPr/>
              </p:nvCxnSpPr>
              <p:spPr>
                <a:xfrm>
                  <a:off x="7044153" y="2456169"/>
                  <a:ext cx="57271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1" name="Straight Connector 1040">
                  <a:extLst>
                    <a:ext uri="{FF2B5EF4-FFF2-40B4-BE49-F238E27FC236}">
                      <a16:creationId xmlns:a16="http://schemas.microsoft.com/office/drawing/2014/main" id="{1A395805-D5BC-C058-71F9-17F22273CAB5}"/>
                    </a:ext>
                  </a:extLst>
                </p:cNvPr>
                <p:cNvCxnSpPr/>
                <p:nvPr/>
              </p:nvCxnSpPr>
              <p:spPr>
                <a:xfrm flipH="1" flipV="1">
                  <a:off x="6530394" y="1904515"/>
                  <a:ext cx="513759" cy="5475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>
                  <a:extLst>
                    <a:ext uri="{FF2B5EF4-FFF2-40B4-BE49-F238E27FC236}">
                      <a16:creationId xmlns:a16="http://schemas.microsoft.com/office/drawing/2014/main" id="{83E07CE1-6FC7-821D-09B5-2373138F03C2}"/>
                    </a:ext>
                  </a:extLst>
                </p:cNvPr>
                <p:cNvCxnSpPr/>
                <p:nvPr/>
              </p:nvCxnSpPr>
              <p:spPr>
                <a:xfrm flipV="1">
                  <a:off x="5848831" y="2366919"/>
                  <a:ext cx="631556" cy="76398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D9C111EC-0697-16D3-C278-1EA345CFC712}"/>
                    </a:ext>
                  </a:extLst>
                </p:cNvPr>
                <p:cNvGrpSpPr/>
                <p:nvPr/>
              </p:nvGrpSpPr>
              <p:grpSpPr>
                <a:xfrm>
                  <a:off x="4966607" y="1363608"/>
                  <a:ext cx="2943918" cy="2051311"/>
                  <a:chOff x="1454165" y="1342457"/>
                  <a:chExt cx="2943918" cy="2051311"/>
                </a:xfrm>
              </p:grpSpPr>
              <p:pic>
                <p:nvPicPr>
                  <p:cNvPr id="113" name="Graphic 112" descr="User with solid fill">
                    <a:extLst>
                      <a:ext uri="{FF2B5EF4-FFF2-40B4-BE49-F238E27FC236}">
                        <a16:creationId xmlns:a16="http://schemas.microsoft.com/office/drawing/2014/main" id="{B625E62F-6E3E-6DA7-A6FF-3CB9718177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5048" y="2087230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14" name="Graphic 113" descr="User with solid fill">
                    <a:extLst>
                      <a:ext uri="{FF2B5EF4-FFF2-40B4-BE49-F238E27FC236}">
                        <a16:creationId xmlns:a16="http://schemas.microsoft.com/office/drawing/2014/main" id="{9599A4A5-1BCE-49B8-5CE1-81B7B282D0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6137" y="2827126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15" name="Graphic 114" descr="User with solid fill">
                    <a:extLst>
                      <a:ext uri="{FF2B5EF4-FFF2-40B4-BE49-F238E27FC236}">
                        <a16:creationId xmlns:a16="http://schemas.microsoft.com/office/drawing/2014/main" id="{2B55365E-815C-FD77-5B5A-34949CC054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15352" y="1775083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16" name="Graphic 115" descr="User with solid fill">
                    <a:extLst>
                      <a:ext uri="{FF2B5EF4-FFF2-40B4-BE49-F238E27FC236}">
                        <a16:creationId xmlns:a16="http://schemas.microsoft.com/office/drawing/2014/main" id="{C7F255E7-97C7-C49B-D499-5B9CDD1A54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09405" y="1612984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17" name="Graphic 116" descr="User with solid fill">
                    <a:extLst>
                      <a:ext uri="{FF2B5EF4-FFF2-40B4-BE49-F238E27FC236}">
                        <a16:creationId xmlns:a16="http://schemas.microsoft.com/office/drawing/2014/main" id="{D6EBA548-095A-BACE-6813-279FC59A2E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57693" y="2059858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18" name="Graphic 117" descr="User with solid fill">
                    <a:extLst>
                      <a:ext uri="{FF2B5EF4-FFF2-40B4-BE49-F238E27FC236}">
                        <a16:creationId xmlns:a16="http://schemas.microsoft.com/office/drawing/2014/main" id="{C3FC3EAE-6833-E38D-F841-E61AD64D8A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310088" y="2147060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19" name="Graphic 118" descr="User with solid fill">
                    <a:extLst>
                      <a:ext uri="{FF2B5EF4-FFF2-40B4-BE49-F238E27FC236}">
                        <a16:creationId xmlns:a16="http://schemas.microsoft.com/office/drawing/2014/main" id="{51D82061-195A-828D-D837-1BECA88E42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894176" y="2135516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20" name="Graphic 119" descr="User with solid fill">
                    <a:extLst>
                      <a:ext uri="{FF2B5EF4-FFF2-40B4-BE49-F238E27FC236}">
                        <a16:creationId xmlns:a16="http://schemas.microsoft.com/office/drawing/2014/main" id="{C4AE4042-46CA-D381-E916-5FB1E5DFBE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31711" y="2579603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21" name="Graphic 120" descr="User with solid fill">
                    <a:extLst>
                      <a:ext uri="{FF2B5EF4-FFF2-40B4-BE49-F238E27FC236}">
                        <a16:creationId xmlns:a16="http://schemas.microsoft.com/office/drawing/2014/main" id="{E979D7BB-4865-0C3A-D3D6-D7DEF7E34C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977578" y="2702023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22" name="Graphic 121" descr="User with solid fill">
                    <a:extLst>
                      <a:ext uri="{FF2B5EF4-FFF2-40B4-BE49-F238E27FC236}">
                        <a16:creationId xmlns:a16="http://schemas.microsoft.com/office/drawing/2014/main" id="{7088FBD2-F78C-D041-BDCF-0EDFCF08D6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17952" y="2973263"/>
                    <a:ext cx="420505" cy="420505"/>
                  </a:xfrm>
                  <a:prstGeom prst="rect">
                    <a:avLst/>
                  </a:prstGeom>
                </p:spPr>
              </p:pic>
              <p:pic>
                <p:nvPicPr>
                  <p:cNvPr id="123" name="Graphic 122" descr="Speech outline">
                    <a:extLst>
                      <a:ext uri="{FF2B5EF4-FFF2-40B4-BE49-F238E27FC236}">
                        <a16:creationId xmlns:a16="http://schemas.microsoft.com/office/drawing/2014/main" id="{46B6F246-0052-BE64-00DA-7D04B642DB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54165" y="1794594"/>
                    <a:ext cx="407731" cy="407731"/>
                  </a:xfrm>
                  <a:prstGeom prst="rect">
                    <a:avLst/>
                  </a:prstGeom>
                </p:spPr>
              </p:pic>
              <p:pic>
                <p:nvPicPr>
                  <p:cNvPr id="124" name="Graphic 123" descr="Speech outline">
                    <a:extLst>
                      <a:ext uri="{FF2B5EF4-FFF2-40B4-BE49-F238E27FC236}">
                        <a16:creationId xmlns:a16="http://schemas.microsoft.com/office/drawing/2014/main" id="{AE34A134-C11B-8D3B-26A6-C7450C4D30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3002887" y="1342457"/>
                    <a:ext cx="407731" cy="407731"/>
                  </a:xfrm>
                  <a:prstGeom prst="rect">
                    <a:avLst/>
                  </a:prstGeom>
                </p:spPr>
              </p:pic>
              <p:pic>
                <p:nvPicPr>
                  <p:cNvPr id="125" name="Graphic 124" descr="Speech outline">
                    <a:extLst>
                      <a:ext uri="{FF2B5EF4-FFF2-40B4-BE49-F238E27FC236}">
                        <a16:creationId xmlns:a16="http://schemas.microsoft.com/office/drawing/2014/main" id="{168D1BF9-6022-94AD-748B-29FFD379A9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3485597" y="1883364"/>
                    <a:ext cx="407731" cy="407731"/>
                  </a:xfrm>
                  <a:prstGeom prst="rect">
                    <a:avLst/>
                  </a:prstGeom>
                </p:spPr>
              </p:pic>
              <p:pic>
                <p:nvPicPr>
                  <p:cNvPr id="126" name="Graphic 125" descr="Speech outline">
                    <a:extLst>
                      <a:ext uri="{FF2B5EF4-FFF2-40B4-BE49-F238E27FC236}">
                        <a16:creationId xmlns:a16="http://schemas.microsoft.com/office/drawing/2014/main" id="{E2B4DA0C-BA38-860F-DB50-4C59DD792F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51465" y="2702023"/>
                    <a:ext cx="407731" cy="407731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A595CB24-1F4B-7F6B-8DB7-B8923C37C85B}"/>
                  </a:ext>
                </a:extLst>
              </p:cNvPr>
              <p:cNvSpPr txBox="1"/>
              <p:nvPr/>
            </p:nvSpPr>
            <p:spPr>
              <a:xfrm>
                <a:off x="5369408" y="3519505"/>
                <a:ext cx="21383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Relationships</a:t>
                </a:r>
              </a:p>
            </p:txBody>
          </p:sp>
        </p:grpSp>
      </p:grpSp>
      <p:sp>
        <p:nvSpPr>
          <p:cNvPr id="1051" name="Content Placeholder 1">
            <a:extLst>
              <a:ext uri="{FF2B5EF4-FFF2-40B4-BE49-F238E27FC236}">
                <a16:creationId xmlns:a16="http://schemas.microsoft.com/office/drawing/2014/main" id="{17EE72AB-1E31-CA46-EAEB-276904B4F3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3540" y="1188986"/>
            <a:ext cx="10601745" cy="2218015"/>
          </a:xfrm>
        </p:spPr>
        <p:txBody>
          <a:bodyPr anchor="t"/>
          <a:lstStyle/>
          <a:p>
            <a:r>
              <a:rPr lang="en-US" sz="1600" dirty="0"/>
              <a:t>Relation Classification (RC) automatically classifies relationships between entities in text to enable downstream analysis</a:t>
            </a:r>
          </a:p>
          <a:p>
            <a:r>
              <a:rPr lang="en-US" sz="1600" dirty="0"/>
              <a:t>For social network analysis, this allows us to identify implicit relations that may not already be established in the network</a:t>
            </a:r>
          </a:p>
          <a:p>
            <a:r>
              <a:rPr lang="en-US" sz="1600" dirty="0">
                <a:solidFill>
                  <a:schemeClr val="tx1"/>
                </a:solidFill>
              </a:rPr>
              <a:t>Assumptions: </a:t>
            </a:r>
          </a:p>
          <a:p>
            <a:pPr lvl="1"/>
            <a:r>
              <a:rPr lang="en-US" sz="1600" dirty="0">
                <a:cs typeface="Arial"/>
              </a:rPr>
              <a:t>The entities and relation types of interest are known in advance</a:t>
            </a:r>
          </a:p>
          <a:p>
            <a:pPr lvl="1"/>
            <a:r>
              <a:rPr lang="en-US" sz="1600" dirty="0">
                <a:cs typeface="Arial"/>
              </a:rPr>
              <a:t>Sentence-level RC restricts entities and evidence to a single sentence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6E227B7A-8A56-9183-21F7-79D61C86EDF8}"/>
              </a:ext>
            </a:extLst>
          </p:cNvPr>
          <p:cNvSpPr txBox="1"/>
          <p:nvPr/>
        </p:nvSpPr>
        <p:spPr>
          <a:xfrm>
            <a:off x="4048110" y="6410673"/>
            <a:ext cx="3889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Implicit relation extracted via documents or other sources of textual evidence</a:t>
            </a:r>
          </a:p>
          <a:p>
            <a:r>
              <a:rPr lang="en-US" sz="800" dirty="0"/>
              <a:t>Explicit relations established within the social network (e.g., friends on Facebook)</a:t>
            </a:r>
          </a:p>
        </p:txBody>
      </p: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B41C59D8-87CC-EA31-EE54-08963E38DD2F}"/>
              </a:ext>
            </a:extLst>
          </p:cNvPr>
          <p:cNvCxnSpPr>
            <a:cxnSpLocks/>
          </p:cNvCxnSpPr>
          <p:nvPr/>
        </p:nvCxnSpPr>
        <p:spPr>
          <a:xfrm flipH="1">
            <a:off x="3574111" y="6535190"/>
            <a:ext cx="47399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ACFA803B-08FD-721E-75A9-7D66A28E58E8}"/>
              </a:ext>
            </a:extLst>
          </p:cNvPr>
          <p:cNvCxnSpPr>
            <a:cxnSpLocks/>
          </p:cNvCxnSpPr>
          <p:nvPr/>
        </p:nvCxnSpPr>
        <p:spPr>
          <a:xfrm flipH="1">
            <a:off x="3574111" y="6629400"/>
            <a:ext cx="4739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01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Closed Relation Classification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DAC996-E5BE-3ED5-53C9-5B46FADF9A96}"/>
              </a:ext>
            </a:extLst>
          </p:cNvPr>
          <p:cNvGrpSpPr/>
          <p:nvPr/>
        </p:nvGrpSpPr>
        <p:grpSpPr>
          <a:xfrm>
            <a:off x="678565" y="1371600"/>
            <a:ext cx="10831694" cy="3505200"/>
            <a:chOff x="781186" y="1447800"/>
            <a:chExt cx="10831694" cy="3505200"/>
          </a:xfrm>
        </p:grpSpPr>
        <p:sp>
          <p:nvSpPr>
            <p:cNvPr id="11" name="Task bullets"/>
            <p:cNvSpPr txBox="1"/>
            <p:nvPr/>
          </p:nvSpPr>
          <p:spPr>
            <a:xfrm>
              <a:off x="781186" y="1676400"/>
              <a:ext cx="5356769" cy="3032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285750" indent="-285750" algn="l">
                <a:spcBef>
                  <a:spcPts val="0"/>
                </a:spcBef>
                <a:spcAft>
                  <a:spcPts val="1200"/>
                </a:spcAft>
                <a:buFont typeface="Arial"/>
                <a:buChar char="•"/>
              </a:pPr>
              <a:r>
                <a:rPr lang="en-US" sz="1600" b="1" dirty="0">
                  <a:latin typeface="Arial"/>
                  <a:cs typeface="Arial"/>
                </a:rPr>
                <a:t>G</a:t>
              </a:r>
              <a:r>
                <a:rPr lang="en-US" sz="1600" b="1" i="0" dirty="0">
                  <a:latin typeface="Arial"/>
                  <a:cs typeface="Arial"/>
                </a:rPr>
                <a:t>iven a sentence </a:t>
              </a:r>
              <a:r>
                <a:rPr lang="en-US" sz="1600" b="1" i="1" dirty="0">
                  <a:latin typeface="Arial"/>
                  <a:cs typeface="Arial"/>
                </a:rPr>
                <a:t>c</a:t>
              </a:r>
              <a:r>
                <a:rPr lang="en-US" sz="1600" b="1" i="0" dirty="0">
                  <a:latin typeface="Arial"/>
                  <a:cs typeface="Arial"/>
                </a:rPr>
                <a:t>, an entity pair (</a:t>
              </a:r>
              <a:r>
                <a:rPr lang="en-US" sz="1600" b="1" i="1" dirty="0">
                  <a:latin typeface="Arial"/>
                  <a:cs typeface="Arial"/>
                </a:rPr>
                <a:t>e</a:t>
              </a:r>
              <a:r>
                <a:rPr lang="en-US" sz="1600" b="1" i="1" baseline="-25000" dirty="0">
                  <a:latin typeface="Arial"/>
                  <a:cs typeface="Arial"/>
                </a:rPr>
                <a:t>h</a:t>
              </a:r>
              <a:r>
                <a:rPr lang="en-US" sz="1600" b="1" i="0" dirty="0">
                  <a:latin typeface="Arial"/>
                  <a:cs typeface="Arial"/>
                </a:rPr>
                <a:t>, </a:t>
              </a:r>
              <a:r>
                <a:rPr lang="en-US" sz="1600" b="1" i="1" dirty="0">
                  <a:latin typeface="Arial"/>
                  <a:cs typeface="Arial"/>
                </a:rPr>
                <a:t>e</a:t>
              </a:r>
              <a:r>
                <a:rPr lang="en-US" sz="1600" b="1" i="1" baseline="-25000" dirty="0">
                  <a:latin typeface="Arial"/>
                  <a:cs typeface="Arial"/>
                </a:rPr>
                <a:t>t</a:t>
              </a:r>
              <a:r>
                <a:rPr lang="en-US" sz="1600" b="1" i="0" dirty="0">
                  <a:latin typeface="Arial"/>
                  <a:cs typeface="Arial"/>
                </a:rPr>
                <a:t>), and predefined relation types </a:t>
              </a:r>
              <a:r>
                <a:rPr lang="en-US" sz="1600" b="1" i="1" dirty="0">
                  <a:latin typeface="Arial"/>
                  <a:cs typeface="Arial"/>
                </a:rPr>
                <a:t>R</a:t>
              </a:r>
              <a:r>
                <a:rPr lang="en-US" sz="1600" b="1" i="0" dirty="0">
                  <a:latin typeface="Arial"/>
                  <a:cs typeface="Arial"/>
                </a:rPr>
                <a:t>, we want to predict the relation, or “no relation”</a:t>
              </a:r>
            </a:p>
            <a:p>
              <a:pPr marL="285750" indent="-285750" algn="l">
                <a:spcBef>
                  <a:spcPts val="0"/>
                </a:spcBef>
                <a:spcAft>
                  <a:spcPts val="1200"/>
                </a:spcAft>
                <a:buFont typeface="Arial"/>
                <a:buChar char="•"/>
              </a:pPr>
              <a:r>
                <a:rPr lang="en-US" sz="1600" b="1" i="0" dirty="0">
                  <a:latin typeface="Arial"/>
                  <a:cs typeface="Arial"/>
                </a:rPr>
                <a:t>Zero-shot: </a:t>
              </a:r>
              <a:r>
                <a:rPr lang="en-US" sz="1600" b="1" dirty="0">
                  <a:latin typeface="Arial"/>
                  <a:cs typeface="Arial"/>
                </a:rPr>
                <a:t>N</a:t>
              </a:r>
              <a:r>
                <a:rPr lang="en-US" sz="1600" b="1" i="0" dirty="0">
                  <a:latin typeface="Arial"/>
                  <a:cs typeface="Arial"/>
                </a:rPr>
                <a:t>o annotated data, no fine-tuning, no examples in the prompt</a:t>
              </a:r>
            </a:p>
            <a:p>
              <a:pPr marL="285750" indent="-285750" algn="l">
                <a:spcBef>
                  <a:spcPts val="0"/>
                </a:spcBef>
                <a:spcAft>
                  <a:spcPts val="1200"/>
                </a:spcAft>
                <a:buFont typeface="Arial"/>
                <a:buChar char="•"/>
              </a:pPr>
              <a:r>
                <a:rPr lang="en-US" sz="1600" b="1" i="0" dirty="0">
                  <a:latin typeface="Arial"/>
                  <a:cs typeface="Arial"/>
                </a:rPr>
                <a:t>Why? </a:t>
              </a:r>
              <a:r>
                <a:rPr lang="en-US" sz="1600" b="1" dirty="0">
                  <a:latin typeface="Arial"/>
                  <a:cs typeface="Arial"/>
                </a:rPr>
                <a:t>T</a:t>
              </a:r>
              <a:r>
                <a:rPr lang="en-US" sz="1600" b="1" i="0" dirty="0">
                  <a:latin typeface="Arial"/>
                  <a:cs typeface="Arial"/>
                </a:rPr>
                <a:t>ext volumes outpace manual knowledge extraction, and new domains rarely have large, consistently labeled training sets</a:t>
              </a:r>
            </a:p>
          </p:txBody>
        </p:sp>
        <p:sp>
          <p:nvSpPr>
            <p:cNvPr id="12" name="Example card"/>
            <p:cNvSpPr txBox="1"/>
            <p:nvPr/>
          </p:nvSpPr>
          <p:spPr>
            <a:xfrm>
              <a:off x="6492240" y="1447800"/>
              <a:ext cx="5120640" cy="3505200"/>
            </a:xfrm>
            <a:prstGeom prst="roundRect">
              <a:avLst>
                <a:gd name="adj" fmla="val 8000"/>
              </a:avLst>
            </a:prstGeom>
            <a:solidFill>
              <a:srgbClr val="E8EEF8"/>
            </a:solidFill>
            <a:ln>
              <a:noFill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endParaRPr lang="en-US"/>
            </a:p>
          </p:txBody>
        </p:sp>
        <p:sp>
          <p:nvSpPr>
            <p:cNvPr id="13" name="Example label"/>
            <p:cNvSpPr txBox="1"/>
            <p:nvPr/>
          </p:nvSpPr>
          <p:spPr>
            <a:xfrm>
              <a:off x="6720840" y="1584960"/>
              <a:ext cx="4663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dirty="0">
                  <a:solidFill>
                    <a:srgbClr val="003767"/>
                  </a:solidFill>
                  <a:latin typeface="Arial"/>
                  <a:cs typeface="Arial"/>
                </a:rPr>
                <a:t>Example</a:t>
              </a:r>
            </a:p>
          </p:txBody>
        </p:sp>
        <p:sp>
          <p:nvSpPr>
            <p:cNvPr id="14" name="Example sentence"/>
            <p:cNvSpPr txBox="1"/>
            <p:nvPr/>
          </p:nvSpPr>
          <p:spPr>
            <a:xfrm>
              <a:off x="6720840" y="1898904"/>
              <a:ext cx="4663440" cy="5394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1" dirty="0">
                  <a:latin typeface="Arial"/>
                  <a:cs typeface="Arial"/>
                </a:rPr>
                <a:t>“Steve Jobs, who was born in San Francisco, co-founded Apple in 1976.”</a:t>
              </a:r>
            </a:p>
          </p:txBody>
        </p:sp>
        <p:sp>
          <p:nvSpPr>
            <p:cNvPr id="15" name="Entity Apple"/>
            <p:cNvSpPr/>
            <p:nvPr/>
          </p:nvSpPr>
          <p:spPr>
            <a:xfrm>
              <a:off x="6720840" y="2651760"/>
              <a:ext cx="1600200" cy="502920"/>
            </a:xfrm>
            <a:prstGeom prst="roundRect">
              <a:avLst>
                <a:gd name="adj" fmla="val 8000"/>
              </a:avLst>
            </a:prstGeom>
            <a:solidFill>
              <a:srgbClr val="003767"/>
            </a:solidFill>
            <a:ln>
              <a:noFill/>
            </a:ln>
          </p:spPr>
          <p:txBody>
            <a:bodyPr wrap="square" lIns="45720" tIns="0" rIns="4572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solidFill>
                    <a:srgbClr val="FFFFFF"/>
                  </a:solidFill>
                  <a:latin typeface="Arial"/>
                  <a:cs typeface="Arial"/>
                </a:rPr>
                <a:t>Apple</a:t>
              </a:r>
            </a:p>
          </p:txBody>
        </p:sp>
        <p:sp>
          <p:nvSpPr>
            <p:cNvPr id="16" name="Entity Steve Jobs"/>
            <p:cNvSpPr/>
            <p:nvPr/>
          </p:nvSpPr>
          <p:spPr>
            <a:xfrm>
              <a:off x="9784080" y="2651760"/>
              <a:ext cx="1600200" cy="502920"/>
            </a:xfrm>
            <a:prstGeom prst="roundRect">
              <a:avLst>
                <a:gd name="adj" fmla="val 8000"/>
              </a:avLst>
            </a:prstGeom>
            <a:solidFill>
              <a:srgbClr val="003767"/>
            </a:solidFill>
            <a:ln>
              <a:noFill/>
            </a:ln>
          </p:spPr>
          <p:txBody>
            <a:bodyPr wrap="square" lIns="45720" tIns="0" rIns="4572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solidFill>
                    <a:srgbClr val="FFFFFF"/>
                  </a:solidFill>
                  <a:latin typeface="Arial"/>
                  <a:cs typeface="Arial"/>
                </a:rPr>
                <a:t>Steve Jobs</a:t>
              </a:r>
            </a:p>
          </p:txBody>
        </p:sp>
        <p:sp>
          <p:nvSpPr>
            <p:cNvPr id="17" name="Relation founded by"/>
            <p:cNvSpPr txBox="1"/>
            <p:nvPr/>
          </p:nvSpPr>
          <p:spPr>
            <a:xfrm>
              <a:off x="8321040" y="2651760"/>
              <a:ext cx="14630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latin typeface="Arial"/>
                  <a:cs typeface="Arial"/>
                </a:rPr>
                <a:t>founded by →</a:t>
              </a:r>
            </a:p>
          </p:txBody>
        </p:sp>
        <p:sp>
          <p:nvSpPr>
            <p:cNvPr id="18" name="Entity Steve Jobs"/>
            <p:cNvSpPr/>
            <p:nvPr/>
          </p:nvSpPr>
          <p:spPr>
            <a:xfrm>
              <a:off x="6720840" y="3401568"/>
              <a:ext cx="1600200" cy="502920"/>
            </a:xfrm>
            <a:prstGeom prst="roundRect">
              <a:avLst>
                <a:gd name="adj" fmla="val 8000"/>
              </a:avLst>
            </a:prstGeom>
            <a:solidFill>
              <a:srgbClr val="003767"/>
            </a:solidFill>
            <a:ln>
              <a:noFill/>
            </a:ln>
          </p:spPr>
          <p:txBody>
            <a:bodyPr wrap="square" lIns="45720" tIns="0" rIns="4572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solidFill>
                    <a:srgbClr val="FFFFFF"/>
                  </a:solidFill>
                  <a:latin typeface="Arial"/>
                  <a:cs typeface="Arial"/>
                </a:rPr>
                <a:t>Steve Jobs</a:t>
              </a:r>
            </a:p>
          </p:txBody>
        </p:sp>
        <p:sp>
          <p:nvSpPr>
            <p:cNvPr id="19" name="Entity San Francisco"/>
            <p:cNvSpPr/>
            <p:nvPr/>
          </p:nvSpPr>
          <p:spPr>
            <a:xfrm>
              <a:off x="9784080" y="3401568"/>
              <a:ext cx="1600200" cy="502920"/>
            </a:xfrm>
            <a:prstGeom prst="roundRect">
              <a:avLst>
                <a:gd name="adj" fmla="val 8000"/>
              </a:avLst>
            </a:prstGeom>
            <a:solidFill>
              <a:srgbClr val="003767"/>
            </a:solidFill>
            <a:ln>
              <a:noFill/>
            </a:ln>
          </p:spPr>
          <p:txBody>
            <a:bodyPr wrap="square" lIns="45720" tIns="0" rIns="4572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solidFill>
                    <a:srgbClr val="FFFFFF"/>
                  </a:solidFill>
                  <a:latin typeface="Arial"/>
                  <a:cs typeface="Arial"/>
                </a:rPr>
                <a:t>San Francisco</a:t>
              </a:r>
            </a:p>
          </p:txBody>
        </p:sp>
        <p:sp>
          <p:nvSpPr>
            <p:cNvPr id="20" name="Relation city of birth"/>
            <p:cNvSpPr txBox="1"/>
            <p:nvPr/>
          </p:nvSpPr>
          <p:spPr>
            <a:xfrm>
              <a:off x="8321040" y="3401568"/>
              <a:ext cx="14630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latin typeface="Arial"/>
                  <a:cs typeface="Arial"/>
                </a:rPr>
                <a:t>city of birth →</a:t>
              </a:r>
            </a:p>
          </p:txBody>
        </p:sp>
        <p:sp>
          <p:nvSpPr>
            <p:cNvPr id="21" name="Entity San Francisco"/>
            <p:cNvSpPr/>
            <p:nvPr/>
          </p:nvSpPr>
          <p:spPr>
            <a:xfrm>
              <a:off x="6720840" y="4151376"/>
              <a:ext cx="1600200" cy="502920"/>
            </a:xfrm>
            <a:prstGeom prst="roundRect">
              <a:avLst>
                <a:gd name="adj" fmla="val 8000"/>
              </a:avLst>
            </a:prstGeom>
            <a:solidFill>
              <a:srgbClr val="7F7F7F"/>
            </a:solidFill>
            <a:ln>
              <a:noFill/>
            </a:ln>
          </p:spPr>
          <p:txBody>
            <a:bodyPr wrap="square" lIns="45720" tIns="0" rIns="4572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solidFill>
                    <a:srgbClr val="FFFFFF"/>
                  </a:solidFill>
                  <a:latin typeface="Arial"/>
                  <a:cs typeface="Arial"/>
                </a:rPr>
                <a:t>San Francisco</a:t>
              </a:r>
            </a:p>
          </p:txBody>
        </p:sp>
        <p:sp>
          <p:nvSpPr>
            <p:cNvPr id="22" name="Entity 1976"/>
            <p:cNvSpPr/>
            <p:nvPr/>
          </p:nvSpPr>
          <p:spPr>
            <a:xfrm>
              <a:off x="9784080" y="4151376"/>
              <a:ext cx="1600200" cy="502920"/>
            </a:xfrm>
            <a:prstGeom prst="roundRect">
              <a:avLst>
                <a:gd name="adj" fmla="val 8000"/>
              </a:avLst>
            </a:prstGeom>
            <a:solidFill>
              <a:srgbClr val="7F7F7F"/>
            </a:solidFill>
            <a:ln>
              <a:noFill/>
            </a:ln>
          </p:spPr>
          <p:txBody>
            <a:bodyPr wrap="square" lIns="45720" tIns="0" rIns="4572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solidFill>
                    <a:srgbClr val="FFFFFF"/>
                  </a:solidFill>
                  <a:latin typeface="Arial"/>
                  <a:cs typeface="Arial"/>
                </a:rPr>
                <a:t>1976</a:t>
              </a:r>
            </a:p>
          </p:txBody>
        </p:sp>
        <p:sp>
          <p:nvSpPr>
            <p:cNvPr id="23" name="Relation no relation"/>
            <p:cNvSpPr txBox="1"/>
            <p:nvPr/>
          </p:nvSpPr>
          <p:spPr>
            <a:xfrm>
              <a:off x="8321040" y="4151376"/>
              <a:ext cx="14630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dirty="0">
                  <a:solidFill>
                    <a:srgbClr val="595959"/>
                  </a:solidFill>
                  <a:latin typeface="Arial"/>
                  <a:cs typeface="Arial"/>
                </a:rPr>
                <a:t>no relation →</a:t>
              </a:r>
            </a:p>
          </p:txBody>
        </p:sp>
      </p:grpSp>
      <p:sp>
        <p:nvSpPr>
          <p:cNvPr id="24" name="Key message"/>
          <p:cNvSpPr txBox="1"/>
          <p:nvPr/>
        </p:nvSpPr>
        <p:spPr>
          <a:xfrm>
            <a:off x="997426" y="5181600"/>
            <a:ext cx="10193972" cy="7315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lvl="1" algn="ctr"/>
            <a:r>
              <a:rPr lang="en-US" sz="1600" b="1" dirty="0"/>
              <a:t> Gap: LLMs over-predict named relations instead of “no relation,” and existing prompts rely on </a:t>
            </a:r>
            <a:br>
              <a:rPr lang="en-US" sz="1600" b="1" dirty="0"/>
            </a:br>
            <a:r>
              <a:rPr lang="en-US" sz="1600" b="1" dirty="0"/>
              <a:t>manual, domain-specific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3A7D-0B27-638B-AB25-A0A6DBF9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TACRED</a:t>
            </a:r>
            <a:endParaRPr lang="en-US" baseline="30000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E44E2-17BE-D167-59D6-1B864E15E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472" y="1298361"/>
            <a:ext cx="5577218" cy="4452631"/>
          </a:xfrm>
        </p:spPr>
        <p:txBody>
          <a:bodyPr lIns="91440" tIns="45720" rIns="91440" bIns="45720" anchor="t"/>
          <a:lstStyle/>
          <a:p>
            <a:pPr marL="237490" indent="-237490"/>
            <a:r>
              <a:rPr lang="en-US" sz="1600" dirty="0">
                <a:latin typeface="+mn-lt"/>
              </a:rPr>
              <a:t>TACRED</a:t>
            </a:r>
            <a:r>
              <a:rPr lang="en-US" sz="1600" baseline="30000" dirty="0">
                <a:latin typeface="+mn-lt"/>
              </a:rPr>
              <a:t>1</a:t>
            </a:r>
            <a:endParaRPr lang="en-US" sz="1600" dirty="0">
              <a:latin typeface="+mn-lt"/>
            </a:endParaRPr>
          </a:p>
          <a:p>
            <a:pPr marL="539242" lvl="1" indent="-237490"/>
            <a:r>
              <a:rPr lang="en-US" sz="1600" dirty="0">
                <a:latin typeface="+mn-lt"/>
              </a:rPr>
              <a:t>NIST Text Analysis Conference (TAC) Relation Extraction Dataset (RED)</a:t>
            </a:r>
          </a:p>
          <a:p>
            <a:pPr marL="539242" lvl="1" indent="-237490"/>
            <a:r>
              <a:rPr lang="en-US" sz="1600" dirty="0">
                <a:latin typeface="Helvetica" pitchFamily="2" charset="0"/>
              </a:rPr>
              <a:t>Sentences sourced from both newswire and discussion forums</a:t>
            </a:r>
          </a:p>
          <a:p>
            <a:pPr marL="539242" lvl="1" indent="-237490"/>
            <a:r>
              <a:rPr lang="en-US" sz="1600" dirty="0">
                <a:latin typeface="Helvetica" pitchFamily="2" charset="0"/>
              </a:rPr>
              <a:t>41 relation types</a:t>
            </a:r>
          </a:p>
          <a:p>
            <a:pPr marL="539242" lvl="1" indent="-237490"/>
            <a:r>
              <a:rPr lang="en-US" sz="1600" dirty="0">
                <a:latin typeface="Helvetica" pitchFamily="2" charset="0"/>
              </a:rPr>
              <a:t>Relations were labeled using a crowdsource platform, Amazon Mechanical Turk</a:t>
            </a:r>
          </a:p>
          <a:p>
            <a:pPr marL="539242" lvl="1" indent="-237490"/>
            <a:r>
              <a:rPr lang="en-US" sz="1600" dirty="0">
                <a:latin typeface="Helvetica" pitchFamily="2" charset="0"/>
              </a:rPr>
              <a:t>Notoriously noisy</a:t>
            </a:r>
          </a:p>
          <a:p>
            <a:pPr marL="758698" lvl="2" indent="-237490"/>
            <a:r>
              <a:rPr lang="en-US" dirty="0">
                <a:latin typeface="Helvetica" pitchFamily="2" charset="0"/>
              </a:rPr>
              <a:t>Some studies suggest a 50% error rate</a:t>
            </a:r>
          </a:p>
          <a:p>
            <a:pPr marL="539242" lvl="1" indent="-237490"/>
            <a:r>
              <a:rPr lang="en-US" sz="1600" dirty="0">
                <a:latin typeface="Helvetica" pitchFamily="2" charset="0"/>
              </a:rPr>
              <a:t>79.5% none-of-the-above or ‘no relation’ class</a:t>
            </a:r>
          </a:p>
          <a:p>
            <a:pPr marL="539242" lvl="1" indent="-237490"/>
            <a:r>
              <a:rPr lang="en-US" sz="1600" dirty="0">
                <a:latin typeface="Helvetica" pitchFamily="2" charset="0"/>
              </a:rPr>
              <a:t>Large dataset</a:t>
            </a:r>
          </a:p>
          <a:p>
            <a:pPr marL="758698" lvl="2" indent="-237490"/>
            <a:r>
              <a:rPr lang="en-US" dirty="0">
                <a:latin typeface="Helvetica" pitchFamily="2" charset="0"/>
              </a:rPr>
              <a:t>Train / Validation / Test: 68,124 / 22,631 / 15,509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50C94-1155-EFD3-EE40-68EA8B0BB769}"/>
              </a:ext>
            </a:extLst>
          </p:cNvPr>
          <p:cNvSpPr txBox="1"/>
          <p:nvPr/>
        </p:nvSpPr>
        <p:spPr>
          <a:xfrm>
            <a:off x="1554681" y="6412468"/>
            <a:ext cx="60954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600" dirty="0"/>
              <a:t>Yuhao Zhang, Victor Zhong, </a:t>
            </a:r>
            <a:r>
              <a:rPr lang="en-US" sz="600" dirty="0" err="1"/>
              <a:t>Danqi</a:t>
            </a:r>
            <a:r>
              <a:rPr lang="en-US" sz="600" dirty="0"/>
              <a:t> Chen, Gabor Angeli, and Christopher D Manning. 2017. Position-aware attention and supervised data improve slot filling. In Proceedings of the 2017 conference on empirical methods in natural language processing, pages 35–45.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600" dirty="0"/>
              <a:t>Image source: https://</a:t>
            </a:r>
            <a:r>
              <a:rPr lang="en-US" sz="600" dirty="0" err="1"/>
              <a:t>nlp.stanford.edu</a:t>
            </a:r>
            <a:r>
              <a:rPr lang="en-US" sz="600" dirty="0"/>
              <a:t>/projects/</a:t>
            </a:r>
            <a:r>
              <a:rPr lang="en-US" sz="600" dirty="0" err="1"/>
              <a:t>tacred</a:t>
            </a:r>
            <a:r>
              <a:rPr lang="en-US" sz="600" dirty="0"/>
              <a:t>/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76117E-6AE4-7C1A-BDB0-474A1D885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878" y="1739342"/>
            <a:ext cx="6095475" cy="30821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7B92C9-CB3D-9981-1566-7B7121AC74CA}"/>
              </a:ext>
            </a:extLst>
          </p:cNvPr>
          <p:cNvSpPr txBox="1"/>
          <p:nvPr/>
        </p:nvSpPr>
        <p:spPr>
          <a:xfrm>
            <a:off x="6793927" y="1447800"/>
            <a:ext cx="4039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TACRED: Named-Relation Class Distribution</a:t>
            </a:r>
            <a:r>
              <a:rPr lang="en-US" sz="1400" b="1" baseline="30000" dirty="0"/>
              <a:t>2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792BF-03B3-0E14-F505-5ACE1C392E84}"/>
              </a:ext>
            </a:extLst>
          </p:cNvPr>
          <p:cNvSpPr txBox="1"/>
          <p:nvPr/>
        </p:nvSpPr>
        <p:spPr>
          <a:xfrm>
            <a:off x="1169882" y="5334000"/>
            <a:ext cx="9849061" cy="537411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lvl="1" algn="ctr"/>
            <a:r>
              <a:rPr lang="en-US" sz="1600" b="1" dirty="0"/>
              <a:t>Testing on the TACRED family of datasets allows us to evaluate robustness to annotation noise</a:t>
            </a:r>
          </a:p>
        </p:txBody>
      </p:sp>
    </p:spTree>
    <p:extLst>
      <p:ext uri="{BB962C8B-B14F-4D97-AF65-F5344CB8AC3E}">
        <p14:creationId xmlns:p14="http://schemas.microsoft.com/office/powerpoint/2010/main" val="128102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2E88-8095-E351-4727-37978ED3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Relevance Elicitation (BRE)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D62FC2-2B94-E1DC-340E-40B863AF4288}"/>
              </a:ext>
            </a:extLst>
          </p:cNvPr>
          <p:cNvGrpSpPr/>
          <p:nvPr/>
        </p:nvGrpSpPr>
        <p:grpSpPr>
          <a:xfrm>
            <a:off x="6551611" y="1371600"/>
            <a:ext cx="5105401" cy="4419716"/>
            <a:chOff x="7399591" y="1477089"/>
            <a:chExt cx="3827182" cy="363754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C9CD24E-D145-49B5-456D-F55BBB40B875}"/>
                </a:ext>
              </a:extLst>
            </p:cNvPr>
            <p:cNvSpPr txBox="1"/>
            <p:nvPr/>
          </p:nvSpPr>
          <p:spPr>
            <a:xfrm>
              <a:off x="8106157" y="4604102"/>
              <a:ext cx="202121" cy="2279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0B404E1-47C8-2E03-1B55-AE15B30AE97B}"/>
                </a:ext>
              </a:extLst>
            </p:cNvPr>
            <p:cNvSpPr txBox="1"/>
            <p:nvPr/>
          </p:nvSpPr>
          <p:spPr>
            <a:xfrm>
              <a:off x="7722565" y="2491777"/>
              <a:ext cx="2779147" cy="3799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Binary Relevance Elicitation (BRE) </a:t>
              </a:r>
            </a:p>
            <a:p>
              <a:pPr algn="ctr"/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Confirmation LLM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9E1CCEA-BC29-7D5D-4230-BBD823F0FFF5}"/>
                </a:ext>
              </a:extLst>
            </p:cNvPr>
            <p:cNvSpPr txBox="1"/>
            <p:nvPr/>
          </p:nvSpPr>
          <p:spPr>
            <a:xfrm>
              <a:off x="8675383" y="1477089"/>
              <a:ext cx="873514" cy="227978"/>
            </a:xfrm>
            <a:prstGeom prst="rect">
              <a:avLst/>
            </a:prstGeom>
            <a:solidFill>
              <a:srgbClr val="FEEEA1"/>
            </a:solidFill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c, entity pair, </a:t>
              </a:r>
              <a:r>
                <a:rPr lang="en-US" sz="1200" i="1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latin typeface="+mn-lt"/>
                  <a:cs typeface="Times New Roman" panose="02020603050405020304" pitchFamily="18" charset="0"/>
                </a:rPr>
                <a:t>i</a:t>
              </a:r>
              <a:endParaRPr lang="en-US" sz="1200" i="1" dirty="0">
                <a:latin typeface="+mn-lt"/>
                <a:cs typeface="Times New Roman" panose="02020603050405020304" pitchFamily="18" charset="0"/>
              </a:endParaRPr>
            </a:p>
          </p:txBody>
        </p: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A35E4C09-30E7-3EE6-69C1-194D36544FEC}"/>
                </a:ext>
              </a:extLst>
            </p:cNvPr>
            <p:cNvCxnSpPr>
              <a:cxnSpLocks/>
              <a:stCxn id="47" idx="3"/>
              <a:endCxn id="42" idx="3"/>
            </p:cNvCxnSpPr>
            <p:nvPr/>
          </p:nvCxnSpPr>
          <p:spPr>
            <a:xfrm flipH="1" flipV="1">
              <a:off x="9548897" y="1591078"/>
              <a:ext cx="1253090" cy="2199312"/>
            </a:xfrm>
            <a:prstGeom prst="bentConnector3">
              <a:avLst>
                <a:gd name="adj1" fmla="val -13675"/>
              </a:avLst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B2A305D-0A8C-A12F-002B-8D6199F2B45D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9111225" y="1723310"/>
              <a:ext cx="914" cy="76846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605CAB57-8FD7-213B-608F-6C2595AAA97B}"/>
                </a:ext>
              </a:extLst>
            </p:cNvPr>
            <p:cNvCxnSpPr>
              <a:cxnSpLocks/>
              <a:stCxn id="41" idx="2"/>
              <a:endCxn id="48" idx="0"/>
            </p:cNvCxnSpPr>
            <p:nvPr/>
          </p:nvCxnSpPr>
          <p:spPr>
            <a:xfrm rot="5400000">
              <a:off x="8369206" y="2857475"/>
              <a:ext cx="728669" cy="75719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>
              <a:extLst>
                <a:ext uri="{FF2B5EF4-FFF2-40B4-BE49-F238E27FC236}">
                  <a16:creationId xmlns:a16="http://schemas.microsoft.com/office/drawing/2014/main" id="{D29CABCE-0E8B-A1EB-6207-710F10BC501D}"/>
                </a:ext>
              </a:extLst>
            </p:cNvPr>
            <p:cNvCxnSpPr>
              <a:cxnSpLocks/>
              <a:stCxn id="41" idx="2"/>
              <a:endCxn id="47" idx="0"/>
            </p:cNvCxnSpPr>
            <p:nvPr/>
          </p:nvCxnSpPr>
          <p:spPr>
            <a:xfrm rot="16200000" flipH="1">
              <a:off x="9181559" y="2802320"/>
              <a:ext cx="728669" cy="86750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3D9FE9B-26DA-E904-DF2E-7620FD840DB1}"/>
                </a:ext>
              </a:extLst>
            </p:cNvPr>
            <p:cNvSpPr txBox="1"/>
            <p:nvPr/>
          </p:nvSpPr>
          <p:spPr>
            <a:xfrm>
              <a:off x="9157305" y="3600409"/>
              <a:ext cx="1644683" cy="3799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Discard </a:t>
              </a:r>
              <a:r>
                <a:rPr lang="en-US" sz="1200" i="1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latin typeface="+mn-lt"/>
                  <a:cs typeface="Times New Roman" panose="02020603050405020304" pitchFamily="18" charset="0"/>
                </a:rPr>
                <a:t>i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as potential relation for 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c, entity pair</a:t>
              </a:r>
              <a:endParaRPr lang="en-US" sz="12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0B90178-3DA2-54E4-9499-962B99718814}"/>
                </a:ext>
              </a:extLst>
            </p:cNvPr>
            <p:cNvSpPr txBox="1"/>
            <p:nvPr/>
          </p:nvSpPr>
          <p:spPr>
            <a:xfrm>
              <a:off x="7847248" y="3600409"/>
              <a:ext cx="1015385" cy="3799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{</a:t>
              </a:r>
              <a:r>
                <a:rPr lang="en-US" sz="1200" i="1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latin typeface="+mn-lt"/>
                  <a:cs typeface="Times New Roman" panose="02020603050405020304" pitchFamily="18" charset="0"/>
                </a:rPr>
                <a:t>i</a:t>
              </a:r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}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altLang="en-US" sz="1200" dirty="0">
                  <a:latin typeface="+mn-lt"/>
                  <a:cs typeface="Times New Roman" panose="02020603050405020304" pitchFamily="18" charset="0"/>
                </a:rPr>
                <a:t>∪</a:t>
              </a:r>
              <a:r>
                <a:rPr lang="en-US" altLang="en-US" sz="1200" i="1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altLang="en-US" sz="1200" i="1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altLang="en-US" sz="1200" i="1" baseline="-25000" dirty="0" err="1">
                  <a:latin typeface="+mn-lt"/>
                  <a:cs typeface="Times New Roman" panose="02020603050405020304" pitchFamily="18" charset="0"/>
                </a:rPr>
                <a:t>potential</a:t>
              </a:r>
              <a:r>
                <a:rPr lang="en-US" altLang="en-US" sz="1200" i="1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for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 c, entity pair</a:t>
              </a:r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FC932D60-F8C2-DA38-AB22-A53C592C85E7}"/>
                </a:ext>
              </a:extLst>
            </p:cNvPr>
            <p:cNvCxnSpPr>
              <a:cxnSpLocks/>
              <a:stCxn id="63" idx="1"/>
              <a:endCxn id="42" idx="1"/>
            </p:cNvCxnSpPr>
            <p:nvPr/>
          </p:nvCxnSpPr>
          <p:spPr>
            <a:xfrm rot="10800000" flipH="1">
              <a:off x="7542587" y="1591079"/>
              <a:ext cx="1132795" cy="2795284"/>
            </a:xfrm>
            <a:prstGeom prst="bentConnector3">
              <a:avLst>
                <a:gd name="adj1" fmla="val -15128"/>
              </a:avLst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F29BE03-54DE-D140-81E4-9D1045AFE6F4}"/>
                </a:ext>
              </a:extLst>
            </p:cNvPr>
            <p:cNvSpPr txBox="1"/>
            <p:nvPr/>
          </p:nvSpPr>
          <p:spPr>
            <a:xfrm>
              <a:off x="7475950" y="4855508"/>
              <a:ext cx="1757978" cy="227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latin typeface="+mn-lt"/>
                  <a:cs typeface="Times New Roman" panose="02020603050405020304" pitchFamily="18" charset="0"/>
                </a:rPr>
                <a:t>pred</a:t>
              </a:r>
              <a:r>
                <a:rPr lang="en-US" sz="1200" i="1" baseline="-25000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= </a:t>
              </a:r>
              <a:r>
                <a:rPr lang="en-US" sz="1200" i="1" dirty="0" err="1">
                  <a:latin typeface="+mn-lt"/>
                  <a:cs typeface="Times New Roman" panose="02020603050405020304" pitchFamily="18" charset="0"/>
                </a:rPr>
                <a:t>argmax</a:t>
              </a:r>
              <a:r>
                <a:rPr lang="en-US" sz="1200" i="1" baseline="-25000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l-GR" sz="1200" i="1" dirty="0">
                  <a:latin typeface="+mn-lt"/>
                  <a:cs typeface="Times New Roman" panose="02020603050405020304" pitchFamily="18" charset="0"/>
                </a:rPr>
                <a:t>ρ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(</a:t>
              </a:r>
              <a:r>
                <a:rPr lang="en-US" sz="1200" i="1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latin typeface="+mn-lt"/>
                  <a:cs typeface="Times New Roman" panose="02020603050405020304" pitchFamily="18" charset="0"/>
                </a:rPr>
                <a:t>potential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) 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1AB52A3-9A75-AE35-6261-5D1F1C80803F}"/>
                </a:ext>
              </a:extLst>
            </p:cNvPr>
            <p:cNvCxnSpPr>
              <a:cxnSpLocks/>
              <a:stCxn id="48" idx="2"/>
              <a:endCxn id="50" idx="0"/>
            </p:cNvCxnSpPr>
            <p:nvPr/>
          </p:nvCxnSpPr>
          <p:spPr>
            <a:xfrm flipH="1">
              <a:off x="8354940" y="3980371"/>
              <a:ext cx="1" cy="8751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8192268-3FDE-7266-08AA-531773858108}"/>
                </a:ext>
              </a:extLst>
            </p:cNvPr>
            <p:cNvSpPr txBox="1"/>
            <p:nvPr/>
          </p:nvSpPr>
          <p:spPr>
            <a:xfrm>
              <a:off x="10735051" y="4214648"/>
              <a:ext cx="491722" cy="2153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u="sng" dirty="0">
                  <a:latin typeface="+mn-lt"/>
                  <a:cs typeface="Times New Roman" panose="02020603050405020304" pitchFamily="18" charset="0"/>
                </a:rPr>
                <a:t>Legend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919FED2-C7A4-3EA9-299D-670311A8B58E}"/>
                </a:ext>
              </a:extLst>
            </p:cNvPr>
            <p:cNvSpPr txBox="1"/>
            <p:nvPr/>
          </p:nvSpPr>
          <p:spPr>
            <a:xfrm>
              <a:off x="10532768" y="4423329"/>
              <a:ext cx="625107" cy="215312"/>
            </a:xfrm>
            <a:prstGeom prst="rect">
              <a:avLst/>
            </a:prstGeom>
            <a:solidFill>
              <a:srgbClr val="FEEEA1"/>
            </a:solidFill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n-lt"/>
                  <a:cs typeface="Times New Roman" panose="02020603050405020304" pitchFamily="18" charset="0"/>
                </a:rPr>
                <a:t>Input Data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5AC59C-B582-1165-8235-87814BB21CBE}"/>
                </a:ext>
              </a:extLst>
            </p:cNvPr>
            <p:cNvSpPr txBox="1"/>
            <p:nvPr/>
          </p:nvSpPr>
          <p:spPr>
            <a:xfrm>
              <a:off x="10303250" y="4661325"/>
              <a:ext cx="854625" cy="215312"/>
            </a:xfrm>
            <a:prstGeom prst="rect">
              <a:avLst/>
            </a:prstGeom>
            <a:solidFill>
              <a:srgbClr val="FDBF6F"/>
            </a:solidFill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n-lt"/>
                  <a:cs typeface="Times New Roman" panose="02020603050405020304" pitchFamily="18" charset="0"/>
                </a:rPr>
                <a:t>LLM-generated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7958CCD-6643-60B1-92F5-4E13278F8EA2}"/>
                </a:ext>
              </a:extLst>
            </p:cNvPr>
            <p:cNvSpPr txBox="1"/>
            <p:nvPr/>
          </p:nvSpPr>
          <p:spPr>
            <a:xfrm>
              <a:off x="10477491" y="4899321"/>
              <a:ext cx="680384" cy="2153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n-lt"/>
                  <a:cs typeface="Times New Roman" panose="02020603050405020304" pitchFamily="18" charset="0"/>
                </a:rPr>
                <a:t>Rule-based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0D34383-5AC2-EB43-D235-5A2A1818B88E}"/>
                </a:ext>
              </a:extLst>
            </p:cNvPr>
            <p:cNvSpPr txBox="1"/>
            <p:nvPr/>
          </p:nvSpPr>
          <p:spPr>
            <a:xfrm>
              <a:off x="7399591" y="4147358"/>
              <a:ext cx="202121" cy="2279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7" name="Diamond 56">
              <a:extLst>
                <a:ext uri="{FF2B5EF4-FFF2-40B4-BE49-F238E27FC236}">
                  <a16:creationId xmlns:a16="http://schemas.microsoft.com/office/drawing/2014/main" id="{17E68420-E612-51DE-7617-49938C8A91C3}"/>
                </a:ext>
              </a:extLst>
            </p:cNvPr>
            <p:cNvSpPr/>
            <p:nvPr/>
          </p:nvSpPr>
          <p:spPr>
            <a:xfrm>
              <a:off x="8401213" y="1812759"/>
              <a:ext cx="1420024" cy="458995"/>
            </a:xfrm>
            <a:prstGeom prst="diamond">
              <a:avLst/>
            </a:prstGeom>
            <a:solidFill>
              <a:srgbClr val="BEE59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sz="12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1200" i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∈ </a:t>
              </a:r>
              <a:r>
                <a:rPr lang="en-US" sz="1200" i="1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valid</a:t>
              </a:r>
              <a:r>
                <a:rPr lang="en-US" sz="12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?</a:t>
              </a:r>
            </a:p>
          </p:txBody>
        </p:sp>
        <p:cxnSp>
          <p:nvCxnSpPr>
            <p:cNvPr id="58" name="Elbow Connector 57">
              <a:extLst>
                <a:ext uri="{FF2B5EF4-FFF2-40B4-BE49-F238E27FC236}">
                  <a16:creationId xmlns:a16="http://schemas.microsoft.com/office/drawing/2014/main" id="{B5DABE67-4A86-1C92-B75C-1D8BCAC18C48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9821237" y="2042257"/>
              <a:ext cx="857829" cy="155815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67100BF-0746-E109-2660-AC8E75DF35BB}"/>
                </a:ext>
              </a:extLst>
            </p:cNvPr>
            <p:cNvSpPr txBox="1"/>
            <p:nvPr/>
          </p:nvSpPr>
          <p:spPr>
            <a:xfrm>
              <a:off x="9730860" y="1823992"/>
              <a:ext cx="202121" cy="2279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9C9C19-125D-3F19-ABFF-1C178A1CFDFE}"/>
                </a:ext>
              </a:extLst>
            </p:cNvPr>
            <p:cNvSpPr txBox="1"/>
            <p:nvPr/>
          </p:nvSpPr>
          <p:spPr>
            <a:xfrm>
              <a:off x="9126961" y="2245556"/>
              <a:ext cx="202121" cy="2279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02E710-A156-5559-2782-9CB38C0F1FFA}"/>
                </a:ext>
              </a:extLst>
            </p:cNvPr>
            <p:cNvSpPr txBox="1"/>
            <p:nvPr/>
          </p:nvSpPr>
          <p:spPr>
            <a:xfrm>
              <a:off x="7986508" y="3186637"/>
              <a:ext cx="736861" cy="227978"/>
            </a:xfrm>
            <a:prstGeom prst="rect">
              <a:avLst/>
            </a:prstGeom>
            <a:solidFill>
              <a:srgbClr val="FDBF6F"/>
            </a:solidFill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TRUE, </a:t>
              </a:r>
              <a:r>
                <a:rPr lang="el-GR" sz="1200" i="1" dirty="0">
                  <a:latin typeface="+mn-lt"/>
                  <a:cs typeface="Times New Roman" panose="02020603050405020304" pitchFamily="18" charset="0"/>
                </a:rPr>
                <a:t>ρ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(</a:t>
              </a:r>
              <a:r>
                <a:rPr lang="en-US" sz="1200" i="1" dirty="0" err="1">
                  <a:latin typeface="+mn-lt"/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latin typeface="+mn-lt"/>
                  <a:cs typeface="Times New Roman" panose="02020603050405020304" pitchFamily="18" charset="0"/>
                </a:rPr>
                <a:t>i</a:t>
              </a:r>
              <a:r>
                <a:rPr lang="en-US" sz="1200" i="1" baseline="-25000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sz="1200" i="1" dirty="0">
                  <a:latin typeface="+mn-lt"/>
                  <a:cs typeface="Times New Roman" panose="02020603050405020304" pitchFamily="18" charset="0"/>
                </a:rPr>
                <a:t>)</a:t>
              </a:r>
              <a:endParaRPr lang="en-US" sz="12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F35E82D-6E5B-F046-22CA-706724AB7618}"/>
                </a:ext>
              </a:extLst>
            </p:cNvPr>
            <p:cNvSpPr txBox="1"/>
            <p:nvPr/>
          </p:nvSpPr>
          <p:spPr>
            <a:xfrm>
              <a:off x="9691748" y="3175426"/>
              <a:ext cx="497393" cy="227978"/>
            </a:xfrm>
            <a:prstGeom prst="rect">
              <a:avLst/>
            </a:prstGeom>
            <a:solidFill>
              <a:srgbClr val="FDBF6F"/>
            </a:solidFill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  <a:cs typeface="Times New Roman" panose="02020603050405020304" pitchFamily="18" charset="0"/>
                </a:rPr>
                <a:t>FALSE</a:t>
              </a:r>
            </a:p>
          </p:txBody>
        </p:sp>
        <p:sp>
          <p:nvSpPr>
            <p:cNvPr id="63" name="Diamond 62">
              <a:extLst>
                <a:ext uri="{FF2B5EF4-FFF2-40B4-BE49-F238E27FC236}">
                  <a16:creationId xmlns:a16="http://schemas.microsoft.com/office/drawing/2014/main" id="{24409F47-849C-4A25-876E-B0BC014B204B}"/>
                </a:ext>
              </a:extLst>
            </p:cNvPr>
            <p:cNvSpPr/>
            <p:nvPr/>
          </p:nvSpPr>
          <p:spPr>
            <a:xfrm>
              <a:off x="7542588" y="4120846"/>
              <a:ext cx="1624704" cy="531033"/>
            </a:xfrm>
            <a:prstGeom prst="diamond">
              <a:avLst/>
            </a:prstGeom>
            <a:solidFill>
              <a:srgbClr val="BEE59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Checked all </a:t>
              </a:r>
              <a:r>
                <a:rPr lang="en-US" sz="1200" i="1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sz="12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 in </a:t>
              </a:r>
              <a:r>
                <a:rPr lang="en-US" sz="1200" i="1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sz="1200" i="1" baseline="-25000" dirty="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valid</a:t>
              </a:r>
              <a:r>
                <a:rPr lang="en-US" sz="12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863D8DAE-41D9-C2C0-384D-E59D47D26D74}"/>
              </a:ext>
            </a:extLst>
          </p:cNvPr>
          <p:cNvSpPr txBox="1">
            <a:spLocks/>
          </p:cNvSpPr>
          <p:nvPr/>
        </p:nvSpPr>
        <p:spPr>
          <a:xfrm>
            <a:off x="750551" y="1275156"/>
            <a:ext cx="5013493" cy="470191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33363" indent="-233363" algn="l" eaLnBrk="1" hangingPunct="1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 typeface="Arial" pitchFamily="34" charset="0"/>
              <a:buChar char="•"/>
              <a:defRPr sz="2000" b="1">
                <a:latin typeface="Arial" pitchFamily="34" charset="0"/>
                <a:cs typeface="Arial" pitchFamily="34" charset="0"/>
              </a:defRPr>
            </a:lvl1pPr>
            <a:lvl2pPr marL="509588" indent="-225425" algn="l" eaLnBrk="1" hangingPunct="1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 typeface="Arial" pitchFamily="34" charset="0"/>
              <a:buChar char="–"/>
              <a:defRPr sz="2000" b="1">
                <a:latin typeface="Arial" pitchFamily="34" charset="0"/>
                <a:cs typeface="Arial" pitchFamily="34" charset="0"/>
              </a:defRPr>
            </a:lvl2pPr>
            <a:lvl3pPr marL="854075" indent="-223838" algn="l" eaLnBrk="1" hangingPunct="1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 typeface="Arial" pitchFamily="34" charset="0"/>
              <a:buChar char="•"/>
              <a:defRPr sz="1600" b="1">
                <a:latin typeface="Arial" pitchFamily="34" charset="0"/>
                <a:cs typeface="Arial" pitchFamily="34" charset="0"/>
              </a:defRPr>
            </a:lvl3pPr>
            <a:lvl4pPr marL="1035050" indent="-180975" algn="l" eaLnBrk="1" hangingPunct="1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 typeface="Courier New" pitchFamily="49" charset="0"/>
              <a:buChar char="o"/>
              <a:defRPr sz="1400" b="1">
                <a:latin typeface="Arial" pitchFamily="34" charset="0"/>
                <a:cs typeface="Arial" pitchFamily="34" charset="0"/>
              </a:defRPr>
            </a:lvl4pPr>
            <a:lvl5pPr marL="796925" indent="0" algn="l" eaLnBrk="1" hangingPunct="1">
              <a:spcBef>
                <a:spcPts val="600"/>
              </a:spcBef>
              <a:defRPr sz="1600" b="1">
                <a:latin typeface="Arial" pitchFamily="34" charset="0"/>
                <a:cs typeface="Arial" pitchFamily="34" charset="0"/>
              </a:defRPr>
            </a:lvl5pPr>
            <a:lvl6pPr marL="1147763" indent="0" algn="l" eaLnBrk="1" hangingPunct="1">
              <a:spcBef>
                <a:spcPts val="600"/>
              </a:spcBef>
              <a:defRPr sz="1400" b="1">
                <a:latin typeface="Arial" pitchFamily="34" charset="0"/>
                <a:cs typeface="Arial" pitchFamily="34" charset="0"/>
              </a:defRPr>
            </a:lvl6pPr>
            <a:lvl7pPr marL="1319213" indent="-179388" algn="l" eaLnBrk="1" hangingPunct="1"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  <a:buFont typeface="Arial" pitchFamily="34" charset="0"/>
              <a:buChar char="•"/>
              <a:defRPr sz="1200" b="1">
                <a:latin typeface="Arial" pitchFamily="34" charset="0"/>
                <a:cs typeface="Arial" pitchFamily="34" charset="0"/>
              </a:defRPr>
            </a:lvl7pPr>
          </a:lstStyle>
          <a:p>
            <a:pPr marL="237490" indent="-237490"/>
            <a:r>
              <a:rPr lang="en-US" sz="1600" kern="0" dirty="0">
                <a:solidFill>
                  <a:sysClr val="windowText" lastClr="000000"/>
                </a:solidFill>
                <a:cs typeface="Arial"/>
              </a:rPr>
              <a:t>BRE uses true/false prompting to simplify relation classification without manual customization</a:t>
            </a:r>
          </a:p>
          <a:p>
            <a:pPr marL="237490" indent="-237490"/>
            <a:r>
              <a:rPr lang="en-US" sz="1600" kern="0" dirty="0">
                <a:solidFill>
                  <a:sysClr val="windowText" lastClr="000000"/>
                </a:solidFill>
                <a:cs typeface="Arial"/>
              </a:rPr>
              <a:t>Relevance elicitation is a quantitative filtering technique to identify optimal relation types</a:t>
            </a:r>
          </a:p>
          <a:p>
            <a:pPr marL="237490" indent="-237490"/>
            <a:r>
              <a:rPr lang="en-US" sz="1600" kern="0" dirty="0">
                <a:solidFill>
                  <a:sysClr val="windowText" lastClr="000000"/>
                </a:solidFill>
                <a:cs typeface="Arial"/>
              </a:rPr>
              <a:t>Addresses LLM over-prediction tendency by treating each potential relation as a separate binary query</a:t>
            </a:r>
          </a:p>
          <a:p>
            <a:pPr marL="237490" indent="-237490"/>
            <a:r>
              <a:rPr lang="en-US" sz="1600" kern="0" dirty="0">
                <a:solidFill>
                  <a:sysClr val="windowText" lastClr="000000"/>
                </a:solidFill>
                <a:cs typeface="Arial"/>
              </a:rPr>
              <a:t>Inspired by prior work that demonstrated improved document ranking performance with a similar binary relevance quantifier</a:t>
            </a:r>
            <a:endParaRPr lang="en-US" sz="1600" kern="0" baseline="30000" dirty="0">
              <a:solidFill>
                <a:sysClr val="windowText" lastClr="000000"/>
              </a:solidFill>
              <a:cs typeface="Arial"/>
            </a:endParaRPr>
          </a:p>
          <a:p>
            <a:pPr marL="237490" indent="-237490"/>
            <a:endParaRPr lang="en-US" sz="1600" kern="0" dirty="0">
              <a:solidFill>
                <a:sysClr val="windowText" lastClr="000000"/>
              </a:solidFill>
              <a:cs typeface="Arial"/>
            </a:endParaRPr>
          </a:p>
          <a:p>
            <a:pPr marL="237490" indent="-237490"/>
            <a:endParaRPr lang="en-US" sz="1600" kern="0" dirty="0">
              <a:solidFill>
                <a:sysClr val="windowText" lastClr="000000"/>
              </a:solidFill>
              <a:cs typeface="Arial"/>
            </a:endParaRPr>
          </a:p>
          <a:p>
            <a:pPr marL="237490" indent="-237490"/>
            <a:endParaRPr lang="en-US" sz="1600" kern="0" dirty="0">
              <a:solidFill>
                <a:sysClr val="windowText" lastClr="000000"/>
              </a:solidFill>
              <a:cs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60C0B5-8B3D-6FBA-38EB-5D5044FB9519}"/>
              </a:ext>
            </a:extLst>
          </p:cNvPr>
          <p:cNvSpPr txBox="1"/>
          <p:nvPr/>
        </p:nvSpPr>
        <p:spPr>
          <a:xfrm>
            <a:off x="739318" y="4893012"/>
            <a:ext cx="5024726" cy="8579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lvl="1" algn="ctr"/>
            <a:r>
              <a:rPr lang="en-US" sz="1600" b="1" dirty="0"/>
              <a:t>BRE forces us to choose only the most relevant relations for a given entity pair</a:t>
            </a:r>
          </a:p>
        </p:txBody>
      </p:sp>
    </p:spTree>
    <p:extLst>
      <p:ext uri="{BB962C8B-B14F-4D97-AF65-F5344CB8AC3E}">
        <p14:creationId xmlns:p14="http://schemas.microsoft.com/office/powerpoint/2010/main" val="18260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119CBD-93E6-B4F7-AB17-9E156D5F3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60367"/>
              </p:ext>
            </p:extLst>
          </p:nvPr>
        </p:nvGraphicFramePr>
        <p:xfrm>
          <a:off x="636977" y="1267060"/>
          <a:ext cx="9681409" cy="366520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760159">
                  <a:extLst>
                    <a:ext uri="{9D8B030D-6E8A-4147-A177-3AD203B41FA5}">
                      <a16:colId xmlns:a16="http://schemas.microsoft.com/office/drawing/2014/main" val="1043160507"/>
                    </a:ext>
                  </a:extLst>
                </a:gridCol>
                <a:gridCol w="988750">
                  <a:extLst>
                    <a:ext uri="{9D8B030D-6E8A-4147-A177-3AD203B41FA5}">
                      <a16:colId xmlns:a16="http://schemas.microsoft.com/office/drawing/2014/main" val="2216556360"/>
                    </a:ext>
                  </a:extLst>
                </a:gridCol>
                <a:gridCol w="988750">
                  <a:extLst>
                    <a:ext uri="{9D8B030D-6E8A-4147-A177-3AD203B41FA5}">
                      <a16:colId xmlns:a16="http://schemas.microsoft.com/office/drawing/2014/main" val="3681279058"/>
                    </a:ext>
                  </a:extLst>
                </a:gridCol>
                <a:gridCol w="988750">
                  <a:extLst>
                    <a:ext uri="{9D8B030D-6E8A-4147-A177-3AD203B41FA5}">
                      <a16:colId xmlns:a16="http://schemas.microsoft.com/office/drawing/2014/main" val="1517572871"/>
                    </a:ext>
                  </a:extLst>
                </a:gridCol>
                <a:gridCol w="988750">
                  <a:extLst>
                    <a:ext uri="{9D8B030D-6E8A-4147-A177-3AD203B41FA5}">
                      <a16:colId xmlns:a16="http://schemas.microsoft.com/office/drawing/2014/main" val="3881196501"/>
                    </a:ext>
                  </a:extLst>
                </a:gridCol>
                <a:gridCol w="988750">
                  <a:extLst>
                    <a:ext uri="{9D8B030D-6E8A-4147-A177-3AD203B41FA5}">
                      <a16:colId xmlns:a16="http://schemas.microsoft.com/office/drawing/2014/main" val="3614511499"/>
                    </a:ext>
                  </a:extLst>
                </a:gridCol>
                <a:gridCol w="988750">
                  <a:extLst>
                    <a:ext uri="{9D8B030D-6E8A-4147-A177-3AD203B41FA5}">
                      <a16:colId xmlns:a16="http://schemas.microsoft.com/office/drawing/2014/main" val="1037798011"/>
                    </a:ext>
                  </a:extLst>
                </a:gridCol>
                <a:gridCol w="988750">
                  <a:extLst>
                    <a:ext uri="{9D8B030D-6E8A-4147-A177-3AD203B41FA5}">
                      <a16:colId xmlns:a16="http://schemas.microsoft.com/office/drawing/2014/main" val="1341072385"/>
                    </a:ext>
                  </a:extLst>
                </a:gridCol>
              </a:tblGrid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5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Macro-Average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Weighted-Average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Micro-F1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2703107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Accuracy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89060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Llama-3.2-3B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22.9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46.0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25.4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75.2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54.2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61.1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49.8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2204288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Llama-3.1-8B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23.6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59.8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30.2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78.1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51.7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58.6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48.0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7212233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Llama-3.1-70B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54.7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50.7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50.5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84.0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84.8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83.9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83.4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948844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Llama-3.3-70B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52.3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62.1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55.1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86.8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84.9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85.6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84.1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590108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Llama-4-Scout-17B-16E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52.0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solidFill>
                            <a:srgbClr val="C64C00"/>
                          </a:solidFill>
                          <a:effectLst/>
                          <a:latin typeface="+mn-lt"/>
                        </a:rPr>
                        <a:t>70.0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57.6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88.5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85.3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86.5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84.6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326270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Mistral-7B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39.0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60.1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43.2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83.0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72.9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76.5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72.3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05511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Mixtral-8x7B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47.7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60.1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49.8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84.4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78.7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80.9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77.4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574290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Mixtral-8x22B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48.0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effectLst/>
                          <a:latin typeface="+mn-lt"/>
                        </a:rPr>
                        <a:t>63.6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52.6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86.1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84.2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84.9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83.1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566800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effectLst/>
                          <a:latin typeface="+mn-lt"/>
                        </a:rPr>
                        <a:t>Qwen2.5-VL-32B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solidFill>
                            <a:srgbClr val="C64C00"/>
                          </a:solidFill>
                          <a:effectLst/>
                          <a:latin typeface="+mn-lt"/>
                        </a:rPr>
                        <a:t>60.6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63.4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solidFill>
                            <a:srgbClr val="C64C00"/>
                          </a:solidFill>
                          <a:effectLst/>
                          <a:latin typeface="+mn-lt"/>
                        </a:rPr>
                        <a:t>58.4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solidFill>
                            <a:srgbClr val="C64C00"/>
                          </a:solidFill>
                          <a:effectLst/>
                          <a:latin typeface="+mn-lt"/>
                        </a:rPr>
                        <a:t>89.0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solidFill>
                            <a:srgbClr val="C64C00"/>
                          </a:solidFill>
                          <a:effectLst/>
                          <a:latin typeface="+mn-lt"/>
                        </a:rPr>
                        <a:t>86.8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solidFill>
                            <a:srgbClr val="C64C00"/>
                          </a:solidFill>
                          <a:effectLst/>
                          <a:latin typeface="+mn-lt"/>
                        </a:rPr>
                        <a:t>87.3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u="none" dirty="0">
                          <a:solidFill>
                            <a:srgbClr val="C64C00"/>
                          </a:solidFill>
                          <a:effectLst/>
                          <a:latin typeface="+mn-lt"/>
                        </a:rPr>
                        <a:t>86.9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575517"/>
                  </a:ext>
                </a:extLst>
              </a:tr>
              <a:tr h="305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effectLst/>
                          <a:latin typeface="+mn-lt"/>
                        </a:rPr>
                        <a:t>DeepSeek-R1-Distill-Qwen-32B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61.0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47.7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83.8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81.4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82.2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0" dirty="0">
                          <a:effectLst/>
                          <a:latin typeface="+mn-lt"/>
                        </a:rPr>
                        <a:t>79.2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98481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F37FD3-CE4C-FFB3-859A-D134812E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 Evaluation: Performance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BFFAD6B-F40F-8F42-DD3B-B306EFAAF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760538"/>
            <a:ext cx="1218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A1552-D5B7-1F32-7BBE-1E425E997ACE}"/>
              </a:ext>
            </a:extLst>
          </p:cNvPr>
          <p:cNvSpPr txBox="1"/>
          <p:nvPr/>
        </p:nvSpPr>
        <p:spPr>
          <a:xfrm>
            <a:off x="1201817" y="5379720"/>
            <a:ext cx="9785190" cy="6400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lvl="1" algn="ctr"/>
            <a:r>
              <a:rPr lang="en-US" sz="1600" b="1" dirty="0"/>
              <a:t>Top performers go beyond standard decoder-only transformers: </a:t>
            </a:r>
            <a:br>
              <a:rPr lang="en-US" sz="1600" b="1" dirty="0"/>
            </a:br>
            <a:r>
              <a:rPr lang="en-US" sz="1600" b="1" dirty="0"/>
              <a:t>Qwen2.5-VL-32B (multimodal pre-training) and Llama-4-Scout (mixture-of-experts)</a:t>
            </a:r>
          </a:p>
        </p:txBody>
      </p:sp>
      <p:pic>
        <p:nvPicPr>
          <p:cNvPr id="4" name="Graphic 3" descr="Star with solid fill">
            <a:extLst>
              <a:ext uri="{FF2B5EF4-FFF2-40B4-BE49-F238E27FC236}">
                <a16:creationId xmlns:a16="http://schemas.microsoft.com/office/drawing/2014/main" id="{90C4163F-348E-A561-349D-EC07A534F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977" y="3063240"/>
            <a:ext cx="365760" cy="365760"/>
          </a:xfrm>
          <a:prstGeom prst="rect">
            <a:avLst/>
          </a:prstGeom>
        </p:spPr>
      </p:pic>
      <p:pic>
        <p:nvPicPr>
          <p:cNvPr id="5" name="Graphic 4" descr="Star with solid fill">
            <a:extLst>
              <a:ext uri="{FF2B5EF4-FFF2-40B4-BE49-F238E27FC236}">
                <a16:creationId xmlns:a16="http://schemas.microsoft.com/office/drawing/2014/main" id="{36B71F52-7A02-202C-08D7-71E466053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977" y="4274593"/>
            <a:ext cx="365760" cy="3657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5C9C0F-D1F5-8F2C-D3FF-2226A3E00ED5}"/>
              </a:ext>
            </a:extLst>
          </p:cNvPr>
          <p:cNvSpPr txBox="1"/>
          <p:nvPr/>
        </p:nvSpPr>
        <p:spPr>
          <a:xfrm>
            <a:off x="10366927" y="4378653"/>
            <a:ext cx="1518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Decrease after distillation</a:t>
            </a:r>
          </a:p>
        </p:txBody>
      </p:sp>
      <p:sp>
        <p:nvSpPr>
          <p:cNvPr id="51" name="Table caption"/>
          <p:cNvSpPr txBox="1"/>
          <p:nvPr/>
        </p:nvSpPr>
        <p:spPr>
          <a:xfrm>
            <a:off x="639299" y="4983480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595959"/>
                </a:solidFill>
                <a:latin typeface="Arial"/>
                <a:cs typeface="Arial"/>
              </a:rPr>
              <a:t>TACRED, NoTA-included, mean of 5 inference runs (%). Same prompt for every model.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D0B928-233F-DE1E-AB58-AB577FB72F3B}"/>
              </a:ext>
            </a:extLst>
          </p:cNvPr>
          <p:cNvCxnSpPr/>
          <p:nvPr/>
        </p:nvCxnSpPr>
        <p:spPr bwMode="auto">
          <a:xfrm>
            <a:off x="10214527" y="4457473"/>
            <a:ext cx="0" cy="34312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EDA132-9A90-4202-F85C-0D032FA943F1}"/>
              </a:ext>
            </a:extLst>
          </p:cNvPr>
          <p:cNvSpPr txBox="1"/>
          <p:nvPr/>
        </p:nvSpPr>
        <p:spPr>
          <a:xfrm>
            <a:off x="1640540" y="6407089"/>
            <a:ext cx="567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54C00"/>
                </a:solidFill>
                <a:latin typeface="Arial"/>
              </a:rPr>
              <a:t>Bold orange</a:t>
            </a:r>
            <a:r>
              <a:rPr lang="en-US" sz="800" dirty="0">
                <a:solidFill>
                  <a:srgbClr val="1A206D"/>
                </a:solidFill>
                <a:latin typeface="Arial"/>
              </a:rPr>
              <a:t> </a:t>
            </a:r>
            <a:r>
              <a:rPr lang="en-US" sz="800" dirty="0">
                <a:latin typeface="Arial"/>
              </a:rPr>
              <a:t>= best, </a:t>
            </a:r>
            <a:r>
              <a:rPr lang="en-US" sz="800" b="1" dirty="0">
                <a:latin typeface="Arial"/>
              </a:rPr>
              <a:t>bold</a:t>
            </a:r>
            <a:r>
              <a:rPr lang="en-US" sz="800" dirty="0">
                <a:latin typeface="Arial"/>
              </a:rPr>
              <a:t> = second best per column. BRE scores are means over 5 runs. </a:t>
            </a:r>
            <a:br>
              <a:rPr lang="en-US" sz="800" dirty="0">
                <a:latin typeface="Arial"/>
              </a:rPr>
            </a:br>
            <a:r>
              <a:rPr lang="en-US" sz="800" dirty="0" err="1"/>
              <a:t>NoTA</a:t>
            </a:r>
            <a:r>
              <a:rPr lang="en-US" sz="800" dirty="0"/>
              <a:t>: none-of-the-above or the “no relation” class</a:t>
            </a:r>
          </a:p>
        </p:txBody>
      </p:sp>
    </p:spTree>
    <p:extLst>
      <p:ext uri="{BB962C8B-B14F-4D97-AF65-F5344CB8AC3E}">
        <p14:creationId xmlns:p14="http://schemas.microsoft.com/office/powerpoint/2010/main" val="361978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25A63F-3AF5-63FA-AB39-B1EE6375D9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6651" y="1243645"/>
            <a:ext cx="10915522" cy="49146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Zero-shot Baselines: 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QA4RE</a:t>
            </a:r>
            <a:r>
              <a:rPr lang="en-US" sz="1600" baseline="30000" dirty="0"/>
              <a:t>1</a:t>
            </a:r>
            <a:r>
              <a:rPr lang="en-US" sz="1600" dirty="0"/>
              <a:t>: Reformulates relation classification as multiple-choice question-answer (QA) with valid entity pairs in pre-defined relation templates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SUMASK</a:t>
            </a:r>
            <a:r>
              <a:rPr lang="en-US" sz="1600" baseline="30000" dirty="0"/>
              <a:t>2</a:t>
            </a:r>
            <a:r>
              <a:rPr lang="en-US" sz="1600" dirty="0"/>
              <a:t>: Combines LLMs with natural language inference and chain-of-thought reasoning for iterative relation queries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REA</a:t>
            </a:r>
            <a:r>
              <a:rPr lang="en-US" sz="1600" baseline="30000" dirty="0"/>
              <a:t>3</a:t>
            </a:r>
            <a:r>
              <a:rPr lang="en-US" sz="1600" dirty="0"/>
              <a:t>: Employs a four-stage prompting strategy that looks at all relations within the same LLM context window</a:t>
            </a:r>
          </a:p>
          <a:p>
            <a:pPr marL="915988" lvl="2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Entity-type checking</a:t>
            </a:r>
          </a:p>
          <a:p>
            <a:pPr marL="915988" lvl="2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Candidate relation filtering</a:t>
            </a:r>
          </a:p>
          <a:p>
            <a:pPr marL="915988" lvl="2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Hypothesis generation with confidence scores</a:t>
            </a:r>
          </a:p>
          <a:p>
            <a:pPr marL="915988" lvl="2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Evidence-based selection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Few-shot Baselines: 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ODDA</a:t>
            </a:r>
            <a:r>
              <a:rPr lang="en-US" sz="1600" baseline="30000" dirty="0"/>
              <a:t>4</a:t>
            </a:r>
            <a:r>
              <a:rPr lang="en-US" sz="1600" dirty="0"/>
              <a:t>: Iteratively generates diverse few-shot training examples through data augmentation based on relation extraction model predictions using attribute-based constraints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ConsistRE</a:t>
            </a:r>
            <a:r>
              <a:rPr lang="en-US" sz="1600" baseline="30000" dirty="0"/>
              <a:t>5</a:t>
            </a:r>
            <a:r>
              <a:rPr lang="en-US" sz="1600" dirty="0"/>
              <a:t>: Uses relation-specific keywords as generation constraints for consistency, but requires access to sufficiently informative external corpus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AC50E0-3BC9-9FE4-32A4-60075A35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 Evaluation: Baselines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3C8B7-6118-F2BE-EBC1-3BD10090D459}"/>
              </a:ext>
            </a:extLst>
          </p:cNvPr>
          <p:cNvSpPr txBox="1"/>
          <p:nvPr/>
        </p:nvSpPr>
        <p:spPr>
          <a:xfrm>
            <a:off x="1522412" y="6378855"/>
            <a:ext cx="51054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500" dirty="0"/>
              <a:t>Zhang, Kai, Bernal Jiménez Gutiérrez, and Yu Su. "Aligning instruction tasks unlocks large language models as zero-shot relation extractors." </a:t>
            </a:r>
            <a:r>
              <a:rPr lang="en-US" sz="500" i="1" dirty="0"/>
              <a:t>ACL 2023</a:t>
            </a:r>
            <a:endParaRPr lang="en-US" sz="500" dirty="0"/>
          </a:p>
          <a:p>
            <a:pPr marL="22860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500" dirty="0"/>
              <a:t>Li, Guozheng, Peng Wang, and Wenjun Ke. "Revisiting large language models as zero-shot relation extractors." </a:t>
            </a:r>
            <a:r>
              <a:rPr lang="en-US" sz="500" i="1" dirty="0"/>
              <a:t>EMNLP 2023</a:t>
            </a:r>
            <a:endParaRPr lang="en-US" sz="500" dirty="0"/>
          </a:p>
          <a:p>
            <a:pPr marL="22860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500" dirty="0"/>
              <a:t>Layegh, Amirhossein, Amir H. </a:t>
            </a:r>
            <a:r>
              <a:rPr lang="en-US" sz="500" dirty="0" err="1"/>
              <a:t>Payberah</a:t>
            </a:r>
            <a:r>
              <a:rPr lang="en-US" sz="500" dirty="0"/>
              <a:t>, and Mihhail Matskin. "REA: Refine-estimate-answer prompting for zero-shot relation extraction." </a:t>
            </a:r>
            <a:r>
              <a:rPr lang="en-US" sz="500" i="1" dirty="0"/>
              <a:t>International conference on applications of natural language to information systems</a:t>
            </a:r>
            <a:r>
              <a:rPr lang="en-US" sz="500" dirty="0"/>
              <a:t>. Cham: Springer Nature Switzerland, 2024.</a:t>
            </a:r>
            <a:endParaRPr lang="en-US" sz="500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A5FD3-B4E5-5958-92AC-C96DC0D18A0B}"/>
              </a:ext>
            </a:extLst>
          </p:cNvPr>
          <p:cNvSpPr txBox="1"/>
          <p:nvPr/>
        </p:nvSpPr>
        <p:spPr>
          <a:xfrm>
            <a:off x="6627812" y="6378855"/>
            <a:ext cx="29019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en-US" sz="500" dirty="0"/>
              <a:t>Zhong, </a:t>
            </a:r>
            <a:r>
              <a:rPr lang="en-US" sz="500" dirty="0" err="1"/>
              <a:t>Yijie</a:t>
            </a:r>
            <a:r>
              <a:rPr lang="en-US" sz="500" dirty="0"/>
              <a:t>, et al. "ODDA: An OODA-Driven Diverse Data Augmentation Framework for Low-Resource Relation Extraction." </a:t>
            </a:r>
            <a:r>
              <a:rPr lang="en-US" sz="500" i="1" dirty="0"/>
              <a:t>ACL 2025</a:t>
            </a:r>
            <a:endParaRPr lang="en-US" sz="500" dirty="0"/>
          </a:p>
          <a:p>
            <a:pPr marL="228600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en-US" sz="500" dirty="0"/>
              <a:t>Zheng, Yifan, et al. "Making LLMs as Fine-Grained Relation Extraction Data </a:t>
            </a:r>
            <a:r>
              <a:rPr lang="en-US" sz="500" dirty="0" err="1"/>
              <a:t>Augmentor</a:t>
            </a:r>
            <a:r>
              <a:rPr lang="en-US" sz="500" dirty="0"/>
              <a:t>." </a:t>
            </a:r>
            <a:r>
              <a:rPr lang="en-US" sz="500" i="1" dirty="0"/>
              <a:t>IJCAI</a:t>
            </a:r>
            <a:r>
              <a:rPr lang="en-US" sz="500" dirty="0"/>
              <a:t> </a:t>
            </a:r>
            <a:r>
              <a:rPr lang="en-US" sz="500" i="1" dirty="0"/>
              <a:t>2024</a:t>
            </a:r>
            <a:endParaRPr lang="en-US" sz="500" i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707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A019-CE8E-6F3B-479F-786F510F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5919-AA26-EF5B-CF31-207C75C3B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 Evaluation: Baselines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D798A-F8BB-0294-1C56-48B1C0ACDEF6}"/>
              </a:ext>
            </a:extLst>
          </p:cNvPr>
          <p:cNvSpPr txBox="1"/>
          <p:nvPr/>
        </p:nvSpPr>
        <p:spPr>
          <a:xfrm>
            <a:off x="1640540" y="6407089"/>
            <a:ext cx="567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54C00"/>
                </a:solidFill>
                <a:latin typeface="Arial"/>
              </a:rPr>
              <a:t>Bold orange</a:t>
            </a:r>
            <a:r>
              <a:rPr lang="en-US" sz="800" dirty="0">
                <a:solidFill>
                  <a:srgbClr val="1A206D"/>
                </a:solidFill>
                <a:latin typeface="Arial"/>
              </a:rPr>
              <a:t> </a:t>
            </a:r>
            <a:r>
              <a:rPr lang="en-US" sz="800" dirty="0">
                <a:latin typeface="Arial"/>
              </a:rPr>
              <a:t>= best, </a:t>
            </a:r>
            <a:r>
              <a:rPr lang="en-US" sz="800" b="1" dirty="0">
                <a:latin typeface="Arial"/>
              </a:rPr>
              <a:t>bold</a:t>
            </a:r>
            <a:r>
              <a:rPr lang="en-US" sz="800" dirty="0">
                <a:latin typeface="Arial"/>
              </a:rPr>
              <a:t> = second best per column. BRE scores are means over 5 runs; baseline scores as reported in their papers (– = not reported). </a:t>
            </a:r>
            <a:r>
              <a:rPr lang="en-US" sz="800" dirty="0" err="1"/>
              <a:t>NoTA</a:t>
            </a:r>
            <a:r>
              <a:rPr lang="en-US" sz="800" dirty="0"/>
              <a:t>: none-of-the-above or the “no relation” class</a:t>
            </a:r>
          </a:p>
        </p:txBody>
      </p:sp>
      <p:graphicFrame>
        <p:nvGraphicFramePr>
          <p:cNvPr id="13" name="Results table">
            <a:extLst>
              <a:ext uri="{FF2B5EF4-FFF2-40B4-BE49-F238E27FC236}">
                <a16:creationId xmlns:a16="http://schemas.microsoft.com/office/drawing/2014/main" id="{C108CE83-2F69-91D6-76C0-F372FE32E3F7}"/>
              </a:ext>
            </a:extLst>
          </p:cNvPr>
          <p:cNvGraphicFramePr>
            <a:graphicFrameLocks noGrp="1"/>
          </p:cNvGraphicFramePr>
          <p:nvPr/>
        </p:nvGraphicFramePr>
        <p:xfrm>
          <a:off x="1655633" y="1117012"/>
          <a:ext cx="8877559" cy="49027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2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336">
                <a:tc rowSpan="2"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Micro-F1 (%)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NoTA-included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Arial"/>
                        </a:rPr>
                        <a:t>NoTA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Arial"/>
                        </a:rPr>
                        <a:t>-excluded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BRE (ours)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Qwen2.5-VL-32B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90.0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74.7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82.4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Llama-4-Scout-17B-16E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83.2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Llama-3.3-70B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86.4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78.9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Mixtral-8x22B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69.0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70.7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Llama-3.1-70B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83.4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62.1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68.3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62.7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DeepSeek-R1-Distill-Qwen-32B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80.8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79.3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68.5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78.7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71.3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SUMASK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73.8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79.6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REA · 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REA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63.5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FLAN-T5 XXL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54.3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61.2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Few-shot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 (8-shot)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81.0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71.8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72.6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80.1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chemeClr val="tx1"/>
                          </a:solidFill>
                          <a:latin typeface="Arial"/>
                        </a:rPr>
                        <a:t>Δ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BRE vs.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ero-shot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+11.8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+14.9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+7.2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+26.9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C54C00"/>
                          </a:solidFill>
                          <a:latin typeface="Arial"/>
                        </a:rPr>
                        <a:t>+15.3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38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B5F4-7D04-7C34-63E3-EF8A6E34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sults table">
            <a:extLst>
              <a:ext uri="{FF2B5EF4-FFF2-40B4-BE49-F238E27FC236}">
                <a16:creationId xmlns:a16="http://schemas.microsoft.com/office/drawing/2014/main" id="{13642E46-DA89-BDBA-F709-A186805EC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60669"/>
              </p:ext>
            </p:extLst>
          </p:nvPr>
        </p:nvGraphicFramePr>
        <p:xfrm>
          <a:off x="1655633" y="1117012"/>
          <a:ext cx="8877559" cy="49027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2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336">
                <a:tc rowSpan="2"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Micro-F1 (%)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NoTA-included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Arial"/>
                        </a:rPr>
                        <a:t>NoTA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Arial"/>
                        </a:rPr>
                        <a:t>-excluded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BRE (ours)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Qwen2.5-VL-32B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90.0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74.7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82.4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Llama-4-Scout-17B-16E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83.2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Llama-3.3-70B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86.4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78.9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Mixtral-8x22B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69.0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70.7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Llama-3.1-70B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83.4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62.1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68.3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62.7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DeepSeek-R1-Distill-Qwen-32B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80.8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79.3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68.5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78.7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71.3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SUMASK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73.8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79.6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REA · 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REA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63.5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FLAN-T5 XXL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54.3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61.2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Few-shot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 (8-shot)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81.0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71.8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72.6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80.1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chemeClr val="tx1"/>
                          </a:solidFill>
                          <a:latin typeface="Arial"/>
                        </a:rPr>
                        <a:t>Δ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BRE vs.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ero-shot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+11.8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+14.9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+7.2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+26.9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C54C00"/>
                          </a:solidFill>
                          <a:latin typeface="Arial"/>
                        </a:rPr>
                        <a:t>+15.3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721D419-A582-74B2-0CE5-055E1FC562F9}"/>
              </a:ext>
            </a:extLst>
          </p:cNvPr>
          <p:cNvSpPr/>
          <p:nvPr/>
        </p:nvSpPr>
        <p:spPr>
          <a:xfrm>
            <a:off x="1640541" y="2209800"/>
            <a:ext cx="8892650" cy="3581400"/>
          </a:xfrm>
          <a:prstGeom prst="rect">
            <a:avLst/>
          </a:prstGeom>
          <a:solidFill>
            <a:srgbClr val="F2F2F2">
              <a:alpha val="50196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69989-B86D-84EB-DC2E-10AAC450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 Evaluation: Baselines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90108-9989-AE61-95AC-20D30D14ED3C}"/>
              </a:ext>
            </a:extLst>
          </p:cNvPr>
          <p:cNvSpPr/>
          <p:nvPr/>
        </p:nvSpPr>
        <p:spPr>
          <a:xfrm>
            <a:off x="1640541" y="1752600"/>
            <a:ext cx="8892651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40639F4A-4CF8-FA13-E5ED-3586B5159956}"/>
              </a:ext>
            </a:extLst>
          </p:cNvPr>
          <p:cNvSpPr/>
          <p:nvPr/>
        </p:nvSpPr>
        <p:spPr>
          <a:xfrm>
            <a:off x="6932612" y="2743200"/>
            <a:ext cx="4593021" cy="965977"/>
          </a:xfrm>
          <a:prstGeom prst="wedgeRectCallout">
            <a:avLst>
              <a:gd name="adj1" fmla="val -42144"/>
              <a:gd name="adj2" fmla="val -102492"/>
            </a:avLst>
          </a:prstGeom>
          <a:solidFill>
            <a:srgbClr val="D2DCF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Qwen2.5-VL-32B’s high overall scores stem largely from strong 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</a:rPr>
              <a:t>NoTA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 classification, while Llama-4-Scout maintains more balanced performance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09E66-B0B5-22F8-08AD-CB1545458194}"/>
              </a:ext>
            </a:extLst>
          </p:cNvPr>
          <p:cNvSpPr txBox="1"/>
          <p:nvPr/>
        </p:nvSpPr>
        <p:spPr>
          <a:xfrm>
            <a:off x="1640540" y="6407089"/>
            <a:ext cx="567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54C00"/>
                </a:solidFill>
                <a:latin typeface="Arial"/>
              </a:rPr>
              <a:t>Bold orange</a:t>
            </a:r>
            <a:r>
              <a:rPr lang="en-US" sz="800" dirty="0">
                <a:solidFill>
                  <a:srgbClr val="1A206D"/>
                </a:solidFill>
                <a:latin typeface="Arial"/>
              </a:rPr>
              <a:t> </a:t>
            </a:r>
            <a:r>
              <a:rPr lang="en-US" sz="800" dirty="0">
                <a:latin typeface="Arial"/>
              </a:rPr>
              <a:t>= best, </a:t>
            </a:r>
            <a:r>
              <a:rPr lang="en-US" sz="800" b="1" dirty="0">
                <a:latin typeface="Arial"/>
              </a:rPr>
              <a:t>bold</a:t>
            </a:r>
            <a:r>
              <a:rPr lang="en-US" sz="800" dirty="0">
                <a:latin typeface="Arial"/>
              </a:rPr>
              <a:t> = second best per column. BRE scores are means over 5 runs; baseline scores as reported in their papers (– = not reported). </a:t>
            </a:r>
            <a:r>
              <a:rPr lang="en-US" sz="800" dirty="0" err="1"/>
              <a:t>NoTA</a:t>
            </a:r>
            <a:r>
              <a:rPr lang="en-US" sz="800" dirty="0"/>
              <a:t>: none-of-the-above or the “no relation” class</a:t>
            </a:r>
          </a:p>
        </p:txBody>
      </p:sp>
    </p:spTree>
    <p:extLst>
      <p:ext uri="{BB962C8B-B14F-4D97-AF65-F5344CB8AC3E}">
        <p14:creationId xmlns:p14="http://schemas.microsoft.com/office/powerpoint/2010/main" val="414091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2AAA-D86C-21BB-2653-8EB150E3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sults table">
            <a:extLst>
              <a:ext uri="{FF2B5EF4-FFF2-40B4-BE49-F238E27FC236}">
                <a16:creationId xmlns:a16="http://schemas.microsoft.com/office/drawing/2014/main" id="{56FB241E-5982-0990-B7F3-B3695CF2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862177"/>
              </p:ext>
            </p:extLst>
          </p:nvPr>
        </p:nvGraphicFramePr>
        <p:xfrm>
          <a:off x="1655633" y="1117012"/>
          <a:ext cx="8877559" cy="49027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2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336">
                <a:tc rowSpan="2"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Micro-F1 (%)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NoTA-included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Arial"/>
                        </a:rPr>
                        <a:t>NoTA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Arial"/>
                        </a:rPr>
                        <a:t>-excluded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BRE (ours)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Qwen2.5-VL-32B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90.0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74.7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Llama-4-Scout-17B-16E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Llama-3.3-70B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86.4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78.9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Mixtral-8x22B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69.0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70.7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Llama-3.1-70B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62.1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68.3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62.7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DeepSeek-R1-Distill-Qwen-32B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80.8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68.5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78.7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65.9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71.3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68.0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SUMASK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73.8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REA · 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58.0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REA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63.5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FLAN-T5 XXL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54.3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61.2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Few-shot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 (8-shot)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81.0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71.8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72.6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80.1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chemeClr val="tx1"/>
                          </a:solidFill>
                          <a:latin typeface="Arial"/>
                        </a:rPr>
                        <a:t>Δ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BRE vs.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ero-shot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+11.8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+14.9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+7.2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+26.9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C54C00"/>
                          </a:solidFill>
                          <a:latin typeface="Arial"/>
                        </a:rPr>
                        <a:t>+15.3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7F248FF-CC0A-A171-1339-466E5FF8A889}"/>
              </a:ext>
            </a:extLst>
          </p:cNvPr>
          <p:cNvSpPr/>
          <p:nvPr/>
        </p:nvSpPr>
        <p:spPr>
          <a:xfrm>
            <a:off x="1655632" y="1752600"/>
            <a:ext cx="8877559" cy="1371599"/>
          </a:xfrm>
          <a:prstGeom prst="rect">
            <a:avLst/>
          </a:prstGeom>
          <a:solidFill>
            <a:srgbClr val="F2F2F2">
              <a:alpha val="50196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BD41E-2A95-37F1-F1A1-B845383F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 Evaluation: Baselines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1ACFB-CEAD-E9D0-7B33-E8CEED185EE4}"/>
              </a:ext>
            </a:extLst>
          </p:cNvPr>
          <p:cNvSpPr/>
          <p:nvPr/>
        </p:nvSpPr>
        <p:spPr>
          <a:xfrm>
            <a:off x="1640541" y="4038600"/>
            <a:ext cx="8892650" cy="1752600"/>
          </a:xfrm>
          <a:prstGeom prst="rect">
            <a:avLst/>
          </a:prstGeom>
          <a:solidFill>
            <a:srgbClr val="F2F2F2">
              <a:alpha val="50196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335702-AB00-1D85-A8BC-A77B13026414}"/>
              </a:ext>
            </a:extLst>
          </p:cNvPr>
          <p:cNvSpPr/>
          <p:nvPr/>
        </p:nvSpPr>
        <p:spPr>
          <a:xfrm>
            <a:off x="1655634" y="3349555"/>
            <a:ext cx="8892650" cy="457201"/>
          </a:xfrm>
          <a:prstGeom prst="rect">
            <a:avLst/>
          </a:prstGeom>
          <a:solidFill>
            <a:srgbClr val="F2F2F2">
              <a:alpha val="50196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10B88EF0-4C18-37FE-B0A5-BB64DCE75B5F}"/>
              </a:ext>
            </a:extLst>
          </p:cNvPr>
          <p:cNvSpPr/>
          <p:nvPr/>
        </p:nvSpPr>
        <p:spPr>
          <a:xfrm>
            <a:off x="6780212" y="4342032"/>
            <a:ext cx="4593021" cy="965977"/>
          </a:xfrm>
          <a:prstGeom prst="wedgeRectCallout">
            <a:avLst>
              <a:gd name="adj1" fmla="val -42636"/>
              <a:gd name="adj2" fmla="val -79828"/>
            </a:avLst>
          </a:prstGeom>
          <a:solidFill>
            <a:srgbClr val="D2DCF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BRE outperforms REA even when both methods employ the same foundational 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</a:rPr>
              <a:t>Mixtral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 8x7B model, achieving 17% increase in accuracy on TACRED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DBEACC-88E8-7895-6192-933203A0F4A2}"/>
              </a:ext>
            </a:extLst>
          </p:cNvPr>
          <p:cNvSpPr/>
          <p:nvPr/>
        </p:nvSpPr>
        <p:spPr>
          <a:xfrm>
            <a:off x="1640541" y="3098210"/>
            <a:ext cx="8892651" cy="9403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CEB08A-A4B6-0791-EEFE-67C6967C4316}"/>
              </a:ext>
            </a:extLst>
          </p:cNvPr>
          <p:cNvSpPr txBox="1"/>
          <p:nvPr/>
        </p:nvSpPr>
        <p:spPr>
          <a:xfrm>
            <a:off x="1640540" y="6407089"/>
            <a:ext cx="567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54C00"/>
                </a:solidFill>
                <a:latin typeface="Arial"/>
              </a:rPr>
              <a:t>Bold orange</a:t>
            </a:r>
            <a:r>
              <a:rPr lang="en-US" sz="800" dirty="0">
                <a:solidFill>
                  <a:srgbClr val="1A206D"/>
                </a:solidFill>
                <a:latin typeface="Arial"/>
              </a:rPr>
              <a:t> </a:t>
            </a:r>
            <a:r>
              <a:rPr lang="en-US" sz="800" dirty="0">
                <a:latin typeface="Arial"/>
              </a:rPr>
              <a:t>= best, </a:t>
            </a:r>
            <a:r>
              <a:rPr lang="en-US" sz="800" b="1" dirty="0">
                <a:latin typeface="Arial"/>
              </a:rPr>
              <a:t>bold</a:t>
            </a:r>
            <a:r>
              <a:rPr lang="en-US" sz="800" dirty="0">
                <a:latin typeface="Arial"/>
              </a:rPr>
              <a:t> = second best per column. BRE scores are means over 5 runs; baseline scores as reported in their papers (– = not reported). </a:t>
            </a:r>
            <a:r>
              <a:rPr lang="en-US" sz="800" dirty="0" err="1"/>
              <a:t>NoTA</a:t>
            </a:r>
            <a:r>
              <a:rPr lang="en-US" sz="800" dirty="0"/>
              <a:t>: none-of-the-above or the “no relation” class</a:t>
            </a:r>
          </a:p>
        </p:txBody>
      </p:sp>
    </p:spTree>
    <p:extLst>
      <p:ext uri="{BB962C8B-B14F-4D97-AF65-F5344CB8AC3E}">
        <p14:creationId xmlns:p14="http://schemas.microsoft.com/office/powerpoint/2010/main" val="149886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3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DB74-F803-9535-E6D1-7CF9AA1C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 Evaluation: Baselines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3967C-3685-4E64-618C-C8E07E8AED0B}"/>
              </a:ext>
            </a:extLst>
          </p:cNvPr>
          <p:cNvSpPr txBox="1"/>
          <p:nvPr/>
        </p:nvSpPr>
        <p:spPr>
          <a:xfrm>
            <a:off x="1640540" y="6407089"/>
            <a:ext cx="567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54C00"/>
                </a:solidFill>
                <a:latin typeface="Arial"/>
              </a:rPr>
              <a:t>Bold orange</a:t>
            </a:r>
            <a:r>
              <a:rPr lang="en-US" sz="800" dirty="0">
                <a:solidFill>
                  <a:srgbClr val="1A206D"/>
                </a:solidFill>
                <a:latin typeface="Arial"/>
              </a:rPr>
              <a:t> </a:t>
            </a:r>
            <a:r>
              <a:rPr lang="en-US" sz="800" dirty="0">
                <a:latin typeface="Arial"/>
              </a:rPr>
              <a:t>= best, </a:t>
            </a:r>
            <a:r>
              <a:rPr lang="en-US" sz="800" b="1" dirty="0">
                <a:latin typeface="Arial"/>
              </a:rPr>
              <a:t>bold</a:t>
            </a:r>
            <a:r>
              <a:rPr lang="en-US" sz="800" dirty="0">
                <a:latin typeface="Arial"/>
              </a:rPr>
              <a:t> = second best per column. BRE scores are means over 5 runs; baseline scores as reported in their papers (– = not reported). </a:t>
            </a:r>
            <a:r>
              <a:rPr lang="en-US" sz="800" dirty="0" err="1"/>
              <a:t>NoTA</a:t>
            </a:r>
            <a:r>
              <a:rPr lang="en-US" sz="800" dirty="0"/>
              <a:t>: none-of-the-above or the “no relation” class</a:t>
            </a:r>
          </a:p>
        </p:txBody>
      </p:sp>
      <p:graphicFrame>
        <p:nvGraphicFramePr>
          <p:cNvPr id="13" name="Results table">
            <a:extLst>
              <a:ext uri="{FF2B5EF4-FFF2-40B4-BE49-F238E27FC236}">
                <a16:creationId xmlns:a16="http://schemas.microsoft.com/office/drawing/2014/main" id="{F0EBB7C4-F6D7-78E6-F579-4D19A8C20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194374"/>
              </p:ext>
            </p:extLst>
          </p:nvPr>
        </p:nvGraphicFramePr>
        <p:xfrm>
          <a:off x="1655633" y="1117012"/>
          <a:ext cx="8877559" cy="49027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2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6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336">
                <a:tc rowSpan="2"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Micro-F1 (%)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NoTA-included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Arial"/>
                        </a:rPr>
                        <a:t>NoTA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Arial"/>
                        </a:rPr>
                        <a:t>-excluded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Re-TAC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TACREV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TACRED</a:t>
                      </a:r>
                    </a:p>
                  </a:txBody>
                  <a:tcPr marL="64707" marR="48531" marT="16177" marB="16177" anchor="ctr">
                    <a:solidFill>
                      <a:srgbClr val="1A20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BRE (ours)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Qwen2.5-VL-32B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90.0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74.7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82.4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Llama-4-Scout-17B-16E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83.2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86.3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Llama-3.3-70B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86.4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65.6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78.9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73.9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Mixtral-8x22B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83.0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69.0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70.7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Llama-3.1-70B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79.1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83.4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62.1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68.3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62.7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DeepSeek-R1-Distill-Qwen-32B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80.8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79.3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66.7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68.5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72.4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78.7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65.9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71.3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Zero-shot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SUMASK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73.8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79.6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57.7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REA · Mixtral-8x7B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58.0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REA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63.5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FLAN-T5 XXL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54.3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QA4RE · GPT-3.5-Turbo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61.2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336">
                <a:tc gridSpan="7"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Few-shot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aselines (8-shot)</a:t>
                      </a:r>
                    </a:p>
                  </a:txBody>
                  <a:tcPr marL="64707" marR="48531" marT="16177" marB="16177" anchor="ctr">
                    <a:solidFill>
                      <a:srgbClr val="DED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76.8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ODDA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chemeClr val="tx1"/>
                          </a:solidFill>
                          <a:latin typeface="Arial"/>
                        </a:rPr>
                        <a:t>84.1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81.0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TYP Marker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71.8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72.6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ConsistRE</a:t>
                      </a:r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 · </a:t>
                      </a:r>
                      <a:r>
                        <a:rPr sz="1250" b="0" i="0" dirty="0" err="1">
                          <a:solidFill>
                            <a:schemeClr val="tx1"/>
                          </a:solidFill>
                          <a:latin typeface="Arial"/>
                        </a:rPr>
                        <a:t>KnowPrompt</a:t>
                      </a:r>
                      <a:endParaRPr sz="125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80.1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707" marR="48531" marT="16177" marB="1617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336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chemeClr val="tx1"/>
                          </a:solidFill>
                          <a:latin typeface="Arial"/>
                        </a:rPr>
                        <a:t>Δ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BRE vs.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B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est </a:t>
                      </a:r>
                      <a:r>
                        <a:rPr lang="en-US"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z</a:t>
                      </a:r>
                      <a:r>
                        <a:rPr sz="1250" b="1" i="0" dirty="0">
                          <a:solidFill>
                            <a:schemeClr val="tx1"/>
                          </a:solidFill>
                          <a:latin typeface="Arial"/>
                        </a:rPr>
                        <a:t>ero-shot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+11.8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+14.9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+7.2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54C00"/>
                          </a:solidFill>
                          <a:latin typeface="Arial"/>
                        </a:rPr>
                        <a:t>+26.9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C54C00"/>
                          </a:solidFill>
                          <a:latin typeface="Arial"/>
                        </a:rPr>
                        <a:t>+15.3</a:t>
                      </a:r>
                    </a:p>
                  </a:txBody>
                  <a:tcPr marL="64707" marR="48531" marT="16177" marB="16177" anchor="ctr">
                    <a:solidFill>
                      <a:srgbClr val="FBEF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D4BE09BB-88AA-F759-98F2-EC0A1E015D24}"/>
              </a:ext>
            </a:extLst>
          </p:cNvPr>
          <p:cNvSpPr/>
          <p:nvPr/>
        </p:nvSpPr>
        <p:spPr>
          <a:xfrm>
            <a:off x="8304212" y="4800600"/>
            <a:ext cx="3429000" cy="813816"/>
          </a:xfrm>
          <a:prstGeom prst="wedgeRectCallout">
            <a:avLst>
              <a:gd name="adj1" fmla="val -38534"/>
              <a:gd name="adj2" fmla="val 74415"/>
            </a:avLst>
          </a:prstGeom>
          <a:solidFill>
            <a:srgbClr val="D2DCF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BRE achieves state-of-the-art zero-shot performance, comparable to top few-shot approaches</a:t>
            </a:r>
          </a:p>
        </p:txBody>
      </p:sp>
    </p:spTree>
    <p:extLst>
      <p:ext uri="{BB962C8B-B14F-4D97-AF65-F5344CB8AC3E}">
        <p14:creationId xmlns:p14="http://schemas.microsoft.com/office/powerpoint/2010/main" val="323926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Drives Performance?</a:t>
            </a:r>
          </a:p>
        </p:txBody>
      </p:sp>
      <p:sp>
        <p:nvSpPr>
          <p:cNvPr id="11" name="Chart caption"/>
          <p:cNvSpPr txBox="1"/>
          <p:nvPr/>
        </p:nvSpPr>
        <p:spPr>
          <a:xfrm>
            <a:off x="548640" y="109728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Arial"/>
                <a:cs typeface="Arial"/>
              </a:rPr>
              <a:t>TACRED micro-F1 (NoTA-included, mean ± std over 5 runs), sorted by parameter count</a:t>
            </a:r>
          </a:p>
        </p:txBody>
      </p:sp>
      <p:graphicFrame>
        <p:nvGraphicFramePr>
          <p:cNvPr id="12" name="Scaling chart"/>
          <p:cNvGraphicFramePr/>
          <p:nvPr>
            <p:extLst>
              <p:ext uri="{D42A27DB-BD31-4B8C-83A1-F6EECF244321}">
                <p14:modId xmlns:p14="http://schemas.microsoft.com/office/powerpoint/2010/main" val="543439854"/>
              </p:ext>
            </p:extLst>
          </p:nvPr>
        </p:nvGraphicFramePr>
        <p:xfrm>
          <a:off x="457200" y="1295400"/>
          <a:ext cx="6858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Chart legend"/>
          <p:cNvSpPr txBox="1"/>
          <p:nvPr/>
        </p:nvSpPr>
        <p:spPr>
          <a:xfrm>
            <a:off x="548640" y="518160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A206D"/>
                </a:solidFill>
                <a:latin typeface="Arial"/>
                <a:cs typeface="Arial"/>
              </a:rPr>
              <a:t>■ </a:t>
            </a:r>
            <a:r>
              <a:rPr lang="en-US" sz="1200" b="1" i="0" dirty="0">
                <a:latin typeface="Arial"/>
                <a:cs typeface="Arial"/>
              </a:rPr>
              <a:t>Llama    </a:t>
            </a:r>
            <a:r>
              <a:rPr lang="en-US" sz="1400" b="1" i="0" dirty="0">
                <a:solidFill>
                  <a:srgbClr val="C54C00"/>
                </a:solidFill>
                <a:latin typeface="Arial"/>
                <a:cs typeface="Arial"/>
              </a:rPr>
              <a:t>■ </a:t>
            </a:r>
            <a:r>
              <a:rPr lang="en-US" sz="1200" b="1" i="0" dirty="0">
                <a:latin typeface="Arial"/>
                <a:cs typeface="Arial"/>
              </a:rPr>
              <a:t>Mistral    </a:t>
            </a:r>
            <a:r>
              <a:rPr lang="en-US" sz="1400" b="1" i="0" dirty="0">
                <a:solidFill>
                  <a:srgbClr val="EEAF00"/>
                </a:solidFill>
                <a:latin typeface="Arial"/>
                <a:cs typeface="Arial"/>
              </a:rPr>
              <a:t>■ </a:t>
            </a:r>
            <a:r>
              <a:rPr lang="en-US" sz="1200" b="1" i="0" dirty="0">
                <a:latin typeface="Arial"/>
                <a:cs typeface="Arial"/>
              </a:rPr>
              <a:t>Qwen    </a:t>
            </a:r>
            <a:r>
              <a:rPr lang="en-US" sz="1400" b="1" i="0" dirty="0">
                <a:solidFill>
                  <a:srgbClr val="ADA9CA"/>
                </a:solidFill>
                <a:latin typeface="Arial"/>
                <a:cs typeface="Arial"/>
              </a:rPr>
              <a:t>■ </a:t>
            </a:r>
            <a:r>
              <a:rPr lang="en-US" sz="1200" b="1" i="0" dirty="0">
                <a:latin typeface="Arial"/>
                <a:cs typeface="Arial"/>
              </a:rPr>
              <a:t>DeepSeek    </a:t>
            </a:r>
          </a:p>
        </p:txBody>
      </p:sp>
      <p:sp>
        <p:nvSpPr>
          <p:cNvPr id="14" name="Stat 1"/>
          <p:cNvSpPr txBox="1"/>
          <p:nvPr/>
        </p:nvSpPr>
        <p:spPr>
          <a:xfrm>
            <a:off x="7726680" y="1371600"/>
            <a:ext cx="3931920" cy="990600"/>
          </a:xfrm>
          <a:prstGeom prst="roundRect">
            <a:avLst>
              <a:gd name="adj" fmla="val 8000"/>
            </a:avLst>
          </a:prstGeom>
          <a:solidFill>
            <a:srgbClr val="003767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Arial"/>
                <a:cs typeface="Arial"/>
              </a:rPr>
              <a:t>p = 0.006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/>
                <a:cs typeface="Arial"/>
              </a:rPr>
              <a:t>Parameter size: significant</a:t>
            </a:r>
          </a:p>
        </p:txBody>
      </p:sp>
      <p:sp>
        <p:nvSpPr>
          <p:cNvPr id="15" name="Stat 2"/>
          <p:cNvSpPr txBox="1"/>
          <p:nvPr/>
        </p:nvSpPr>
        <p:spPr>
          <a:xfrm>
            <a:off x="7726680" y="2513465"/>
            <a:ext cx="3931920" cy="990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62626"/>
                </a:solidFill>
                <a:latin typeface="Arial"/>
                <a:cs typeface="Arial"/>
              </a:rPr>
              <a:t>p = 0.667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Arial"/>
                <a:cs typeface="Arial"/>
              </a:rPr>
              <a:t>Release date: not significant</a:t>
            </a:r>
          </a:p>
        </p:txBody>
      </p:sp>
      <p:sp>
        <p:nvSpPr>
          <p:cNvPr id="16" name="Stat notes"/>
          <p:cNvSpPr txBox="1"/>
          <p:nvPr/>
        </p:nvSpPr>
        <p:spPr>
          <a:xfrm>
            <a:off x="7726680" y="373380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i="0" dirty="0">
                <a:latin typeface="Arial"/>
                <a:cs typeface="Arial"/>
              </a:rPr>
              <a:t>Regression controlling for both factors*</a:t>
            </a:r>
          </a:p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i="0" dirty="0">
                <a:latin typeface="Arial"/>
                <a:cs typeface="Arial"/>
              </a:rPr>
              <a:t>Rankings are stable: standard deviations stay ≤ 0.9 pts on TACRED</a:t>
            </a:r>
          </a:p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i="0" dirty="0">
                <a:latin typeface="Arial"/>
                <a:cs typeface="Arial"/>
              </a:rPr>
              <a:t>Based on N = 10 models</a:t>
            </a:r>
          </a:p>
        </p:txBody>
      </p:sp>
      <p:sp>
        <p:nvSpPr>
          <p:cNvPr id="17" name="Key message"/>
          <p:cNvSpPr txBox="1"/>
          <p:nvPr/>
        </p:nvSpPr>
        <p:spPr>
          <a:xfrm>
            <a:off x="1476692" y="5638800"/>
            <a:ext cx="9235440" cy="42976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lvl="1" algn="ctr"/>
            <a:r>
              <a:rPr lang="en-US" sz="1600" b="1" dirty="0"/>
              <a:t>Scale over recency: parameter count, not release date, predicts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65A27-D255-BEF0-E5C7-DA2CD2F9F6B7}"/>
              </a:ext>
            </a:extLst>
          </p:cNvPr>
          <p:cNvSpPr txBox="1"/>
          <p:nvPr/>
        </p:nvSpPr>
        <p:spPr>
          <a:xfrm>
            <a:off x="2513012" y="6413956"/>
            <a:ext cx="1572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*also holds for </a:t>
            </a:r>
            <a:r>
              <a:rPr lang="en-US" sz="800" dirty="0" err="1"/>
              <a:t>NoTA</a:t>
            </a:r>
            <a:r>
              <a:rPr lang="en-US" sz="800" dirty="0"/>
              <a:t> excluded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Studies</a:t>
            </a:r>
          </a:p>
        </p:txBody>
      </p:sp>
      <p:sp>
        <p:nvSpPr>
          <p:cNvPr id="11" name="Chart caption"/>
          <p:cNvSpPr txBox="1"/>
          <p:nvPr/>
        </p:nvSpPr>
        <p:spPr>
          <a:xfrm>
            <a:off x="548640" y="1197864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Arial"/>
                <a:cs typeface="Arial"/>
              </a:rPr>
              <a:t>Average Δ micro-F1 (pts) vs. full BRE, across models and datasets</a:t>
            </a:r>
          </a:p>
        </p:txBody>
      </p:sp>
      <p:graphicFrame>
        <p:nvGraphicFramePr>
          <p:cNvPr id="12" name="Ablation chart"/>
          <p:cNvGraphicFramePr/>
          <p:nvPr>
            <p:extLst>
              <p:ext uri="{D42A27DB-BD31-4B8C-83A1-F6EECF244321}">
                <p14:modId xmlns:p14="http://schemas.microsoft.com/office/powerpoint/2010/main" val="4143948044"/>
              </p:ext>
            </p:extLst>
          </p:nvPr>
        </p:nvGraphicFramePr>
        <p:xfrm>
          <a:off x="457200" y="1417320"/>
          <a:ext cx="6217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Card 1"/>
          <p:cNvSpPr txBox="1"/>
          <p:nvPr/>
        </p:nvSpPr>
        <p:spPr>
          <a:xfrm>
            <a:off x="6932612" y="1617321"/>
            <a:ext cx="470916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4" name="Badge 1"/>
          <p:cNvSpPr/>
          <p:nvPr/>
        </p:nvSpPr>
        <p:spPr>
          <a:xfrm>
            <a:off x="7069772" y="1754481"/>
            <a:ext cx="384048" cy="384048"/>
          </a:xfrm>
          <a:prstGeom prst="ellipse">
            <a:avLst/>
          </a:prstGeom>
          <a:solidFill>
            <a:srgbClr val="00376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5" name="Card text 1"/>
          <p:cNvSpPr txBox="1"/>
          <p:nvPr/>
        </p:nvSpPr>
        <p:spPr>
          <a:xfrm>
            <a:off x="7572692" y="1708761"/>
            <a:ext cx="3959352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latin typeface="Arial"/>
                <a:cs typeface="Arial"/>
              </a:rPr>
              <a:t>Relevance elicitation drives gains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dirty="0">
                <a:latin typeface="Arial"/>
                <a:cs typeface="Arial"/>
              </a:rPr>
              <a:t>Score-only ≈ full BRE (−0.04). Binary-only loses 15.0 pts: macro recall rises (+15.3) but precision falls as the LLM affirms too many relations</a:t>
            </a:r>
          </a:p>
        </p:txBody>
      </p:sp>
      <p:sp>
        <p:nvSpPr>
          <p:cNvPr id="16" name="Card 2"/>
          <p:cNvSpPr txBox="1"/>
          <p:nvPr/>
        </p:nvSpPr>
        <p:spPr>
          <a:xfrm>
            <a:off x="6932612" y="2897481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7" name="Badge 2"/>
          <p:cNvSpPr/>
          <p:nvPr/>
        </p:nvSpPr>
        <p:spPr>
          <a:xfrm>
            <a:off x="7069772" y="3034641"/>
            <a:ext cx="384048" cy="384048"/>
          </a:xfrm>
          <a:prstGeom prst="ellipse">
            <a:avLst/>
          </a:prstGeom>
          <a:solidFill>
            <a:srgbClr val="00376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8" name="Card text 2"/>
          <p:cNvSpPr txBox="1"/>
          <p:nvPr/>
        </p:nvSpPr>
        <p:spPr>
          <a:xfrm>
            <a:off x="7572692" y="2988921"/>
            <a:ext cx="3959352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latin typeface="Arial"/>
                <a:cs typeface="Arial"/>
              </a:rPr>
              <a:t>Entity type filtering is essential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dirty="0">
                <a:latin typeface="Arial"/>
                <a:cs typeface="Arial"/>
              </a:rPr>
              <a:t>Without it, macro-F1 drops 47.5 pts and micro-F1 drops 7.5 pts</a:t>
            </a:r>
          </a:p>
        </p:txBody>
      </p:sp>
      <p:sp>
        <p:nvSpPr>
          <p:cNvPr id="19" name="Card 3"/>
          <p:cNvSpPr txBox="1"/>
          <p:nvPr/>
        </p:nvSpPr>
        <p:spPr>
          <a:xfrm>
            <a:off x="6932612" y="3945928"/>
            <a:ext cx="4709160" cy="93268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20" name="Badge 3"/>
          <p:cNvSpPr/>
          <p:nvPr/>
        </p:nvSpPr>
        <p:spPr>
          <a:xfrm>
            <a:off x="7069772" y="4083088"/>
            <a:ext cx="384048" cy="384048"/>
          </a:xfrm>
          <a:prstGeom prst="ellipse">
            <a:avLst/>
          </a:prstGeom>
          <a:solidFill>
            <a:srgbClr val="00376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Card text 3"/>
          <p:cNvSpPr txBox="1"/>
          <p:nvPr/>
        </p:nvSpPr>
        <p:spPr>
          <a:xfrm>
            <a:off x="7572692" y="4037368"/>
            <a:ext cx="3959352" cy="8412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i="0" dirty="0">
                <a:latin typeface="Arial"/>
                <a:cs typeface="Arial"/>
              </a:rPr>
              <a:t>Definitions disambiguate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dirty="0">
                <a:latin typeface="Arial"/>
                <a:cs typeface="Arial"/>
              </a:rPr>
              <a:t>Removing them costs about 4% relative accuracy (p = 0.01)</a:t>
            </a:r>
          </a:p>
        </p:txBody>
      </p:sp>
      <p:sp>
        <p:nvSpPr>
          <p:cNvPr id="22" name="Key message"/>
          <p:cNvSpPr txBox="1"/>
          <p:nvPr/>
        </p:nvSpPr>
        <p:spPr>
          <a:xfrm>
            <a:off x="1141412" y="5440680"/>
            <a:ext cx="9906000" cy="5791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lvl="1" algn="ctr"/>
            <a:r>
              <a:rPr lang="en-US" sz="1600" b="1" dirty="0"/>
              <a:t>BRE benefits from ranking by relevance plus context that limits implausible candidates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78EABD-FBFE-BCC5-9BD7-E03630AFC1A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71" y="1076402"/>
            <a:ext cx="2622724" cy="511927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B27F02-2103-0877-9349-BE3CFC9E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Future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FD7BE4-0C06-5F0F-5045-E9546C1F5FB2}"/>
              </a:ext>
            </a:extLst>
          </p:cNvPr>
          <p:cNvSpPr txBox="1"/>
          <p:nvPr/>
        </p:nvSpPr>
        <p:spPr>
          <a:xfrm>
            <a:off x="792333" y="1679717"/>
            <a:ext cx="7492586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BRE decomposes multi-class RC into independent binary decisions with relevance scoring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It successfully mitigates LLM over-prediction through simplified binary prompting and ranking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Limitation: Performance variation across relation types persists and remains an open research problem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Future directions: Relation-specific prompting or hybrid retrieval-augmented approaches for ambiguous cases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337A5-9C31-AF1E-C86D-59FBC97BAA45}"/>
              </a:ext>
            </a:extLst>
          </p:cNvPr>
          <p:cNvSpPr txBox="1"/>
          <p:nvPr/>
        </p:nvSpPr>
        <p:spPr>
          <a:xfrm>
            <a:off x="912812" y="4349789"/>
            <a:ext cx="6980041" cy="7763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lvl="1" algn="ctr"/>
            <a:r>
              <a:rPr lang="en-US" sz="1600" b="1" dirty="0"/>
              <a:t>We show a significant advancement toward reliable, interpretable zero-shot relation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73556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6DD92F-C162-E914-86BE-98226AE64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075" y="2510166"/>
            <a:ext cx="9972674" cy="1294671"/>
          </a:xfrm>
        </p:spPr>
        <p:txBody>
          <a:bodyPr/>
          <a:lstStyle/>
          <a:p>
            <a:r>
              <a:rPr lang="en-US" dirty="0"/>
              <a:t>Backup Slides</a:t>
            </a:r>
            <a:br>
              <a:rPr lang="en-US" dirty="0"/>
            </a:br>
            <a:r>
              <a:rPr lang="en-US" sz="2800" i="1" dirty="0"/>
              <a:t>Zero-Shot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5964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E0B2E3-A548-68C9-7442-0D369FEFC14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97367" y="1436930"/>
            <a:ext cx="5725027" cy="4511805"/>
          </a:xfrm>
        </p:spPr>
        <p:txBody>
          <a:bodyPr/>
          <a:lstStyle/>
          <a:p>
            <a:r>
              <a:rPr lang="en-US" sz="1600" dirty="0"/>
              <a:t>Relevance elicitation: </a:t>
            </a:r>
          </a:p>
          <a:p>
            <a:pPr lvl="1"/>
            <a:r>
              <a:rPr lang="en-US" sz="1600" dirty="0"/>
              <a:t>Capture confidence from textual evidence to filter between explicitly stated, strongly implied, and merely plausible relations</a:t>
            </a:r>
          </a:p>
          <a:p>
            <a:pPr lvl="1"/>
            <a:r>
              <a:rPr lang="en-US" sz="1600" dirty="0"/>
              <a:t>Single-query efficiency advantage over multi-stage approaches (e.g., REA</a:t>
            </a:r>
            <a:r>
              <a:rPr lang="en-US" sz="1600" baseline="30000" dirty="0"/>
              <a:t>1</a:t>
            </a:r>
            <a:r>
              <a:rPr lang="en-US" sz="1600" dirty="0"/>
              <a:t>)</a:t>
            </a:r>
          </a:p>
          <a:p>
            <a:r>
              <a:rPr lang="en-US" sz="1600" dirty="0"/>
              <a:t>Relation definitions: </a:t>
            </a:r>
          </a:p>
          <a:p>
            <a:pPr lvl="1"/>
            <a:r>
              <a:rPr lang="en-US" sz="1600" dirty="0"/>
              <a:t>Establish clear semantic boundaries for relation types and contextual evidence</a:t>
            </a:r>
          </a:p>
          <a:p>
            <a:pPr lvl="1"/>
            <a:r>
              <a:rPr lang="en-US" sz="1600" dirty="0"/>
              <a:t>Reduce semantic confusion by grounding LLM reasoning in explicit specifications and not relying on implicit learned associations</a:t>
            </a:r>
          </a:p>
          <a:p>
            <a:r>
              <a:rPr lang="en-US" sz="1600" dirty="0"/>
              <a:t>Entity-type constraints: </a:t>
            </a:r>
          </a:p>
          <a:p>
            <a:pPr lvl="1"/>
            <a:r>
              <a:rPr lang="en-US" sz="1600" dirty="0"/>
              <a:t>Eliminate semantically invalid relation candidates (e.g., "founded by" between two location entities) before LLM inference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BF8785-663D-2552-7E7A-E8D6C283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Relevance Elicitation (BRE): Prompt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6F272-7BE1-3CEA-02E5-E468D974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6" y="1220964"/>
            <a:ext cx="5005816" cy="48198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CBBB74-C9D9-4C5A-F0E6-7BDF96EF45D8}"/>
              </a:ext>
            </a:extLst>
          </p:cNvPr>
          <p:cNvSpPr/>
          <p:nvPr/>
        </p:nvSpPr>
        <p:spPr>
          <a:xfrm>
            <a:off x="948737" y="2614863"/>
            <a:ext cx="4427621" cy="14357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6001C-AFA3-EBB2-0EF9-AE9D5067F802}"/>
              </a:ext>
            </a:extLst>
          </p:cNvPr>
          <p:cNvSpPr txBox="1"/>
          <p:nvPr/>
        </p:nvSpPr>
        <p:spPr>
          <a:xfrm>
            <a:off x="1971881" y="6357423"/>
            <a:ext cx="655073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600" dirty="0"/>
              <a:t>Layegh, Amirhossein, Amir H. </a:t>
            </a:r>
            <a:r>
              <a:rPr lang="en-US" sz="600" dirty="0" err="1"/>
              <a:t>Payberah</a:t>
            </a:r>
            <a:r>
              <a:rPr lang="en-US" sz="600" dirty="0"/>
              <a:t>, and Mihhail Matskin. "REA: Refine-estimate-answer prompting for zero-shot relation extraction." </a:t>
            </a:r>
            <a:r>
              <a:rPr lang="en-US" sz="600" i="1" dirty="0"/>
              <a:t>International conference on applications of natural language to information systems</a:t>
            </a:r>
            <a:r>
              <a:rPr lang="en-US" sz="600" dirty="0"/>
              <a:t>. Cham: Springer Nature Switzerland, 2024.</a:t>
            </a:r>
            <a:endParaRPr lang="en-US" sz="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467059"/>
      </p:ext>
    </p:extLst>
  </p:cSld>
  <p:clrMapOvr>
    <a:masterClrMapping/>
  </p:clrMapOvr>
</p:sld>
</file>

<file path=ppt/theme/theme1.xml><?xml version="1.0" encoding="utf-8"?>
<a:theme xmlns:a="http://schemas.openxmlformats.org/drawingml/2006/main" name="Lincoln_2012_v16x9">
  <a:themeElements>
    <a:clrScheme name="Custom 1 1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3767"/>
      </a:accent4>
      <a:accent5>
        <a:srgbClr val="D2DCF2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5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-110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algn="ctr">
          <a:defRPr sz="1400" b="1" dirty="0"/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incoln 75 16x9 Mac" id="{89F1CC5E-1CE7-FE4E-AF80-0B766D67BC58}" vid="{766BAC18-01F3-FA4B-87C2-4EEE4B6E8C9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Lincoln_2012_v16x9</Template>
  <TotalTime>122</TotalTime>
  <Pages>1</Pages>
  <Words>2508</Words>
  <Application>Microsoft Macintosh PowerPoint</Application>
  <PresentationFormat>Custom</PresentationFormat>
  <Paragraphs>781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Helvetica</vt:lpstr>
      <vt:lpstr>Times New Roman</vt:lpstr>
      <vt:lpstr>Wingdings</vt:lpstr>
      <vt:lpstr>Lincoln_2012_v16x9</vt:lpstr>
      <vt:lpstr>Zero-Shot Relation Classification with LLMs: Binary Prompting and Relevance Elicitation</vt:lpstr>
      <vt:lpstr>Relation Classification Pipeline</vt:lpstr>
      <vt:lpstr>Zero-Shot Closed Relation Classification</vt:lpstr>
      <vt:lpstr>Dataset: TACRED</vt:lpstr>
      <vt:lpstr>Binary Relevance Elicitation (BRE)</vt:lpstr>
      <vt:lpstr>BRE Evaluation: Performance</vt:lpstr>
      <vt:lpstr>BRE Evaluation: Baselines</vt:lpstr>
      <vt:lpstr>BRE Evaluation: Baselines</vt:lpstr>
      <vt:lpstr>BRE Evaluation: Baselines</vt:lpstr>
      <vt:lpstr>BRE Evaluation: Baselines</vt:lpstr>
      <vt:lpstr>BRE Evaluation: Baselines</vt:lpstr>
      <vt:lpstr>What Drives Performance?</vt:lpstr>
      <vt:lpstr>Ablation Studies</vt:lpstr>
      <vt:lpstr>Conclusions and Future Work</vt:lpstr>
      <vt:lpstr>Backup Slides Zero-Shot</vt:lpstr>
      <vt:lpstr>Binary Relevance Elicitation (BRE): Prompt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Alemany Blanco, Sheila - 0552 - MITLL</dc:creator>
  <cp:keywords/>
  <dc:description/>
  <cp:lastModifiedBy>Alemany Blanco, Sheila - 0552 - MITLL</cp:lastModifiedBy>
  <cp:revision>4</cp:revision>
  <cp:lastPrinted>2001-06-18T18:57:59Z</cp:lastPrinted>
  <dcterms:created xsi:type="dcterms:W3CDTF">2026-10-19T16:14:46Z</dcterms:created>
  <dcterms:modified xsi:type="dcterms:W3CDTF">2026-10-19T18:16:56Z</dcterms:modified>
  <cp:category/>
</cp:coreProperties>
</file>