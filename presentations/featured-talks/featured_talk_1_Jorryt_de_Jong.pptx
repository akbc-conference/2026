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2"/>
  </p:notesMasterIdLst>
  <p:sldIdLst>
    <p:sldId id="397" r:id="rId2"/>
    <p:sldId id="398" r:id="rId3"/>
    <p:sldId id="399" r:id="rId4"/>
    <p:sldId id="400" r:id="rId5"/>
    <p:sldId id="401" r:id="rId6"/>
    <p:sldId id="402" r:id="rId7"/>
    <p:sldId id="403" r:id="rId8"/>
    <p:sldId id="408" r:id="rId9"/>
    <p:sldId id="406" r:id="rId10"/>
    <p:sldId id="409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F7"/>
    <a:srgbClr val="F4A6A6"/>
    <a:srgbClr val="1F3424"/>
    <a:srgbClr val="C00000"/>
    <a:srgbClr val="FFC000"/>
    <a:srgbClr val="EAB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5" autoAdjust="0"/>
    <p:restoredTop sz="80178" autoAdjust="0"/>
  </p:normalViewPr>
  <p:slideViewPr>
    <p:cSldViewPr snapToGrid="0">
      <p:cViewPr>
        <p:scale>
          <a:sx n="75" d="100"/>
          <a:sy n="75" d="100"/>
        </p:scale>
        <p:origin x="307" y="5"/>
      </p:cViewPr>
      <p:guideLst/>
    </p:cSldViewPr>
  </p:slideViewPr>
  <p:outlineViewPr>
    <p:cViewPr>
      <p:scale>
        <a:sx n="33" d="100"/>
        <a:sy n="33" d="100"/>
      </p:scale>
      <p:origin x="0" y="-15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93D3F-8300-4C1B-AF62-D326DE5890C8}" type="datetimeFigureOut">
              <a:rPr lang="nl-NL" smtClean="0"/>
              <a:t>26-10-2026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F89DE-6D2B-42E0-90EB-D2E577628E2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100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Longest title but it is not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F89DE-6D2B-42E0-90EB-D2E577628E26}" type="slidenum">
              <a:rPr lang="nl-NL" smtClean="0"/>
              <a:t>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8804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F89DE-6D2B-42E0-90EB-D2E577628E26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8189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No, NLI is not solved! 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F89DE-6D2B-42E0-90EB-D2E577628E26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5837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 pipeline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F89DE-6D2B-42E0-90EB-D2E577628E26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0426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F89DE-6D2B-42E0-90EB-D2E577628E26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979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5199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605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chemeClr val="bg1"/>
          </a:solidFill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8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2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444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733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38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687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189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896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06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4503"/>
            <a:ext cx="10515600" cy="845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62743"/>
            <a:ext cx="10515600" cy="4914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8" y="6495692"/>
            <a:ext cx="1828800" cy="365125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LID4096"/>
              <a:t>AKBC 2026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0423" y="6495692"/>
            <a:ext cx="8891451" cy="36512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Explaining Textual Entailment with Lexical Entailments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72206" y="6495692"/>
            <a:ext cx="1619794" cy="365125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fld id="{A9A09D6B-D05C-411B-9FD4-A4FD8E9C0886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Rectangle 6"/>
          <p:cNvSpPr/>
          <p:nvPr userDrawn="1"/>
        </p:nvSpPr>
        <p:spPr>
          <a:xfrm>
            <a:off x="-8" y="0"/>
            <a:ext cx="12192008" cy="217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866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7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microsoft.com/office/2007/relationships/hdphoto" Target="../media/hdphoto3.wdp"/><Relationship Id="rId4" Type="http://schemas.openxmlformats.org/officeDocument/2006/relationships/image" Target="../media/image18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0.png"/><Relationship Id="rId18" Type="http://schemas.openxmlformats.org/officeDocument/2006/relationships/image" Target="../media/image33.png"/><Relationship Id="rId26" Type="http://schemas.openxmlformats.org/officeDocument/2006/relationships/image" Target="../media/image42.png"/><Relationship Id="rId39" Type="http://schemas.openxmlformats.org/officeDocument/2006/relationships/image" Target="../media/image55.png"/><Relationship Id="rId21" Type="http://schemas.openxmlformats.org/officeDocument/2006/relationships/image" Target="../media/image36.png"/><Relationship Id="rId34" Type="http://schemas.openxmlformats.org/officeDocument/2006/relationships/image" Target="../media/image50.png"/><Relationship Id="rId42" Type="http://schemas.openxmlformats.org/officeDocument/2006/relationships/image" Target="../media/image40.png"/><Relationship Id="rId47" Type="http://schemas.openxmlformats.org/officeDocument/2006/relationships/image" Target="../media/image62.png"/><Relationship Id="rId50" Type="http://schemas.openxmlformats.org/officeDocument/2006/relationships/image" Target="../media/image54.png"/><Relationship Id="rId7" Type="http://schemas.openxmlformats.org/officeDocument/2006/relationships/image" Target="../media/image220.png"/><Relationship Id="rId16" Type="http://schemas.openxmlformats.org/officeDocument/2006/relationships/image" Target="../media/image231.png"/><Relationship Id="rId29" Type="http://schemas.openxmlformats.org/officeDocument/2006/relationships/image" Target="../media/image310.png"/><Relationship Id="rId11" Type="http://schemas.openxmlformats.org/officeDocument/2006/relationships/image" Target="../media/image260.png"/><Relationship Id="rId24" Type="http://schemas.openxmlformats.org/officeDocument/2006/relationships/image" Target="../media/image39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45.png"/><Relationship Id="rId45" Type="http://schemas.openxmlformats.org/officeDocument/2006/relationships/image" Target="../media/image60.png"/><Relationship Id="rId5" Type="http://schemas.openxmlformats.org/officeDocument/2006/relationships/image" Target="../media/image31.png"/><Relationship Id="rId15" Type="http://schemas.openxmlformats.org/officeDocument/2006/relationships/image" Target="../media/image300.png"/><Relationship Id="rId23" Type="http://schemas.openxmlformats.org/officeDocument/2006/relationships/image" Target="../media/image38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49.png"/><Relationship Id="rId10" Type="http://schemas.openxmlformats.org/officeDocument/2006/relationships/image" Target="../media/image210.png"/><Relationship Id="rId19" Type="http://schemas.openxmlformats.org/officeDocument/2006/relationships/image" Target="../media/image34.png"/><Relationship Id="rId31" Type="http://schemas.openxmlformats.org/officeDocument/2006/relationships/image" Target="../media/image47.png"/><Relationship Id="rId44" Type="http://schemas.openxmlformats.org/officeDocument/2006/relationships/image" Target="../media/image59.png"/><Relationship Id="rId4" Type="http://schemas.openxmlformats.org/officeDocument/2006/relationships/image" Target="../media/image211.png"/><Relationship Id="rId9" Type="http://schemas.openxmlformats.org/officeDocument/2006/relationships/image" Target="../media/image240.png"/><Relationship Id="rId14" Type="http://schemas.openxmlformats.org/officeDocument/2006/relationships/image" Target="../media/image290.png"/><Relationship Id="rId22" Type="http://schemas.openxmlformats.org/officeDocument/2006/relationships/image" Target="../media/image37.png"/><Relationship Id="rId27" Type="http://schemas.openxmlformats.org/officeDocument/2006/relationships/image" Target="../media/image230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43" Type="http://schemas.microsoft.com/office/2007/relationships/hdphoto" Target="../media/hdphoto4.wdp"/><Relationship Id="rId48" Type="http://schemas.openxmlformats.org/officeDocument/2006/relationships/image" Target="../media/image63.png"/><Relationship Id="rId8" Type="http://schemas.openxmlformats.org/officeDocument/2006/relationships/image" Target="../media/image200.png"/><Relationship Id="rId3" Type="http://schemas.openxmlformats.org/officeDocument/2006/relationships/image" Target="../media/image201.png"/><Relationship Id="rId12" Type="http://schemas.openxmlformats.org/officeDocument/2006/relationships/image" Target="../media/image270.png"/><Relationship Id="rId17" Type="http://schemas.openxmlformats.org/officeDocument/2006/relationships/image" Target="../media/image32.png"/><Relationship Id="rId25" Type="http://schemas.openxmlformats.org/officeDocument/2006/relationships/image" Target="../media/image41.png"/><Relationship Id="rId33" Type="http://schemas.openxmlformats.org/officeDocument/2006/relationships/image" Target="../media/image35.png"/><Relationship Id="rId38" Type="http://schemas.openxmlformats.org/officeDocument/2006/relationships/image" Target="../media/image43.png"/><Relationship Id="rId46" Type="http://schemas.openxmlformats.org/officeDocument/2006/relationships/image" Target="../media/image56.png"/><Relationship Id="rId20" Type="http://schemas.openxmlformats.org/officeDocument/2006/relationships/image" Target="../media/image250.png"/><Relationship Id="rId41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B3801-92E2-663F-8EA5-44C0E452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66ACEC-4711-A333-8210-175A5679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0</a:t>
            </a:fld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FF63D-6A77-3708-45FF-CF0EA4DA51D9}"/>
              </a:ext>
            </a:extLst>
          </p:cNvPr>
          <p:cNvSpPr txBox="1"/>
          <p:nvPr/>
        </p:nvSpPr>
        <p:spPr>
          <a:xfrm>
            <a:off x="567559" y="215212"/>
            <a:ext cx="10945209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Explaining Textual Entailment</a:t>
            </a:r>
          </a:p>
          <a:p>
            <a:pPr algn="ctr"/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with Lexical Entailments</a:t>
            </a:r>
          </a:p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Using LLMs to Supply Lexical Relations</a:t>
            </a:r>
          </a:p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for Formal Proofs</a:t>
            </a:r>
            <a:endParaRPr lang="es-ES" sz="4800" dirty="0">
              <a:solidFill>
                <a:srgbClr val="C00000"/>
              </a:solidFill>
            </a:endParaRPr>
          </a:p>
          <a:p>
            <a:pPr algn="ctr">
              <a:spcBef>
                <a:spcPts val="1800"/>
              </a:spcBef>
            </a:pPr>
            <a:r>
              <a:rPr lang="es-ES" sz="2400" b="1" dirty="0" err="1"/>
              <a:t>Jorryt</a:t>
            </a:r>
            <a:r>
              <a:rPr lang="es-ES" sz="2400" b="1" dirty="0"/>
              <a:t> de Jong, Stefan </a:t>
            </a:r>
            <a:r>
              <a:rPr lang="en-US" sz="2400" b="1" noProof="0" dirty="0"/>
              <a:t>Moraca, Ettore Cesari, Lasha Abzianidze</a:t>
            </a:r>
            <a:endParaRPr lang="es-ES" sz="2800" b="1" dirty="0"/>
          </a:p>
        </p:txBody>
      </p:sp>
      <p:pic>
        <p:nvPicPr>
          <p:cNvPr id="11" name="Picture 10" descr="Dutch Research Council - Wikipedia">
            <a:extLst>
              <a:ext uri="{FF2B5EF4-FFF2-40B4-BE49-F238E27FC236}">
                <a16:creationId xmlns:a16="http://schemas.microsoft.com/office/drawing/2014/main" id="{6FD134DF-DA6A-B264-E716-200B55CC5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371" y="5271184"/>
            <a:ext cx="720211" cy="11824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55C965-2E15-21D6-434B-FC0E1735B578}"/>
              </a:ext>
            </a:extLst>
          </p:cNvPr>
          <p:cNvSpPr txBox="1"/>
          <p:nvPr/>
        </p:nvSpPr>
        <p:spPr>
          <a:xfrm>
            <a:off x="9056732" y="5183928"/>
            <a:ext cx="2382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LID4096" sz="2000" b="1" dirty="0">
                <a:solidFill>
                  <a:srgbClr val="1F7A8F"/>
                </a:solidFill>
              </a:rPr>
              <a:t>Towards Explainable</a:t>
            </a:r>
            <a:endParaRPr lang="en-US" sz="2000" b="1" dirty="0">
              <a:solidFill>
                <a:srgbClr val="1F7A8F"/>
              </a:solidFill>
            </a:endParaRPr>
          </a:p>
          <a:p>
            <a:pPr algn="r"/>
            <a:r>
              <a:rPr lang="LID4096" sz="2000" b="1" dirty="0">
                <a:solidFill>
                  <a:srgbClr val="1F7A8F"/>
                </a:solidFill>
              </a:rPr>
              <a:t>Natural Language </a:t>
            </a:r>
            <a:endParaRPr lang="en-US" sz="2000" b="1" dirty="0">
              <a:solidFill>
                <a:srgbClr val="1F7A8F"/>
              </a:solidFill>
            </a:endParaRPr>
          </a:p>
          <a:p>
            <a:pPr algn="r"/>
            <a:r>
              <a:rPr lang="LID4096" sz="2000" b="1" dirty="0">
                <a:solidFill>
                  <a:srgbClr val="1F7A8F"/>
                </a:solidFill>
              </a:rPr>
              <a:t>Reasoning for </a:t>
            </a:r>
            <a:r>
              <a:rPr lang="en-US" sz="2000" b="1" dirty="0">
                <a:solidFill>
                  <a:srgbClr val="1F7A8F"/>
                </a:solidFill>
              </a:rPr>
              <a:t>AI</a:t>
            </a:r>
            <a:r>
              <a:rPr lang="en-US" sz="2000" dirty="0">
                <a:solidFill>
                  <a:srgbClr val="1F7A8F"/>
                </a:solidFill>
              </a:rPr>
              <a:t>:</a:t>
            </a:r>
          </a:p>
          <a:p>
            <a:pPr algn="r"/>
            <a:r>
              <a:rPr lang="LID4096" sz="2000" dirty="0">
                <a:solidFill>
                  <a:srgbClr val="1F7A8F"/>
                </a:solidFill>
              </a:rPr>
              <a:t>project DXQIL95775</a:t>
            </a:r>
          </a:p>
        </p:txBody>
      </p:sp>
      <p:pic>
        <p:nvPicPr>
          <p:cNvPr id="17" name="Picture 16" descr="Universiteit Utrecht Logo png transparent">
            <a:extLst>
              <a:ext uri="{FF2B5EF4-FFF2-40B4-BE49-F238E27FC236}">
                <a16:creationId xmlns:a16="http://schemas.microsoft.com/office/drawing/2014/main" id="{C081B6BC-8732-FD3E-8BD7-512687F8DA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55" t="37124" r="68924" b="36165"/>
          <a:stretch>
            <a:fillRect/>
          </a:stretch>
        </p:blipFill>
        <p:spPr>
          <a:xfrm>
            <a:off x="29394" y="5440101"/>
            <a:ext cx="1174397" cy="9980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406C742-C769-AA61-E754-EEC1A230C06F}"/>
              </a:ext>
            </a:extLst>
          </p:cNvPr>
          <p:cNvSpPr txBox="1"/>
          <p:nvPr/>
        </p:nvSpPr>
        <p:spPr>
          <a:xfrm>
            <a:off x="1066897" y="5357696"/>
            <a:ext cx="25393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Institute for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Language Sciences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Utrecht University</a:t>
            </a:r>
            <a:endParaRPr lang="LID4096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3FB031-8BD0-D4F2-9720-C8DEF6F19534}"/>
              </a:ext>
            </a:extLst>
          </p:cNvPr>
          <p:cNvSpPr txBox="1"/>
          <p:nvPr/>
        </p:nvSpPr>
        <p:spPr>
          <a:xfrm>
            <a:off x="4570205" y="5543460"/>
            <a:ext cx="32518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/>
              <a:t>AKBC@EMNLP</a:t>
            </a:r>
          </a:p>
          <a:p>
            <a:pPr algn="ctr"/>
            <a:r>
              <a:rPr lang="nl-NL" sz="2800" dirty="0" err="1"/>
              <a:t>October</a:t>
            </a:r>
            <a:r>
              <a:rPr lang="nl-NL" sz="2800" dirty="0"/>
              <a:t> 28, 2026</a:t>
            </a:r>
            <a:endParaRPr lang="LID4096" sz="2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FE12A88-8459-3ADB-0BF2-C77F59BD3B4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524" y="4191185"/>
            <a:ext cx="1080000" cy="108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D3EDB5-A29E-0D5E-B528-2F3492C9F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8052" y="4191185"/>
            <a:ext cx="1080000" cy="108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1E9331-FC42-8D07-9543-A97708578D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9557" y="4191185"/>
            <a:ext cx="1080000" cy="108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Picture 32" hidden="1">
            <a:extLst>
              <a:ext uri="{FF2B5EF4-FFF2-40B4-BE49-F238E27FC236}">
                <a16:creationId xmlns:a16="http://schemas.microsoft.com/office/drawing/2014/main" id="{6DF31A63-847E-FDFA-1365-5AC8414C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2495" y="4266400"/>
            <a:ext cx="1080000" cy="108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167CB51-7551-6B84-4E29-E2BA3284C0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2064" y="4191185"/>
            <a:ext cx="1080000" cy="1080000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0297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F756575-90CB-439D-C4AF-CB1F7BA23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573" y="3886206"/>
            <a:ext cx="3122428" cy="26020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891196D-B801-E939-C9A5-8645E6E8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 &amp; explanation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3F1F364-CD48-7CC3-6EF9-1E6B7ABEE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62743"/>
                <a:ext cx="11248698" cy="49142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“Reasoning” is a very popular and over-used keyword in NLP: </a:t>
                </a:r>
              </a:p>
              <a:p>
                <a:pPr marL="0" indent="0">
                  <a:buNone/>
                </a:pPr>
                <a:endParaRPr lang="en-US" sz="6000" dirty="0"/>
              </a:p>
              <a:p>
                <a:pPr marL="0" indent="0">
                  <a:buNone/>
                </a:pPr>
                <a:endParaRPr lang="en-US" sz="6000" dirty="0"/>
              </a:p>
              <a:p>
                <a:pPr marL="0" indent="0">
                  <a:buNone/>
                </a:pPr>
                <a:r>
                  <a:rPr lang="en-US" dirty="0"/>
                  <a:t>Natural Language Inference (NLI) is a three-way classification task:</a:t>
                </a:r>
              </a:p>
              <a:p>
                <a:pPr marL="0" indent="0">
                  <a:buNone/>
                </a:pPr>
                <a:r>
                  <a:rPr lang="en-US" dirty="0"/>
                  <a:t>	label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reasoning</a:t>
                </a:r>
              </a:p>
              <a:p>
                <a:pPr marL="0" indent="0">
                  <a:spcBef>
                    <a:spcPts val="3000"/>
                  </a:spcBef>
                  <a:buNone/>
                </a:pPr>
                <a:r>
                  <a:rPr lang="" dirty="0"/>
                  <a:t>(Faithful) explanation is an interpretable manifestation of</a:t>
                </a:r>
              </a:p>
              <a:p>
                <a:pPr marL="0" indent="0">
                  <a:buNone/>
                </a:pPr>
                <a:r>
                  <a:rPr lang="en-US" dirty="0"/>
                  <a:t>	explanation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reasoning</a:t>
                </a:r>
                <a:endParaRPr lang="en-US" b="1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3F1F364-CD48-7CC3-6EF9-1E6B7ABEE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62743"/>
                <a:ext cx="11248698" cy="4914220"/>
              </a:xfrm>
              <a:blipFill>
                <a:blip r:embed="rId4"/>
                <a:stretch>
                  <a:fillRect l="-1083" t="-1985" b="-124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22948-8850-0594-8F3D-DB631679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5B73D-7A09-5E54-3DC2-4D104FF2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5A719-8935-AE1C-B884-25CE8681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1</a:t>
            </a:fld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F8255-46BA-7BC6-1B6C-8F15FEDA3583}"/>
              </a:ext>
            </a:extLst>
          </p:cNvPr>
          <p:cNvSpPr txBox="1"/>
          <p:nvPr/>
        </p:nvSpPr>
        <p:spPr>
          <a:xfrm rot="16200000">
            <a:off x="781226" y="2316979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EMNLP 2026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&amp; co-events</a:t>
            </a:r>
            <a:endParaRPr lang="LID4096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02358-3719-E050-3897-D442F6ED4876}"/>
              </a:ext>
            </a:extLst>
          </p:cNvPr>
          <p:cNvSpPr txBox="1"/>
          <p:nvPr/>
        </p:nvSpPr>
        <p:spPr>
          <a:xfrm rot="16200000">
            <a:off x="5831801" y="2316979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EMNLP 2021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&amp; co-events</a:t>
            </a:r>
            <a:endParaRPr lang="LID4096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4CE5BA9-A18E-8961-8F35-B78B1748E250}"/>
              </a:ext>
            </a:extLst>
          </p:cNvPr>
          <p:cNvGrpSpPr/>
          <p:nvPr/>
        </p:nvGrpSpPr>
        <p:grpSpPr>
          <a:xfrm>
            <a:off x="1793197" y="1974257"/>
            <a:ext cx="3860055" cy="1362553"/>
            <a:chOff x="2602493" y="1869151"/>
            <a:chExt cx="3860055" cy="136255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056137E-618A-0F51-6A5D-CD70217FE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65090" y="1869151"/>
              <a:ext cx="3197458" cy="136255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EEABA7-B4E0-84B0-8D1C-04622DE47F14}"/>
                </a:ext>
              </a:extLst>
            </p:cNvPr>
            <p:cNvSpPr txBox="1"/>
            <p:nvPr/>
          </p:nvSpPr>
          <p:spPr>
            <a:xfrm>
              <a:off x="2602493" y="2933684"/>
              <a:ext cx="120565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#5 reasoning</a:t>
              </a:r>
              <a:endParaRPr lang="LID4096" dirty="0">
                <a:solidFill>
                  <a:srgbClr val="C00000"/>
                </a:solidFill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9C67116-A411-58B7-2EC8-D048B1F8F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851" y="1974256"/>
            <a:ext cx="2479314" cy="13625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7433A9-F216-0D82-4648-0981ADEFA996}"/>
              </a:ext>
            </a:extLst>
          </p:cNvPr>
          <p:cNvSpPr txBox="1"/>
          <p:nvPr/>
        </p:nvSpPr>
        <p:spPr>
          <a:xfrm>
            <a:off x="7154049" y="3095073"/>
            <a:ext cx="65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endParaRPr lang="LID4096" dirty="0">
              <a:solidFill>
                <a:srgbClr val="C00000"/>
              </a:solidFill>
            </a:endParaRP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5719A311-F8F0-56BD-2534-B77320D4D176}"/>
              </a:ext>
            </a:extLst>
          </p:cNvPr>
          <p:cNvSpPr/>
          <p:nvPr/>
        </p:nvSpPr>
        <p:spPr>
          <a:xfrm>
            <a:off x="9234467" y="2842583"/>
            <a:ext cx="2613448" cy="470530"/>
          </a:xfrm>
          <a:prstGeom prst="wedgeRoundRectCallout">
            <a:avLst>
              <a:gd name="adj1" fmla="val -79147"/>
              <a:gd name="adj2" fmla="val 69201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#64 reasoning (0.29%)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8AA032-89D5-3E55-D94F-DC2B1C54ED0F}"/>
              </a:ext>
            </a:extLst>
          </p:cNvPr>
          <p:cNvSpPr txBox="1"/>
          <p:nvPr/>
        </p:nvSpPr>
        <p:spPr>
          <a:xfrm>
            <a:off x="9165270" y="5000490"/>
            <a:ext cx="1645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reasoning</a:t>
            </a:r>
            <a:endParaRPr lang="LID4096" sz="2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F5DE38-22DA-69C7-99EB-5136345E321A}"/>
              </a:ext>
            </a:extLst>
          </p:cNvPr>
          <p:cNvSpPr txBox="1"/>
          <p:nvPr/>
        </p:nvSpPr>
        <p:spPr>
          <a:xfrm>
            <a:off x="10247374" y="4207094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label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13625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2" grpId="0"/>
      <p:bldP spid="16" grpId="0"/>
      <p:bldP spid="22" grpId="0" animBg="1"/>
      <p:bldP spid="2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D8E0-7FB7-648F-15EF-74033A94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E9C1-FC50-DFC0-F69C-CA289B3C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Variation: label &amp; explanation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8D53F-0D15-0317-2839-B4A865641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742"/>
            <a:ext cx="10515600" cy="10546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Human Label Variation is a hot topic</a:t>
            </a:r>
          </a:p>
          <a:p>
            <a:pPr marL="0" indent="0">
              <a:buNone/>
            </a:pPr>
            <a:r>
              <a:rPr lang="en-US" dirty="0"/>
              <a:t>Label variation is more discussed than explanation variation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DAA74-6FF1-B6D8-2265-EC158010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60B8D-121C-391C-5E9F-E308DAB5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EEF3-EAC5-703C-2E29-ED565695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2</a:t>
            </a:fld>
            <a:endParaRPr lang="nl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1328F6-B46D-90C6-AF39-728F2BBAA3F6}"/>
              </a:ext>
            </a:extLst>
          </p:cNvPr>
          <p:cNvSpPr txBox="1"/>
          <p:nvPr/>
        </p:nvSpPr>
        <p:spPr>
          <a:xfrm>
            <a:off x="838200" y="2394858"/>
            <a:ext cx="2583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sng" noProof="0" dirty="0">
                <a:solidFill>
                  <a:srgbClr val="C00000"/>
                </a:solidFill>
                <a:effectLst/>
                <a:latin typeface="Arial-BoldMT"/>
              </a:rPr>
              <a:t>P</a:t>
            </a:r>
            <a:r>
              <a:rPr lang="en-US" sz="2400" i="0" u="sng" noProof="0" dirty="0">
                <a:solidFill>
                  <a:srgbClr val="C00000"/>
                </a:solidFill>
                <a:effectLst/>
                <a:latin typeface="Arial-BoldMT"/>
              </a:rPr>
              <a:t>remise</a:t>
            </a:r>
            <a:endParaRPr lang="en-US" sz="1600" u="sng" noProof="0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38E6A4-1BDC-5179-DC82-C0194538B692}"/>
              </a:ext>
            </a:extLst>
          </p:cNvPr>
          <p:cNvSpPr txBox="1"/>
          <p:nvPr/>
        </p:nvSpPr>
        <p:spPr>
          <a:xfrm>
            <a:off x="6889816" y="2394858"/>
            <a:ext cx="19659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sng" noProof="0" dirty="0">
                <a:solidFill>
                  <a:srgbClr val="C00000"/>
                </a:solidFill>
                <a:effectLst/>
                <a:latin typeface="Arial-BoldMT"/>
              </a:rPr>
              <a:t>H</a:t>
            </a:r>
            <a:r>
              <a:rPr lang="en-US" sz="2400" i="0" u="sng" noProof="0" dirty="0">
                <a:solidFill>
                  <a:srgbClr val="C00000"/>
                </a:solidFill>
                <a:effectLst/>
                <a:latin typeface="Arial-BoldMT"/>
              </a:rPr>
              <a:t>ypothesis</a:t>
            </a:r>
            <a:endParaRPr lang="en-US" sz="1600" u="sng" noProof="0" dirty="0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80F799-095B-444B-EAA1-2DA5D88D0A1A}"/>
              </a:ext>
            </a:extLst>
          </p:cNvPr>
          <p:cNvSpPr txBox="1"/>
          <p:nvPr/>
        </p:nvSpPr>
        <p:spPr>
          <a:xfrm>
            <a:off x="838200" y="2736411"/>
            <a:ext cx="6021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noProof="0" dirty="0">
                <a:solidFill>
                  <a:schemeClr val="accent6">
                    <a:lumMod val="75000"/>
                  </a:schemeClr>
                </a:solidFill>
                <a:latin typeface="Arial-BoldMT"/>
              </a:rPr>
              <a:t>The dog is standing in front of a </a:t>
            </a:r>
            <a:r>
              <a:rPr lang="en-US" sz="2400" b="1" noProof="0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bike</a:t>
            </a:r>
            <a:endParaRPr lang="en-US" sz="2400" b="1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50D747-426F-91F2-2912-3AA119995669}"/>
              </a:ext>
            </a:extLst>
          </p:cNvPr>
          <p:cNvSpPr txBox="1"/>
          <p:nvPr/>
        </p:nvSpPr>
        <p:spPr>
          <a:xfrm>
            <a:off x="6289949" y="2736411"/>
            <a:ext cx="51529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6">
                    <a:lumMod val="75000"/>
                  </a:schemeClr>
                </a:solidFill>
                <a:latin typeface="Arial-BoldMT"/>
              </a:rPr>
              <a:t>The dog is in front of a </a:t>
            </a:r>
            <a:r>
              <a:rPr lang="en-US" sz="2400" b="1" noProof="0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bicycle</a:t>
            </a:r>
            <a:endParaRPr lang="en-US" sz="2400" b="1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2BDB17-843D-095F-1717-E78111D69DE9}"/>
              </a:ext>
            </a:extLst>
          </p:cNvPr>
          <p:cNvSpPr txBox="1"/>
          <p:nvPr/>
        </p:nvSpPr>
        <p:spPr>
          <a:xfrm>
            <a:off x="3785388" y="2989779"/>
            <a:ext cx="3052765" cy="25439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nl-NL"/>
            </a:defPPr>
            <a:lvl1pPr>
              <a:defRPr sz="2800">
                <a:solidFill>
                  <a:srgbClr val="000000"/>
                </a:solidFill>
                <a:latin typeface="Arial-BoldMT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en-US" b="1" noProof="0" dirty="0">
                <a:solidFill>
                  <a:srgbClr val="00B050"/>
                </a:solidFill>
              </a:rPr>
              <a:t>Entailment</a:t>
            </a:r>
          </a:p>
          <a:p>
            <a:pPr algn="ctr">
              <a:lnSpc>
                <a:spcPct val="200000"/>
              </a:lnSpc>
            </a:pPr>
            <a:r>
              <a:rPr lang="en-US" b="1" noProof="0" dirty="0">
                <a:solidFill>
                  <a:srgbClr val="C00000"/>
                </a:solidFill>
              </a:rPr>
              <a:t>Contradiction</a:t>
            </a:r>
          </a:p>
          <a:p>
            <a:pPr algn="ctr">
              <a:lnSpc>
                <a:spcPct val="200000"/>
              </a:lnSpc>
            </a:pPr>
            <a:r>
              <a:rPr lang="en-US" b="1" noProof="0" dirty="0">
                <a:solidFill>
                  <a:srgbClr val="0070C0"/>
                </a:solidFill>
              </a:rPr>
              <a:t>Neutral</a:t>
            </a:r>
            <a:r>
              <a:rPr lang="en-US" noProof="0" dirty="0"/>
              <a:t> </a:t>
            </a:r>
          </a:p>
        </p:txBody>
      </p:sp>
      <p:sp>
        <p:nvSpPr>
          <p:cNvPr id="42" name="Speech Bubble: Rectangle with Corners Rounded 41">
            <a:extLst>
              <a:ext uri="{FF2B5EF4-FFF2-40B4-BE49-F238E27FC236}">
                <a16:creationId xmlns:a16="http://schemas.microsoft.com/office/drawing/2014/main" id="{6821A4A9-92FA-A092-95F4-209EA346CD82}"/>
              </a:ext>
            </a:extLst>
          </p:cNvPr>
          <p:cNvSpPr/>
          <p:nvPr/>
        </p:nvSpPr>
        <p:spPr>
          <a:xfrm>
            <a:off x="1082624" y="3315190"/>
            <a:ext cx="2925250" cy="413129"/>
          </a:xfrm>
          <a:prstGeom prst="wedgeRoundRectCallout">
            <a:avLst>
              <a:gd name="adj1" fmla="val 59606"/>
              <a:gd name="adj2" fmla="val -7406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  <a:latin typeface="Comic Sans MS" panose="030F0702030302020204" pitchFamily="66" charset="0"/>
              </a:rPr>
              <a:t>A bike means a bicycle </a:t>
            </a:r>
          </a:p>
        </p:txBody>
      </p:sp>
      <p:sp>
        <p:nvSpPr>
          <p:cNvPr id="43" name="Speech Bubble: Rectangle with Corners Rounded 42">
            <a:extLst>
              <a:ext uri="{FF2B5EF4-FFF2-40B4-BE49-F238E27FC236}">
                <a16:creationId xmlns:a16="http://schemas.microsoft.com/office/drawing/2014/main" id="{6961E976-6BA3-B5E1-D219-8D50B040FC84}"/>
              </a:ext>
            </a:extLst>
          </p:cNvPr>
          <p:cNvSpPr/>
          <p:nvPr/>
        </p:nvSpPr>
        <p:spPr>
          <a:xfrm>
            <a:off x="1080954" y="3956785"/>
            <a:ext cx="2853277" cy="616440"/>
          </a:xfrm>
          <a:prstGeom prst="wedgeRoundRectCallout">
            <a:avLst>
              <a:gd name="adj1" fmla="val 56807"/>
              <a:gd name="adj2" fmla="val 1882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  <a:latin typeface="Comic Sans MS" panose="030F0702030302020204" pitchFamily="66" charset="0"/>
              </a:rPr>
              <a:t>A bike has a motor and a bicycle doesn’t</a:t>
            </a:r>
          </a:p>
        </p:txBody>
      </p:sp>
      <p:sp>
        <p:nvSpPr>
          <p:cNvPr id="44" name="Speech Bubble: Rectangle with Corners Rounded 43">
            <a:extLst>
              <a:ext uri="{FF2B5EF4-FFF2-40B4-BE49-F238E27FC236}">
                <a16:creationId xmlns:a16="http://schemas.microsoft.com/office/drawing/2014/main" id="{FF2902FB-5E91-58E5-594A-1662E5EDFA06}"/>
              </a:ext>
            </a:extLst>
          </p:cNvPr>
          <p:cNvSpPr/>
          <p:nvPr/>
        </p:nvSpPr>
        <p:spPr>
          <a:xfrm>
            <a:off x="1080954" y="4805176"/>
            <a:ext cx="3096031" cy="621010"/>
          </a:xfrm>
          <a:prstGeom prst="wedgeRoundRectCallout">
            <a:avLst>
              <a:gd name="adj1" fmla="val 63568"/>
              <a:gd name="adj2" fmla="val 1583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  <a:latin typeface="Comic Sans MS" panose="030F0702030302020204" pitchFamily="66" charset="0"/>
              </a:rPr>
              <a:t>A bike can be a bicycle but also a motorbike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816D69F-0AA9-9B9B-5A24-9E26D21C77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64" b="5398"/>
          <a:stretch>
            <a:fillRect/>
          </a:stretch>
        </p:blipFill>
        <p:spPr>
          <a:xfrm>
            <a:off x="9650916" y="3198076"/>
            <a:ext cx="2448954" cy="216582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B06843C-D28C-FD85-C656-69416B7E4E7E}"/>
              </a:ext>
            </a:extLst>
          </p:cNvPr>
          <p:cNvSpPr txBox="1"/>
          <p:nvPr/>
        </p:nvSpPr>
        <p:spPr>
          <a:xfrm>
            <a:off x="858876" y="5732486"/>
            <a:ext cx="106745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2800" dirty="0"/>
              <a:t>Label variation alone, without explanations, is of limited use.</a:t>
            </a:r>
            <a:endParaRPr lang="en-US" sz="2800" dirty="0"/>
          </a:p>
        </p:txBody>
      </p:sp>
      <p:sp>
        <p:nvSpPr>
          <p:cNvPr id="45" name="Speech Bubble: Rectangle with Corners Rounded 44">
            <a:extLst>
              <a:ext uri="{FF2B5EF4-FFF2-40B4-BE49-F238E27FC236}">
                <a16:creationId xmlns:a16="http://schemas.microsoft.com/office/drawing/2014/main" id="{968C889F-3758-75F3-3042-23317B0D18B7}"/>
              </a:ext>
            </a:extLst>
          </p:cNvPr>
          <p:cNvSpPr/>
          <p:nvPr/>
        </p:nvSpPr>
        <p:spPr>
          <a:xfrm>
            <a:off x="6355023" y="4820064"/>
            <a:ext cx="3096031" cy="706773"/>
          </a:xfrm>
          <a:prstGeom prst="wedgeRoundRectCallout">
            <a:avLst>
              <a:gd name="adj1" fmla="val -61071"/>
              <a:gd name="adj2" fmla="val 17823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Maybe the dog also stands in front of a bicycle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0377811-BA93-3242-8D8D-2B2338AA4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604" y="320121"/>
            <a:ext cx="2810540" cy="140527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C5C9B84-60C2-FC5A-E927-30869843F728}"/>
              </a:ext>
            </a:extLst>
          </p:cNvPr>
          <p:cNvSpPr txBox="1"/>
          <p:nvPr/>
        </p:nvSpPr>
        <p:spPr>
          <a:xfrm>
            <a:off x="6147687" y="1274792"/>
            <a:ext cx="1725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(Plank+, 2014)</a:t>
            </a:r>
            <a:endParaRPr lang="LID4096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79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 animBg="1"/>
      <p:bldP spid="43" grpId="0" animBg="1"/>
      <p:bldP spid="44" grpId="0" animBg="1"/>
      <p:bldP spid="48" grpId="0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35EB-2C1F-0C70-5216-90DD6D42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explanations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67A3B-C64E-B939-C33C-3457C2F5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B91-F126-A05C-E950-BCD80498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89E8-9E96-F1CD-C30B-AC82248A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3</a:t>
            </a:fld>
            <a:endParaRPr lang="nl-NL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97B888-9938-4FC3-75A5-5B8D33B47A6D}"/>
              </a:ext>
            </a:extLst>
          </p:cNvPr>
          <p:cNvGrpSpPr/>
          <p:nvPr/>
        </p:nvGrpSpPr>
        <p:grpSpPr>
          <a:xfrm>
            <a:off x="7389873" y="4213706"/>
            <a:ext cx="4104824" cy="1129493"/>
            <a:chOff x="1208700" y="1081525"/>
            <a:chExt cx="4104824" cy="112949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269203D-5401-24FB-8807-6218C4277A1D}"/>
                </a:ext>
              </a:extLst>
            </p:cNvPr>
            <p:cNvSpPr/>
            <p:nvPr/>
          </p:nvSpPr>
          <p:spPr>
            <a:xfrm>
              <a:off x="2900084" y="1170494"/>
              <a:ext cx="2413440" cy="1040524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GSM8K</a:t>
              </a:r>
            </a:p>
            <a:p>
              <a:pPr algn="ctr"/>
              <a:r>
                <a:rPr lang="en-US" sz="3200" i="1" dirty="0">
                  <a:solidFill>
                    <a:schemeClr val="tx1"/>
                  </a:solidFill>
                </a:rPr>
                <a:t>22 = (25-2)-1</a:t>
              </a:r>
              <a:endParaRPr lang="LID4096" sz="32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0A0161A-6AA6-AFED-61C8-8795FBFF4442}"/>
                </a:ext>
              </a:extLst>
            </p:cNvPr>
            <p:cNvSpPr/>
            <p:nvPr/>
          </p:nvSpPr>
          <p:spPr>
            <a:xfrm>
              <a:off x="1208700" y="1081525"/>
              <a:ext cx="2134792" cy="520262"/>
            </a:xfrm>
            <a:prstGeom prst="round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Answer=22</a:t>
              </a:r>
              <a:endParaRPr lang="LID4096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DCF1657-94EF-15BB-6181-BA9D8D1012AA}"/>
              </a:ext>
            </a:extLst>
          </p:cNvPr>
          <p:cNvSpPr txBox="1"/>
          <p:nvPr/>
        </p:nvSpPr>
        <p:spPr>
          <a:xfrm>
            <a:off x="570180" y="543562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No reliable automated method for comparing free-text explanations</a:t>
            </a:r>
            <a:endParaRPr lang="LID4096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FD069A-546D-90DA-C586-978694961968}"/>
              </a:ext>
            </a:extLst>
          </p:cNvPr>
          <p:cNvSpPr txBox="1"/>
          <p:nvPr/>
        </p:nvSpPr>
        <p:spPr>
          <a:xfrm>
            <a:off x="8000062" y="5410852"/>
            <a:ext cx="33422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Specific domain with a huge answer space</a:t>
            </a:r>
            <a:endParaRPr lang="LID4096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3303D5-1BCE-7E5B-0E17-06EE327E91C0}"/>
              </a:ext>
            </a:extLst>
          </p:cNvPr>
          <p:cNvSpPr txBox="1"/>
          <p:nvPr/>
        </p:nvSpPr>
        <p:spPr>
          <a:xfrm>
            <a:off x="5957774" y="2483504"/>
            <a:ext cx="1744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Dalvi+ (2021)</a:t>
            </a:r>
            <a:endParaRPr lang="LID4096" sz="1400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01E22B-AEF5-AB47-63EF-2D70EC13405E}"/>
              </a:ext>
            </a:extLst>
          </p:cNvPr>
          <p:cNvSpPr txBox="1"/>
          <p:nvPr/>
        </p:nvSpPr>
        <p:spPr>
          <a:xfrm>
            <a:off x="859464" y="1259412"/>
            <a:ext cx="1012396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Structured explanations are not applied to the existing NLI datasets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Instead, new synthetic reasoning datasets are created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D45AF28B-3F10-522A-7947-50B7FACF6762}"/>
              </a:ext>
            </a:extLst>
          </p:cNvPr>
          <p:cNvSpPr/>
          <p:nvPr/>
        </p:nvSpPr>
        <p:spPr>
          <a:xfrm>
            <a:off x="838200" y="2841593"/>
            <a:ext cx="2755606" cy="813854"/>
          </a:xfrm>
          <a:prstGeom prst="wedgeRoundRectCallout">
            <a:avLst>
              <a:gd name="adj1" fmla="val 75226"/>
              <a:gd name="adj2" fmla="val 26136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Only inter-sentence relations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AF656-E3F4-A8B7-0D11-62D80EC239C7}"/>
              </a:ext>
            </a:extLst>
          </p:cNvPr>
          <p:cNvSpPr txBox="1"/>
          <p:nvPr/>
        </p:nvSpPr>
        <p:spPr>
          <a:xfrm>
            <a:off x="4154956" y="2498141"/>
            <a:ext cx="1941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Entailment trees</a:t>
            </a:r>
            <a:endParaRPr lang="LID4096" sz="20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C00FCC-A68E-C6EC-65EA-508F6925D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903" y="2936772"/>
            <a:ext cx="3026131" cy="25630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74D1E27-E724-9E8C-9F42-3F0974BDDCA8}"/>
              </a:ext>
            </a:extLst>
          </p:cNvPr>
          <p:cNvGrpSpPr/>
          <p:nvPr/>
        </p:nvGrpSpPr>
        <p:grpSpPr>
          <a:xfrm>
            <a:off x="509220" y="3952959"/>
            <a:ext cx="3584776" cy="1491840"/>
            <a:chOff x="509220" y="3952959"/>
            <a:chExt cx="3584776" cy="149184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3868ECD-2E15-565E-0F75-98EAF8B2202E}"/>
                </a:ext>
              </a:extLst>
            </p:cNvPr>
            <p:cNvSpPr/>
            <p:nvPr/>
          </p:nvSpPr>
          <p:spPr>
            <a:xfrm>
              <a:off x="1680556" y="4404275"/>
              <a:ext cx="2413440" cy="104052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Free-text explanations</a:t>
              </a:r>
              <a:endParaRPr lang="LID4096" sz="32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DD3B0D5-98D7-D5B9-83F2-FD8151C56689}"/>
                </a:ext>
              </a:extLst>
            </p:cNvPr>
            <p:cNvSpPr/>
            <p:nvPr/>
          </p:nvSpPr>
          <p:spPr>
            <a:xfrm>
              <a:off x="1383448" y="4010986"/>
              <a:ext cx="2413440" cy="104052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Free-text explanations</a:t>
              </a:r>
              <a:endParaRPr lang="LID4096" sz="32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EEDC9FF-FB60-F9C2-D28E-8E30F806F456}"/>
                </a:ext>
              </a:extLst>
            </p:cNvPr>
            <p:cNvSpPr/>
            <p:nvPr/>
          </p:nvSpPr>
          <p:spPr>
            <a:xfrm>
              <a:off x="509220" y="3952959"/>
              <a:ext cx="1203432" cy="52026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Label</a:t>
              </a:r>
              <a:endParaRPr lang="LID4096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6E86E8D-D63C-26EC-965C-85F70B6F41FA}"/>
              </a:ext>
            </a:extLst>
          </p:cNvPr>
          <p:cNvSpPr txBox="1"/>
          <p:nvPr/>
        </p:nvSpPr>
        <p:spPr>
          <a:xfrm>
            <a:off x="-69177" y="5018751"/>
            <a:ext cx="21347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Camburu+(2018)</a:t>
            </a:r>
            <a:endParaRPr lang="LID4096" sz="1400" dirty="0">
              <a:solidFill>
                <a:srgbClr val="0070C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FA138-7F6F-428C-224C-132FBB06A984}"/>
              </a:ext>
            </a:extLst>
          </p:cNvPr>
          <p:cNvSpPr txBox="1"/>
          <p:nvPr/>
        </p:nvSpPr>
        <p:spPr>
          <a:xfrm>
            <a:off x="-11636" y="4704725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e-SNLI</a:t>
            </a:r>
            <a:endParaRPr lang="LID4096" sz="2000" b="1" dirty="0"/>
          </a:p>
        </p:txBody>
      </p:sp>
    </p:spTree>
    <p:extLst>
      <p:ext uri="{BB962C8B-B14F-4D97-AF65-F5344CB8AC3E}">
        <p14:creationId xmlns:p14="http://schemas.microsoft.com/office/powerpoint/2010/main" val="299022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27" grpId="0"/>
      <p:bldP spid="31" grpId="0"/>
      <p:bldP spid="3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0D8DF-8FFD-937B-16BC-0C853A22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contributions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881A-05C0-32D0-0A2C-EDFD6F156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743"/>
            <a:ext cx="6635201" cy="4914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Novel task of explainable NLI, called </a:t>
            </a:r>
            <a:r>
              <a:rPr lang="en-US" b="1" dirty="0"/>
              <a:t>LEX-NLI</a:t>
            </a:r>
          </a:p>
          <a:p>
            <a:r>
              <a:rPr lang="en-US" dirty="0"/>
              <a:t>adding structured </a:t>
            </a:r>
            <a:r>
              <a:rPr lang="en-US" dirty="0" err="1"/>
              <a:t>expl</a:t>
            </a:r>
            <a:r>
              <a:rPr lang="en-US" dirty="0"/>
              <a:t>. to </a:t>
            </a:r>
            <a:r>
              <a:rPr lang="en-US" dirty="0" err="1"/>
              <a:t>ent</a:t>
            </a:r>
            <a:r>
              <a:rPr lang="en-US" dirty="0"/>
              <a:t>. problems</a:t>
            </a:r>
          </a:p>
          <a:p>
            <a:r>
              <a:rPr lang="en-US" dirty="0"/>
              <a:t>restricted explanations to lexical relations  </a:t>
            </a:r>
          </a:p>
          <a:p>
            <a:pPr marL="0" indent="0">
              <a:spcBef>
                <a:spcPts val="4200"/>
              </a:spcBef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Intrinsic evaluation of LLMs on LEX-NLI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Predict label and a LEX set of relations</a:t>
            </a:r>
          </a:p>
          <a:p>
            <a:pPr marL="0" indent="0">
              <a:spcBef>
                <a:spcPts val="4200"/>
              </a:spcBef>
              <a:buNone/>
            </a:pPr>
            <a:r>
              <a:rPr lang="en-US" dirty="0">
                <a:solidFill>
                  <a:srgbClr val="C00000"/>
                </a:solidFill>
              </a:rPr>
              <a:t>Extrinsically evaluate LLM-generated LEX</a:t>
            </a:r>
          </a:p>
          <a:p>
            <a:r>
              <a:rPr lang="en-US" dirty="0" err="1">
                <a:solidFill>
                  <a:srgbClr val="C00000"/>
                </a:solidFill>
              </a:rPr>
              <a:t>Neurosymbolic</a:t>
            </a:r>
            <a:r>
              <a:rPr lang="en-US" dirty="0">
                <a:solidFill>
                  <a:srgbClr val="C00000"/>
                </a:solidFill>
              </a:rPr>
              <a:t> pipeline: LLM supplies KB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to a natural language reasoner</a:t>
            </a:r>
            <a:endParaRPr lang="LID4096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3D2BF-58BC-234B-11AE-914DFFD7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D1311-A911-57AB-6794-676E315E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19A48-F395-858C-C3C4-456AAF5B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4</a:t>
            </a:fld>
            <a:endParaRPr lang="nl-NL" dirty="0"/>
          </a:p>
        </p:txBody>
      </p:sp>
      <p:sp>
        <p:nvSpPr>
          <p:cNvPr id="224" name="Left Brace 223">
            <a:extLst>
              <a:ext uri="{FF2B5EF4-FFF2-40B4-BE49-F238E27FC236}">
                <a16:creationId xmlns:a16="http://schemas.microsoft.com/office/drawing/2014/main" id="{C1444F9C-D160-819A-FDB0-A33C176AC06E}"/>
              </a:ext>
            </a:extLst>
          </p:cNvPr>
          <p:cNvSpPr/>
          <p:nvPr/>
        </p:nvSpPr>
        <p:spPr>
          <a:xfrm rot="10800000">
            <a:off x="11658891" y="3259567"/>
            <a:ext cx="286118" cy="3188438"/>
          </a:xfrm>
          <a:prstGeom prst="leftBrace">
            <a:avLst>
              <a:gd name="adj1" fmla="val 50686"/>
              <a:gd name="adj2" fmla="val 53277"/>
            </a:avLst>
          </a:prstGeom>
          <a:noFill/>
          <a:ln w="23813">
            <a:solidFill>
              <a:srgbClr val="C00000"/>
            </a:solidFill>
          </a:ln>
        </p:spPr>
        <p:txBody>
          <a:bodyPr/>
          <a:lstStyle/>
          <a:p>
            <a:endParaRPr lang="nl-NL"/>
          </a:p>
        </p:txBody>
      </p:sp>
      <p:sp>
        <p:nvSpPr>
          <p:cNvPr id="226" name="Rectangle 18">
            <a:extLst>
              <a:ext uri="{FF2B5EF4-FFF2-40B4-BE49-F238E27FC236}">
                <a16:creationId xmlns:a16="http://schemas.microsoft.com/office/drawing/2014/main" id="{A53138C6-9EEC-7CB5-F53F-469742CB05ED}"/>
              </a:ext>
            </a:extLst>
          </p:cNvPr>
          <p:cNvSpPr txBox="1"/>
          <p:nvPr/>
        </p:nvSpPr>
        <p:spPr>
          <a:xfrm rot="5400000">
            <a:off x="10881403" y="4629949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>
            <a:defPPr>
              <a:defRPr lang="nl-NL"/>
            </a:defPPr>
            <a:lvl1pPr>
              <a:defRPr sz="1650" b="0">
                <a:solidFill>
                  <a:srgbClr val="172238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Extrinsic evaluation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228" name="Left Brace 227">
            <a:extLst>
              <a:ext uri="{FF2B5EF4-FFF2-40B4-BE49-F238E27FC236}">
                <a16:creationId xmlns:a16="http://schemas.microsoft.com/office/drawing/2014/main" id="{BD24B37D-163D-E79C-C5AC-A34A0050046E}"/>
              </a:ext>
            </a:extLst>
          </p:cNvPr>
          <p:cNvSpPr/>
          <p:nvPr/>
        </p:nvSpPr>
        <p:spPr>
          <a:xfrm>
            <a:off x="7677805" y="796062"/>
            <a:ext cx="308697" cy="3783330"/>
          </a:xfrm>
          <a:prstGeom prst="leftBrace">
            <a:avLst>
              <a:gd name="adj1" fmla="val 50686"/>
              <a:gd name="adj2" fmla="val 53277"/>
            </a:avLst>
          </a:prstGeom>
          <a:noFill/>
          <a:ln w="23813">
            <a:solidFill>
              <a:schemeClr val="accent5">
                <a:lumMod val="75000"/>
              </a:schemeClr>
            </a:solidFill>
          </a:ln>
        </p:spPr>
        <p:txBody>
          <a:bodyPr/>
          <a:lstStyle/>
          <a:p>
            <a:endParaRPr lang="nl-NL"/>
          </a:p>
        </p:txBody>
      </p:sp>
      <p:sp>
        <p:nvSpPr>
          <p:cNvPr id="230" name="Rectangle 18">
            <a:extLst>
              <a:ext uri="{FF2B5EF4-FFF2-40B4-BE49-F238E27FC236}">
                <a16:creationId xmlns:a16="http://schemas.microsoft.com/office/drawing/2014/main" id="{2F610C3E-80F4-6BE7-7E5B-91EA4DA3F1F7}"/>
              </a:ext>
            </a:extLst>
          </p:cNvPr>
          <p:cNvSpPr txBox="1"/>
          <p:nvPr/>
        </p:nvSpPr>
        <p:spPr>
          <a:xfrm rot="16200000">
            <a:off x="5920021" y="2611729"/>
            <a:ext cx="3265409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lang="nl-NL"/>
            </a:defPPr>
            <a:lvl1pPr>
              <a:defRPr sz="1650" b="0">
                <a:solidFill>
                  <a:srgbClr val="172238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Intrinsic evaluation LEX-NLI</a:t>
            </a:r>
            <a:endParaRPr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3B4545-D748-59A1-DD84-BB9A89225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172" y="4816022"/>
            <a:ext cx="3503719" cy="152030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33606BD-71FC-4C8C-015D-8FD9F9ACD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9" y="864806"/>
            <a:ext cx="3746703" cy="1124011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48CBA325-CB0B-C3A1-3812-DE915A8E55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24" t="26843" r="3464" b="26751"/>
          <a:stretch>
            <a:fillRect/>
          </a:stretch>
        </p:blipFill>
        <p:spPr>
          <a:xfrm>
            <a:off x="8067040" y="3228713"/>
            <a:ext cx="2094830" cy="710199"/>
          </a:xfrm>
          <a:custGeom>
            <a:avLst/>
            <a:gdLst>
              <a:gd name="csX0" fmla="*/ 0 w 2094830"/>
              <a:gd name="csY0" fmla="*/ 0 h 710199"/>
              <a:gd name="csX1" fmla="*/ 2094830 w 2094830"/>
              <a:gd name="csY1" fmla="*/ 0 h 710199"/>
              <a:gd name="csX2" fmla="*/ 2094830 w 2094830"/>
              <a:gd name="csY2" fmla="*/ 710199 h 710199"/>
              <a:gd name="csX3" fmla="*/ 0 w 2094830"/>
              <a:gd name="csY3" fmla="*/ 710199 h 710199"/>
              <a:gd name="csX4" fmla="*/ 0 w 2094830"/>
              <a:gd name="csY4" fmla="*/ 0 h 710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94830" h="710199">
                <a:moveTo>
                  <a:pt x="0" y="0"/>
                </a:moveTo>
                <a:lnTo>
                  <a:pt x="2094830" y="0"/>
                </a:lnTo>
                <a:lnTo>
                  <a:pt x="2094830" y="710199"/>
                </a:lnTo>
                <a:lnTo>
                  <a:pt x="0" y="71019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F5DA54BE-8982-23B4-A99B-7CA6EDDDCD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607" y="2817903"/>
            <a:ext cx="2237790" cy="1530417"/>
          </a:xfrm>
          <a:custGeom>
            <a:avLst/>
            <a:gdLst>
              <a:gd name="csX0" fmla="*/ 0 w 2237790"/>
              <a:gd name="csY0" fmla="*/ 0 h 1530417"/>
              <a:gd name="csX1" fmla="*/ 2237790 w 2237790"/>
              <a:gd name="csY1" fmla="*/ 0 h 1530417"/>
              <a:gd name="csX2" fmla="*/ 2237790 w 2237790"/>
              <a:gd name="csY2" fmla="*/ 1530417 h 1530417"/>
              <a:gd name="csX3" fmla="*/ 0 w 2237790"/>
              <a:gd name="csY3" fmla="*/ 1530417 h 1530417"/>
              <a:gd name="csX4" fmla="*/ 0 w 2237790"/>
              <a:gd name="csY4" fmla="*/ 0 h 1530417"/>
              <a:gd name="csX5" fmla="*/ 65433 w 2237790"/>
              <a:gd name="csY5" fmla="*/ 410810 h 1530417"/>
              <a:gd name="csX6" fmla="*/ 65433 w 2237790"/>
              <a:gd name="csY6" fmla="*/ 1121009 h 1530417"/>
              <a:gd name="csX7" fmla="*/ 2160263 w 2237790"/>
              <a:gd name="csY7" fmla="*/ 1121009 h 1530417"/>
              <a:gd name="csX8" fmla="*/ 2160263 w 2237790"/>
              <a:gd name="csY8" fmla="*/ 410810 h 1530417"/>
              <a:gd name="csX9" fmla="*/ 65433 w 2237790"/>
              <a:gd name="csY9" fmla="*/ 410810 h 1530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37790" h="1530417">
                <a:moveTo>
                  <a:pt x="0" y="0"/>
                </a:moveTo>
                <a:lnTo>
                  <a:pt x="2237790" y="0"/>
                </a:lnTo>
                <a:lnTo>
                  <a:pt x="2237790" y="1530417"/>
                </a:lnTo>
                <a:lnTo>
                  <a:pt x="0" y="1530417"/>
                </a:lnTo>
                <a:lnTo>
                  <a:pt x="0" y="0"/>
                </a:lnTo>
                <a:close/>
                <a:moveTo>
                  <a:pt x="65433" y="410810"/>
                </a:moveTo>
                <a:lnTo>
                  <a:pt x="65433" y="1121009"/>
                </a:lnTo>
                <a:lnTo>
                  <a:pt x="2160263" y="1121009"/>
                </a:lnTo>
                <a:lnTo>
                  <a:pt x="2160263" y="410810"/>
                </a:lnTo>
                <a:lnTo>
                  <a:pt x="65433" y="410810"/>
                </a:lnTo>
                <a:close/>
              </a:path>
            </a:pathLst>
          </a:custGeom>
        </p:spPr>
      </p:pic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5A8FA74-C1F0-8681-5285-CD338C6F777D}"/>
              </a:ext>
            </a:extLst>
          </p:cNvPr>
          <p:cNvGrpSpPr/>
          <p:nvPr/>
        </p:nvGrpSpPr>
        <p:grpSpPr>
          <a:xfrm>
            <a:off x="10305352" y="3228713"/>
            <a:ext cx="1210057" cy="597101"/>
            <a:chOff x="3902032" y="2801493"/>
            <a:chExt cx="1210057" cy="597101"/>
          </a:xfrm>
        </p:grpSpPr>
        <p:sp>
          <p:nvSpPr>
            <p:cNvPr id="138" name="Rectangle 11">
              <a:extLst>
                <a:ext uri="{FF2B5EF4-FFF2-40B4-BE49-F238E27FC236}">
                  <a16:creationId xmlns:a16="http://schemas.microsoft.com/office/drawing/2014/main" id="{9B7F9202-0867-8D85-AE05-FEFEA82BDF9E}"/>
                </a:ext>
              </a:extLst>
            </p:cNvPr>
            <p:cNvSpPr txBox="1"/>
            <p:nvPr/>
          </p:nvSpPr>
          <p:spPr>
            <a:xfrm>
              <a:off x="4223237" y="2801493"/>
              <a:ext cx="732303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rmAutofit/>
            </a:bodyPr>
            <a:lstStyle/>
            <a:p>
              <a:pPr algn="l">
                <a:defRPr sz="1650" b="1">
                  <a:solidFill>
                    <a:srgbClr val="256EAF"/>
                  </a:solidFill>
                  <a:latin typeface="Georgia"/>
                  <a:ea typeface="Georgia"/>
                  <a:cs typeface="Georgia"/>
                </a:defRPr>
              </a:pPr>
              <a:r>
                <a:rPr sz="1650" b="1" dirty="0">
                  <a:solidFill>
                    <a:srgbClr val="256EAF"/>
                  </a:solidFill>
                  <a:latin typeface="Georgia"/>
                  <a:ea typeface="Georgia"/>
                  <a:cs typeface="Georgia"/>
                </a:rPr>
                <a:t>Label</a:t>
              </a:r>
            </a:p>
          </p:txBody>
        </p: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551A2E11-6083-B407-48F0-6E793AAF1D22}"/>
                </a:ext>
              </a:extLst>
            </p:cNvPr>
            <p:cNvGrpSpPr/>
            <p:nvPr/>
          </p:nvGrpSpPr>
          <p:grpSpPr>
            <a:xfrm>
              <a:off x="3902032" y="3074744"/>
              <a:ext cx="1210057" cy="323850"/>
              <a:chOff x="10251758" y="2418207"/>
              <a:chExt cx="1210057" cy="323850"/>
            </a:xfrm>
          </p:grpSpPr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E95C62D3-6D94-034E-7825-6C62769CCCCE}"/>
                  </a:ext>
                </a:extLst>
              </p:cNvPr>
              <p:cNvSpPr/>
              <p:nvPr/>
            </p:nvSpPr>
            <p:spPr>
              <a:xfrm>
                <a:off x="10251758" y="2418207"/>
                <a:ext cx="1210057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1F1DE"/>
              </a:solidFill>
              <a:ln w="4763">
                <a:solidFill>
                  <a:srgbClr val="E1F1DE"/>
                </a:solidFill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41" name="Rectangle 12">
                <a:extLst>
                  <a:ext uri="{FF2B5EF4-FFF2-40B4-BE49-F238E27FC236}">
                    <a16:creationId xmlns:a16="http://schemas.microsoft.com/office/drawing/2014/main" id="{6ECBF17D-9341-2D87-AB8F-A27D64422C67}"/>
                  </a:ext>
                </a:extLst>
              </p:cNvPr>
              <p:cNvSpPr txBox="1"/>
              <p:nvPr/>
            </p:nvSpPr>
            <p:spPr>
              <a:xfrm>
                <a:off x="10281779" y="2427732"/>
                <a:ext cx="1180036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defRPr sz="1650" b="1">
                    <a:solidFill>
                      <a:srgbClr val="153F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650" b="1" dirty="0">
                    <a:solidFill>
                      <a:srgbClr val="153F27"/>
                    </a:solidFill>
                    <a:latin typeface="Aptos"/>
                    <a:ea typeface="Aptos"/>
                    <a:cs typeface="Aptos"/>
                  </a:rPr>
                  <a:t>entailment</a:t>
                </a:r>
              </a:p>
            </p:txBody>
          </p:sp>
        </p:grpSp>
      </p:grpSp>
      <p:sp>
        <p:nvSpPr>
          <p:cNvPr id="142" name="Arrow: Down 141">
            <a:extLst>
              <a:ext uri="{FF2B5EF4-FFF2-40B4-BE49-F238E27FC236}">
                <a16:creationId xmlns:a16="http://schemas.microsoft.com/office/drawing/2014/main" id="{24935B44-9249-CF10-558B-6EFDA0BC9B5D}"/>
              </a:ext>
            </a:extLst>
          </p:cNvPr>
          <p:cNvSpPr/>
          <p:nvPr/>
        </p:nvSpPr>
        <p:spPr>
          <a:xfrm>
            <a:off x="10638359" y="1916119"/>
            <a:ext cx="461895" cy="1334948"/>
          </a:xfrm>
          <a:prstGeom prst="downArrow">
            <a:avLst>
              <a:gd name="adj1" fmla="val 50000"/>
              <a:gd name="adj2" fmla="val 66942"/>
            </a:avLst>
          </a:prstGeom>
          <a:solidFill>
            <a:schemeClr val="accent5">
              <a:lumMod val="75000"/>
            </a:schemeClr>
          </a:solidFill>
          <a:ln w="0">
            <a:solidFill>
              <a:srgbClr val="697386"/>
            </a:solidFill>
          </a:ln>
        </p:spPr>
        <p:txBody>
          <a:bodyPr vert="vert27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predict</a:t>
            </a:r>
            <a:endParaRPr lang="nl-NL" dirty="0"/>
          </a:p>
        </p:txBody>
      </p:sp>
      <p:sp>
        <p:nvSpPr>
          <p:cNvPr id="143" name="Arrow: Down 142">
            <a:extLst>
              <a:ext uri="{FF2B5EF4-FFF2-40B4-BE49-F238E27FC236}">
                <a16:creationId xmlns:a16="http://schemas.microsoft.com/office/drawing/2014/main" id="{D12B0290-E88E-41B7-F9EA-E22B7A1460FC}"/>
              </a:ext>
            </a:extLst>
          </p:cNvPr>
          <p:cNvSpPr/>
          <p:nvPr/>
        </p:nvSpPr>
        <p:spPr>
          <a:xfrm>
            <a:off x="8183453" y="1937385"/>
            <a:ext cx="591548" cy="928542"/>
          </a:xfrm>
          <a:prstGeom prst="downArrow">
            <a:avLst>
              <a:gd name="adj1" fmla="val 46405"/>
              <a:gd name="adj2" fmla="val 50000"/>
            </a:avLst>
          </a:prstGeom>
          <a:solidFill>
            <a:schemeClr val="accent5">
              <a:lumMod val="75000"/>
            </a:schemeClr>
          </a:solidFill>
          <a:ln w="0">
            <a:solidFill>
              <a:srgbClr val="697386"/>
            </a:solidFill>
          </a:ln>
        </p:spPr>
        <p:txBody>
          <a:bodyPr vert="vert27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predict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2A2C4CB7-1027-3DF5-965A-735E30EA7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473" y="2041978"/>
            <a:ext cx="754310" cy="754310"/>
          </a:xfrm>
          <a:prstGeom prst="rect">
            <a:avLst/>
          </a:prstGeom>
        </p:spPr>
      </p:pic>
      <p:sp>
        <p:nvSpPr>
          <p:cNvPr id="146" name="Arrow: Down 145">
            <a:extLst>
              <a:ext uri="{FF2B5EF4-FFF2-40B4-BE49-F238E27FC236}">
                <a16:creationId xmlns:a16="http://schemas.microsoft.com/office/drawing/2014/main" id="{6049E0C2-603B-9A28-24A9-CBD42E67601B}"/>
              </a:ext>
            </a:extLst>
          </p:cNvPr>
          <p:cNvSpPr/>
          <p:nvPr/>
        </p:nvSpPr>
        <p:spPr>
          <a:xfrm>
            <a:off x="8206011" y="4255957"/>
            <a:ext cx="492472" cy="928542"/>
          </a:xfrm>
          <a:prstGeom prst="downArrow">
            <a:avLst>
              <a:gd name="adj1" fmla="val 50000"/>
              <a:gd name="adj2" fmla="val 60874"/>
            </a:avLst>
          </a:prstGeom>
          <a:solidFill>
            <a:srgbClr val="C00000"/>
          </a:solidFill>
          <a:ln w="0"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357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4" grpId="0" animBg="1"/>
      <p:bldP spid="226" grpId="0"/>
      <p:bldP spid="228" grpId="0" animBg="1"/>
      <p:bldP spid="230" grpId="0"/>
      <p:bldP spid="142" grpId="0" animBg="1"/>
      <p:bldP spid="143" grpId="0" animBg="1"/>
      <p:bldP spid="1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C7DB-4940-502C-1BEE-226C4A51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curation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58C62-7430-684E-799A-9B8E3592C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743"/>
            <a:ext cx="10515600" cy="2906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Focus on entailment NLI problems and lexical entailment explanations:</a:t>
            </a:r>
          </a:p>
          <a:p>
            <a:pPr lvl="1"/>
            <a:r>
              <a:rPr lang="en-US" dirty="0"/>
              <a:t>A set of lexical entailments, called a </a:t>
            </a:r>
            <a:r>
              <a:rPr lang="en-US" dirty="0">
                <a:solidFill>
                  <a:srgbClr val="C00000"/>
                </a:solidFill>
              </a:rPr>
              <a:t>LEX set</a:t>
            </a:r>
            <a:r>
              <a:rPr lang="en-US" dirty="0"/>
              <a:t>, as a structured explanation</a:t>
            </a:r>
          </a:p>
          <a:p>
            <a:pPr lvl="1"/>
            <a:r>
              <a:rPr lang="en-US" dirty="0"/>
              <a:t>Lexical relations should be </a:t>
            </a:r>
            <a:r>
              <a:rPr lang="en-US" dirty="0">
                <a:solidFill>
                  <a:srgbClr val="C00000"/>
                </a:solidFill>
              </a:rPr>
              <a:t>sensible out of the context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Skip relations licensed with </a:t>
            </a:r>
            <a:r>
              <a:rPr lang="en-US" dirty="0">
                <a:solidFill>
                  <a:srgbClr val="C00000"/>
                </a:solidFill>
              </a:rPr>
              <a:t>word deletion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Embrace variation in structured explanations:</a:t>
            </a:r>
          </a:p>
          <a:p>
            <a:pPr lvl="1"/>
            <a:r>
              <a:rPr lang="en-US" dirty="0"/>
              <a:t>Four annotators; each problem gets three explanations + optional 4</a:t>
            </a:r>
            <a:r>
              <a:rPr lang="en-US" baseline="30000" dirty="0"/>
              <a:t>th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609DE-5094-CBDF-23F7-D0E12622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E513F-BE3D-0078-666A-B48B9C1E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22979-41F4-CDD0-89E2-9A204397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5</a:t>
            </a:fld>
            <a:endParaRPr lang="nl-NL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AD8BD50-7E03-EFDA-1D47-5DFDC1A58233}"/>
              </a:ext>
            </a:extLst>
          </p:cNvPr>
          <p:cNvSpPr/>
          <p:nvPr/>
        </p:nvSpPr>
        <p:spPr>
          <a:xfrm>
            <a:off x="8391186" y="2036998"/>
            <a:ext cx="3070712" cy="65184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016" tIns="1524" rIns="1524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 swimmer ⊑ woman</a:t>
            </a:r>
            <a:endParaRPr lang="en-US" dirty="0"/>
          </a:p>
          <a:p>
            <a:pPr marL="0" indent="0" algn="ctr">
              <a:buNone/>
            </a:pPr>
            <a:r>
              <a:rPr lang="en-US" b="1" strike="sngStrike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swimmer ⊑ woman</a:t>
            </a:r>
            <a:endParaRPr lang="en-US" strike="sngStrike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689E46C-153E-A15A-FBBF-08A11BCA603A}"/>
              </a:ext>
            </a:extLst>
          </p:cNvPr>
          <p:cNvSpPr/>
          <p:nvPr/>
        </p:nvSpPr>
        <p:spPr>
          <a:xfrm>
            <a:off x="6869415" y="2546129"/>
            <a:ext cx="1849284" cy="41288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016" tIns="1524" rIns="1524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strike="sngStrike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 man ⊑ man</a:t>
            </a:r>
            <a:endParaRPr lang="en-US" strike="sngStrike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72FAF985-14BB-AD7D-96C1-8A64B674ACD3}"/>
              </a:ext>
            </a:extLst>
          </p:cNvPr>
          <p:cNvSpPr/>
          <p:nvPr/>
        </p:nvSpPr>
        <p:spPr>
          <a:xfrm>
            <a:off x="868680" y="4459216"/>
            <a:ext cx="6599744" cy="84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A woman </a:t>
            </a:r>
            <a:r>
              <a:rPr lang="en-US" sz="2400" u="sng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observes</a:t>
            </a: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rusted antique car.</a:t>
            </a:r>
            <a:endParaRPr lang="en-US" sz="2400" dirty="0">
              <a:solidFill>
                <a:srgbClr val="0070C0"/>
              </a:solidFill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H: A woman </a:t>
            </a:r>
            <a:r>
              <a:rPr lang="en-US" sz="2400" u="sng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looks at </a:t>
            </a: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old car.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A2C0643-5615-17A6-ED32-2AA2A2C46A2F}"/>
              </a:ext>
            </a:extLst>
          </p:cNvPr>
          <p:cNvSpPr/>
          <p:nvPr/>
        </p:nvSpPr>
        <p:spPr>
          <a:xfrm>
            <a:off x="1678123" y="5256111"/>
            <a:ext cx="14797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Annotator 1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02ECB75-7BEC-3793-6902-364251854BB0}"/>
              </a:ext>
            </a:extLst>
          </p:cNvPr>
          <p:cNvSpPr/>
          <p:nvPr/>
        </p:nvSpPr>
        <p:spPr>
          <a:xfrm>
            <a:off x="1678123" y="5548719"/>
            <a:ext cx="1828801" cy="6067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txBody>
          <a:bodyPr wrap="square" lIns="1016" tIns="1397" rIns="1397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antique ⊑ old</a:t>
            </a:r>
            <a:endParaRPr lang="en-US" sz="1900" b="1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⊑ look</a:t>
            </a:r>
            <a:endParaRPr lang="en-US" sz="1900" b="1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00AC648-2A46-D388-9746-5BC102A3A917}"/>
              </a:ext>
            </a:extLst>
          </p:cNvPr>
          <p:cNvSpPr/>
          <p:nvPr/>
        </p:nvSpPr>
        <p:spPr>
          <a:xfrm>
            <a:off x="4108721" y="5256111"/>
            <a:ext cx="941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Annotator 2</a:t>
            </a:r>
            <a:endParaRPr lang="en-US" sz="1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06C75E1-56E7-47D0-9BFA-0812F1B57F11}"/>
              </a:ext>
            </a:extLst>
          </p:cNvPr>
          <p:cNvSpPr/>
          <p:nvPr/>
        </p:nvSpPr>
        <p:spPr>
          <a:xfrm>
            <a:off x="4108721" y="5548719"/>
            <a:ext cx="2323923" cy="6067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txBody>
          <a:bodyPr wrap="square" lIns="1016" tIns="1397" rIns="1397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antique car ⊑ old car</a:t>
            </a:r>
            <a:endParaRPr lang="en-US" sz="1800" b="1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⊑ look</a:t>
            </a:r>
            <a:endParaRPr lang="en-US" sz="1800" b="1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68E0FA2-405A-EC5D-DD47-C083A69ECDB8}"/>
              </a:ext>
            </a:extLst>
          </p:cNvPr>
          <p:cNvSpPr/>
          <p:nvPr/>
        </p:nvSpPr>
        <p:spPr>
          <a:xfrm>
            <a:off x="6941061" y="5256111"/>
            <a:ext cx="120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Annotator 3</a:t>
            </a:r>
            <a:endParaRPr lang="en-US" sz="12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2A536C12-73DE-64A0-8B43-77F4232F9E07}"/>
              </a:ext>
            </a:extLst>
          </p:cNvPr>
          <p:cNvSpPr/>
          <p:nvPr/>
        </p:nvSpPr>
        <p:spPr>
          <a:xfrm>
            <a:off x="6941061" y="5548719"/>
            <a:ext cx="2075292" cy="6067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txBody>
          <a:bodyPr wrap="square" lIns="1016" tIns="1397" rIns="1397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antique ⊑ old</a:t>
            </a:r>
            <a:endParaRPr lang="en-US" sz="1800" b="1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⊑ look at</a:t>
            </a:r>
            <a:endParaRPr lang="en-US" sz="18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6421D59-F608-23AA-8EA4-9C3DFD7F543F}"/>
              </a:ext>
            </a:extLst>
          </p:cNvPr>
          <p:cNvSpPr/>
          <p:nvPr/>
        </p:nvSpPr>
        <p:spPr>
          <a:xfrm>
            <a:off x="9501552" y="5256111"/>
            <a:ext cx="1056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valid LEX</a:t>
            </a:r>
            <a:endParaRPr lang="en-US" sz="12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B3D45DF2-9F94-AAAC-4DF9-92016AB1BE21}"/>
              </a:ext>
            </a:extLst>
          </p:cNvPr>
          <p:cNvSpPr/>
          <p:nvPr/>
        </p:nvSpPr>
        <p:spPr>
          <a:xfrm>
            <a:off x="9501552" y="5548719"/>
            <a:ext cx="2211978" cy="606771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76F51"/>
            </a:solidFill>
          </a:ln>
        </p:spPr>
        <p:txBody>
          <a:bodyPr wrap="square" lIns="1016" tIns="1397" rIns="1397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antique car ⊑ old car</a:t>
            </a:r>
            <a:endParaRPr lang="en-US" sz="1700" b="1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⊑ look at</a:t>
            </a: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115234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F9EC-6687-1072-4D44-21CC9221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Intrinsic evaluation</a:t>
            </a:r>
            <a:endParaRPr lang="LID4096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D89C2-F582-6864-C52F-BF13D2973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2744"/>
            <a:ext cx="11176591" cy="1050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LLMs predict an NLI label and a LEX set?</a:t>
            </a:r>
          </a:p>
          <a:p>
            <a:pPr marL="0" indent="0">
              <a:buNone/>
            </a:pPr>
            <a:r>
              <a:rPr lang="en-US" dirty="0"/>
              <a:t>Evaluation set: 362 SICK/SNLI problems with possibly empty LEX sets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DDB36-E239-F86D-D7D2-43932C7A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BFF1-5341-8358-3D18-03580FCC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5D71D-67D8-E674-5824-0BE8DD68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6</a:t>
            </a:fld>
            <a:endParaRPr lang="nl-NL" dirty="0"/>
          </a:p>
        </p:txBody>
      </p:sp>
      <p:graphicFrame>
        <p:nvGraphicFramePr>
          <p:cNvPr id="8" name="Results Header">
            <a:extLst>
              <a:ext uri="{FF2B5EF4-FFF2-40B4-BE49-F238E27FC236}">
                <a16:creationId xmlns:a16="http://schemas.microsoft.com/office/drawing/2014/main" id="{8911AD1F-58D7-BE5B-3346-61E826800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74956"/>
              </p:ext>
            </p:extLst>
          </p:nvPr>
        </p:nvGraphicFramePr>
        <p:xfrm>
          <a:off x="1885697" y="2631596"/>
          <a:ext cx="6764772" cy="5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24">
                  <a:extLst>
                    <a:ext uri="{9D8B030D-6E8A-4147-A177-3AD203B41FA5}">
                      <a16:colId xmlns:a16="http://schemas.microsoft.com/office/drawing/2014/main" val="213891932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3591459156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356021586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LID4096" sz="1500" b="1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System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500" b="1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Exact match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500" b="1" dirty="0">
                          <a:solidFill>
                            <a:srgbClr val="FFC000"/>
                          </a:solidFill>
                          <a:latin typeface="Arial"/>
                          <a:cs typeface="Arial"/>
                        </a:rPr>
                        <a:t>Micro-F1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775"/>
                  </a:ext>
                </a:extLst>
              </a:tr>
            </a:tbl>
          </a:graphicData>
        </a:graphic>
      </p:graphicFrame>
      <p:graphicFrame>
        <p:nvGraphicFramePr>
          <p:cNvPr id="10" name="Result Row 2 - Gemini 3.1 Flash-Lite">
            <a:extLst>
              <a:ext uri="{FF2B5EF4-FFF2-40B4-BE49-F238E27FC236}">
                <a16:creationId xmlns:a16="http://schemas.microsoft.com/office/drawing/2014/main" id="{94A31ED5-4611-C584-D788-11798E577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86177"/>
              </p:ext>
            </p:extLst>
          </p:nvPr>
        </p:nvGraphicFramePr>
        <p:xfrm>
          <a:off x="1885697" y="3811810"/>
          <a:ext cx="6764772" cy="5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24">
                  <a:extLst>
                    <a:ext uri="{9D8B030D-6E8A-4147-A177-3AD203B41FA5}">
                      <a16:colId xmlns:a16="http://schemas.microsoft.com/office/drawing/2014/main" val="710407279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1004347175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958078998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nl-NL" sz="15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Claude Sonnet 4.5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lang="en-US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lang="LID4096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lang="en-US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lang="LID4096" sz="1600" b="0" dirty="0">
                        <a:solidFill>
                          <a:srgbClr val="11111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lang="en-US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lang="LID4096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lang="en-US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lang="LID4096" sz="1600" b="0" dirty="0">
                        <a:solidFill>
                          <a:srgbClr val="11111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444676"/>
                  </a:ext>
                </a:extLst>
              </a:tr>
            </a:tbl>
          </a:graphicData>
        </a:graphic>
      </p:graphicFrame>
      <p:graphicFrame>
        <p:nvGraphicFramePr>
          <p:cNvPr id="12" name="Result Row 3 - Gemini 3.5 Flash">
            <a:extLst>
              <a:ext uri="{FF2B5EF4-FFF2-40B4-BE49-F238E27FC236}">
                <a16:creationId xmlns:a16="http://schemas.microsoft.com/office/drawing/2014/main" id="{8764932E-EE57-DCAA-D233-C6F158AE5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05595"/>
              </p:ext>
            </p:extLst>
          </p:nvPr>
        </p:nvGraphicFramePr>
        <p:xfrm>
          <a:off x="1885697" y="4412553"/>
          <a:ext cx="6764772" cy="5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24">
                  <a:extLst>
                    <a:ext uri="{9D8B030D-6E8A-4147-A177-3AD203B41FA5}">
                      <a16:colId xmlns:a16="http://schemas.microsoft.com/office/drawing/2014/main" val="2865099820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2501650560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39517957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LID4096" sz="15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Gemini 3.5 Flash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58.1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71.9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882961"/>
                  </a:ext>
                </a:extLst>
              </a:tr>
            </a:tbl>
          </a:graphicData>
        </a:graphic>
      </p:graphicFrame>
      <p:graphicFrame>
        <p:nvGraphicFramePr>
          <p:cNvPr id="14" name="Result Row 4 - GPT-5.4">
            <a:extLst>
              <a:ext uri="{FF2B5EF4-FFF2-40B4-BE49-F238E27FC236}">
                <a16:creationId xmlns:a16="http://schemas.microsoft.com/office/drawing/2014/main" id="{7BDBF41B-E6B1-C447-718A-7662FB7FE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767621"/>
              </p:ext>
            </p:extLst>
          </p:nvPr>
        </p:nvGraphicFramePr>
        <p:xfrm>
          <a:off x="1885697" y="5002650"/>
          <a:ext cx="6764772" cy="5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24">
                  <a:extLst>
                    <a:ext uri="{9D8B030D-6E8A-4147-A177-3AD203B41FA5}">
                      <a16:colId xmlns:a16="http://schemas.microsoft.com/office/drawing/2014/main" val="3462586460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3810917632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6993623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LID4096" sz="1500" b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GPT-5.4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57.5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69.3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335257"/>
                  </a:ext>
                </a:extLst>
              </a:tr>
            </a:tbl>
          </a:graphicData>
        </a:graphic>
      </p:graphicFrame>
      <p:graphicFrame>
        <p:nvGraphicFramePr>
          <p:cNvPr id="16" name="Result Row 5 - WordNet &amp; Rules">
            <a:extLst>
              <a:ext uri="{FF2B5EF4-FFF2-40B4-BE49-F238E27FC236}">
                <a16:creationId xmlns:a16="http://schemas.microsoft.com/office/drawing/2014/main" id="{7B6FFF89-2DDE-43E5-EF5A-A9E3AE5B2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264707"/>
              </p:ext>
            </p:extLst>
          </p:nvPr>
        </p:nvGraphicFramePr>
        <p:xfrm>
          <a:off x="1885697" y="5592763"/>
          <a:ext cx="6764772" cy="5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24">
                  <a:extLst>
                    <a:ext uri="{9D8B030D-6E8A-4147-A177-3AD203B41FA5}">
                      <a16:colId xmlns:a16="http://schemas.microsoft.com/office/drawing/2014/main" val="1925015180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2334459960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409322692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LID4096" sz="1500" b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WordNet &amp; Rules</a:t>
                      </a:r>
                    </a:p>
                  </a:txBody>
                  <a:tcPr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50.0</a:t>
                      </a:r>
                    </a:p>
                  </a:txBody>
                  <a:tcPr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LID4096" sz="1600" b="0" dirty="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51.0</a:t>
                      </a:r>
                    </a:p>
                  </a:txBody>
                  <a:tcPr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053437"/>
                  </a:ext>
                </a:extLst>
              </a:tr>
            </a:tbl>
          </a:graphicData>
        </a:graphic>
      </p:graphicFrame>
      <p:graphicFrame>
        <p:nvGraphicFramePr>
          <p:cNvPr id="18" name="Result Row 2 - Gemini 3.1 Flash-Lite">
            <a:extLst>
              <a:ext uri="{FF2B5EF4-FFF2-40B4-BE49-F238E27FC236}">
                <a16:creationId xmlns:a16="http://schemas.microsoft.com/office/drawing/2014/main" id="{E46167F2-6B0E-07CE-A61F-CE89FC7AF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770505"/>
              </p:ext>
            </p:extLst>
          </p:nvPr>
        </p:nvGraphicFramePr>
        <p:xfrm>
          <a:off x="1885696" y="3211073"/>
          <a:ext cx="6764772" cy="58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24">
                  <a:extLst>
                    <a:ext uri="{9D8B030D-6E8A-4147-A177-3AD203B41FA5}">
                      <a16:colId xmlns:a16="http://schemas.microsoft.com/office/drawing/2014/main" val="710407279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1004347175"/>
                    </a:ext>
                  </a:extLst>
                </a:gridCol>
                <a:gridCol w="2254924">
                  <a:extLst>
                    <a:ext uri="{9D8B030D-6E8A-4147-A177-3AD203B41FA5}">
                      <a16:colId xmlns:a16="http://schemas.microsoft.com/office/drawing/2014/main" val="958078998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nl-NL" sz="1500" b="0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Average</a:t>
                      </a:r>
                      <a:r>
                        <a:rPr lang="nl-NL" sz="1500" b="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annotator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80.9</a:t>
                      </a:r>
                      <a:endParaRPr lang="LID4096" sz="1600" b="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84.9</a:t>
                      </a:r>
                      <a:endParaRPr lang="LID4096" sz="1600" b="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444676"/>
                  </a:ext>
                </a:extLst>
              </a:tr>
            </a:tbl>
          </a:graphicData>
        </a:graphic>
      </p:graphicFrame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3BD18E1E-B0F7-C6CC-D6B9-446743B00A40}"/>
              </a:ext>
            </a:extLst>
          </p:cNvPr>
          <p:cNvSpPr/>
          <p:nvPr/>
        </p:nvSpPr>
        <p:spPr>
          <a:xfrm>
            <a:off x="8514080" y="2779608"/>
            <a:ext cx="3593839" cy="723565"/>
          </a:xfrm>
          <a:prstGeom prst="wedgeRoundRectCallout">
            <a:avLst>
              <a:gd name="adj1" fmla="val -74780"/>
              <a:gd name="adj2" fmla="val -3301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Against  the best matching reference LEX set</a:t>
            </a:r>
            <a:endParaRPr lang="LID4096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Speech Bubble: Rectangle with Corners Rounded 20">
                <a:extLst>
                  <a:ext uri="{FF2B5EF4-FFF2-40B4-BE49-F238E27FC236}">
                    <a16:creationId xmlns:a16="http://schemas.microsoft.com/office/drawing/2014/main" id="{75149D63-BEF8-7A00-A3F9-EBAC6664B425}"/>
                  </a:ext>
                </a:extLst>
              </p:cNvPr>
              <p:cNvSpPr/>
              <p:nvPr/>
            </p:nvSpPr>
            <p:spPr>
              <a:xfrm>
                <a:off x="5680624" y="3746305"/>
                <a:ext cx="1044000" cy="432000"/>
              </a:xfrm>
              <a:prstGeom prst="wedgeRoundRectCallout">
                <a:avLst>
                  <a:gd name="adj1" fmla="val -78904"/>
                  <a:gd name="adj2" fmla="val -49864"/>
                  <a:gd name="adj3" fmla="val 16667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=22.7</a:t>
                </a:r>
                <a:endParaRPr lang="LID4096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Speech Bubble: Rectangle with Corners Rounded 20">
                <a:extLst>
                  <a:ext uri="{FF2B5EF4-FFF2-40B4-BE49-F238E27FC236}">
                    <a16:creationId xmlns:a16="http://schemas.microsoft.com/office/drawing/2014/main" id="{75149D63-BEF8-7A00-A3F9-EBAC6664B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624" y="3746305"/>
                <a:ext cx="1044000" cy="432000"/>
              </a:xfrm>
              <a:prstGeom prst="wedgeRoundRectCallout">
                <a:avLst>
                  <a:gd name="adj1" fmla="val -78904"/>
                  <a:gd name="adj2" fmla="val -49864"/>
                  <a:gd name="adj3" fmla="val 16667"/>
                </a:avLst>
              </a:prstGeom>
              <a:blipFill>
                <a:blip r:embed="rId2"/>
                <a:stretch>
                  <a:fillRect b="-1710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Speech Bubble: Rectangle with Corners Rounded 24">
                <a:extLst>
                  <a:ext uri="{FF2B5EF4-FFF2-40B4-BE49-F238E27FC236}">
                    <a16:creationId xmlns:a16="http://schemas.microsoft.com/office/drawing/2014/main" id="{30A88294-F254-D2E8-4AB0-5270CCCD9322}"/>
                  </a:ext>
                </a:extLst>
              </p:cNvPr>
              <p:cNvSpPr/>
              <p:nvPr/>
            </p:nvSpPr>
            <p:spPr>
              <a:xfrm>
                <a:off x="8047391" y="3768662"/>
                <a:ext cx="1044000" cy="432000"/>
              </a:xfrm>
              <a:prstGeom prst="wedgeRoundRectCallout">
                <a:avLst>
                  <a:gd name="adj1" fmla="val -74780"/>
                  <a:gd name="adj2" fmla="val -50046"/>
                  <a:gd name="adj3" fmla="val 16667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=11</a:t>
                </a:r>
                <a:r>
                  <a:rPr lang="en-US" sz="2000" b="0">
                    <a:solidFill>
                      <a:schemeClr val="tx1"/>
                    </a:solidFill>
                  </a:rPr>
                  <a:t>.8</a:t>
                </a:r>
                <a:endParaRPr lang="LID4096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Speech Bubble: Rectangle with Corners Rounded 24">
                <a:extLst>
                  <a:ext uri="{FF2B5EF4-FFF2-40B4-BE49-F238E27FC236}">
                    <a16:creationId xmlns:a16="http://schemas.microsoft.com/office/drawing/2014/main" id="{30A88294-F254-D2E8-4AB0-5270CCCD93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391" y="3768662"/>
                <a:ext cx="1044000" cy="432000"/>
              </a:xfrm>
              <a:prstGeom prst="wedgeRoundRectCallout">
                <a:avLst>
                  <a:gd name="adj1" fmla="val -74780"/>
                  <a:gd name="adj2" fmla="val -50046"/>
                  <a:gd name="adj3" fmla="val 16667"/>
                </a:avLst>
              </a:prstGeom>
              <a:blipFill>
                <a:blip r:embed="rId3"/>
                <a:stretch>
                  <a:fillRect b="-1688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45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2E24-7242-C7F4-38EC-B82DD0D9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Extrinsic Evaluation</a:t>
            </a:r>
            <a:endParaRPr lang="LID4096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5F0F2-E306-1E55-6258-5D805756A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743"/>
            <a:ext cx="10515600" cy="17592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Data: 1K SNLI problems</a:t>
            </a:r>
          </a:p>
          <a:p>
            <a:pPr marL="0" indent="0">
              <a:buNone/>
            </a:pPr>
            <a:r>
              <a:rPr lang="en-US" dirty="0"/>
              <a:t>Reasoner: Natural logic-based tableau theorem prover</a:t>
            </a:r>
          </a:p>
          <a:p>
            <a:pPr marL="0" indent="0">
              <a:buNone/>
            </a:pPr>
            <a:r>
              <a:rPr lang="en-US" dirty="0"/>
              <a:t>Modes: simple &amp; agentic prediction of LEX sets 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5F857-FDFA-EB27-CB8B-1764800A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54059-EDE5-2E37-C6D6-93BF8B66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E8E64-3088-A979-CEB9-BCCC1C97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7</a:t>
            </a:fld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E8B322-7D8D-F543-1DA7-97913D2E283D}"/>
              </a:ext>
            </a:extLst>
          </p:cNvPr>
          <p:cNvSpPr txBox="1"/>
          <p:nvPr/>
        </p:nvSpPr>
        <p:spPr>
          <a:xfrm>
            <a:off x="8791647" y="1838319"/>
            <a:ext cx="3368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(Abzianidze, 2015, 2017, 2020)</a:t>
            </a:r>
            <a:endParaRPr lang="LID4096" sz="1400" dirty="0">
              <a:solidFill>
                <a:srgbClr val="0070C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BFE85E-1829-CDBC-D443-FED91660D81D}"/>
              </a:ext>
            </a:extLst>
          </p:cNvPr>
          <p:cNvSpPr txBox="1"/>
          <p:nvPr/>
        </p:nvSpPr>
        <p:spPr>
          <a:xfrm>
            <a:off x="975455" y="3453860"/>
            <a:ext cx="1939881" cy="521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3813"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/>
          <a:lstStyle>
            <a:defPPr>
              <a:defRPr lang="nl-NL"/>
            </a:defPPr>
            <a:lvl1pPr>
              <a:defRPr sz="2400" b="1"/>
            </a:lvl1pPr>
          </a:lstStyle>
          <a:p>
            <a:r>
              <a:rPr lang="en-US" dirty="0"/>
              <a:t>NLP problem</a:t>
            </a:r>
            <a:endParaRPr lang="LID4096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166B946-A0A9-D4A2-491F-57A8C00F7DC7}"/>
              </a:ext>
            </a:extLst>
          </p:cNvPr>
          <p:cNvSpPr/>
          <p:nvPr/>
        </p:nvSpPr>
        <p:spPr>
          <a:xfrm>
            <a:off x="2081364" y="4603540"/>
            <a:ext cx="4953317" cy="1805160"/>
          </a:xfrm>
          <a:prstGeom prst="roundRect">
            <a:avLst>
              <a:gd name="adj" fmla="val 4396"/>
            </a:avLst>
          </a:prstGeom>
          <a:noFill/>
          <a:ln w="23813">
            <a:solidFill>
              <a:srgbClr val="C00000"/>
            </a:solidFill>
          </a:ln>
        </p:spPr>
        <p:txBody>
          <a:bodyPr/>
          <a:lstStyle/>
          <a:p>
            <a:endParaRPr lang="nl-NL"/>
          </a:p>
        </p:txBody>
      </p:sp>
      <p:sp>
        <p:nvSpPr>
          <p:cNvPr id="76" name="Rectangle 32">
            <a:extLst>
              <a:ext uri="{FF2B5EF4-FFF2-40B4-BE49-F238E27FC236}">
                <a16:creationId xmlns:a16="http://schemas.microsoft.com/office/drawing/2014/main" id="{A9C832CE-39DA-CBE5-60D3-5B6D23F88A2C}"/>
              </a:ext>
            </a:extLst>
          </p:cNvPr>
          <p:cNvSpPr txBox="1"/>
          <p:nvPr/>
        </p:nvSpPr>
        <p:spPr>
          <a:xfrm>
            <a:off x="2345058" y="4426685"/>
            <a:ext cx="1258172" cy="396000"/>
          </a:xfrm>
          <a:prstGeom prst="roundRect">
            <a:avLst/>
          </a:prstGeom>
          <a:solidFill>
            <a:srgbClr val="F4A6A6"/>
          </a:solidFill>
          <a:ln w="16193">
            <a:solidFill>
              <a:srgbClr val="C00000"/>
            </a:solidFill>
          </a:ln>
        </p:spPr>
        <p:txBody>
          <a:bodyPr tIns="0" bIns="0"/>
          <a:lstStyle>
            <a:defPPr>
              <a:defRPr lang="nl-NL"/>
            </a:defPPr>
            <a:lvl1pPr>
              <a:defRPr sz="1600" b="1">
                <a:solidFill>
                  <a:srgbClr val="172238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sz="2400" dirty="0">
                <a:latin typeface="+mn-lt"/>
              </a:rPr>
              <a:t>LangPro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2393095-0BFD-61C4-872B-1E91027EB861}"/>
              </a:ext>
            </a:extLst>
          </p:cNvPr>
          <p:cNvSpPr/>
          <p:nvPr/>
        </p:nvSpPr>
        <p:spPr>
          <a:xfrm>
            <a:off x="2181675" y="4963301"/>
            <a:ext cx="2808494" cy="457200"/>
          </a:xfrm>
          <a:prstGeom prst="roundRect">
            <a:avLst>
              <a:gd name="adj" fmla="val 7921"/>
            </a:avLst>
          </a:prstGeom>
          <a:solidFill>
            <a:srgbClr val="FFEBEB"/>
          </a:solidFill>
          <a:ln w="16193">
            <a:solidFill>
              <a:srgbClr val="C00000"/>
            </a:solidFill>
          </a:ln>
        </p:spPr>
        <p:txBody>
          <a:bodyPr/>
          <a:lstStyle/>
          <a:p>
            <a:endParaRPr lang="en-US" b="1" dirty="0">
              <a:solidFill>
                <a:srgbClr val="344054"/>
              </a:solidFill>
              <a:latin typeface="Georgia"/>
              <a:ea typeface="Georgia"/>
              <a:cs typeface="Georgia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F4E8CC7-AC66-BE94-F26A-5B259E90526B}"/>
              </a:ext>
            </a:extLst>
          </p:cNvPr>
          <p:cNvGrpSpPr/>
          <p:nvPr/>
        </p:nvGrpSpPr>
        <p:grpSpPr>
          <a:xfrm>
            <a:off x="4326570" y="4771417"/>
            <a:ext cx="564574" cy="589699"/>
            <a:chOff x="1333500" y="5943600"/>
            <a:chExt cx="457200" cy="466725"/>
          </a:xfrm>
        </p:grpSpPr>
        <p:sp>
          <p:nvSpPr>
            <p:cNvPr id="79" name="Cylinder 78">
              <a:extLst>
                <a:ext uri="{FF2B5EF4-FFF2-40B4-BE49-F238E27FC236}">
                  <a16:creationId xmlns:a16="http://schemas.microsoft.com/office/drawing/2014/main" id="{B149A613-5319-A15A-A5F4-AA7832310F04}"/>
                </a:ext>
              </a:extLst>
            </p:cNvPr>
            <p:cNvSpPr/>
            <p:nvPr/>
          </p:nvSpPr>
          <p:spPr>
            <a:xfrm>
              <a:off x="1333500" y="6172200"/>
              <a:ext cx="457200" cy="238125"/>
            </a:xfrm>
            <a:prstGeom prst="can">
              <a:avLst/>
            </a:prstGeom>
            <a:solidFill>
              <a:srgbClr val="6B89A5"/>
            </a:solidFill>
            <a:ln w="11430">
              <a:solidFill>
                <a:srgbClr val="526E88"/>
              </a:solidFill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0" name="Cylinder 79">
              <a:extLst>
                <a:ext uri="{FF2B5EF4-FFF2-40B4-BE49-F238E27FC236}">
                  <a16:creationId xmlns:a16="http://schemas.microsoft.com/office/drawing/2014/main" id="{83406020-7A66-E090-9383-944DA7D577CA}"/>
                </a:ext>
              </a:extLst>
            </p:cNvPr>
            <p:cNvSpPr/>
            <p:nvPr/>
          </p:nvSpPr>
          <p:spPr>
            <a:xfrm>
              <a:off x="1333500" y="6057900"/>
              <a:ext cx="457200" cy="238125"/>
            </a:xfrm>
            <a:prstGeom prst="can">
              <a:avLst/>
            </a:prstGeom>
            <a:solidFill>
              <a:srgbClr val="7898B5"/>
            </a:solidFill>
            <a:ln w="11430">
              <a:solidFill>
                <a:srgbClr val="526E88"/>
              </a:solidFill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1" name="Cylinder 80">
              <a:extLst>
                <a:ext uri="{FF2B5EF4-FFF2-40B4-BE49-F238E27FC236}">
                  <a16:creationId xmlns:a16="http://schemas.microsoft.com/office/drawing/2014/main" id="{FB4CC7A5-C421-BD8E-A761-5899B358E372}"/>
                </a:ext>
              </a:extLst>
            </p:cNvPr>
            <p:cNvSpPr/>
            <p:nvPr/>
          </p:nvSpPr>
          <p:spPr>
            <a:xfrm>
              <a:off x="1333500" y="5943600"/>
              <a:ext cx="457200" cy="238125"/>
            </a:xfrm>
            <a:prstGeom prst="can">
              <a:avLst/>
            </a:prstGeom>
            <a:solidFill>
              <a:srgbClr val="86A5C0"/>
            </a:solidFill>
            <a:ln w="11430">
              <a:solidFill>
                <a:srgbClr val="526E88"/>
              </a:solidFill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D5D60B7-ED7A-8508-FC26-77246BE6C643}"/>
              </a:ext>
            </a:extLst>
          </p:cNvPr>
          <p:cNvSpPr/>
          <p:nvPr/>
        </p:nvSpPr>
        <p:spPr>
          <a:xfrm>
            <a:off x="5314822" y="4697847"/>
            <a:ext cx="1606617" cy="1625401"/>
          </a:xfrm>
          <a:prstGeom prst="roundRect">
            <a:avLst>
              <a:gd name="adj" fmla="val 7921"/>
            </a:avLst>
          </a:prstGeom>
          <a:solidFill>
            <a:srgbClr val="FFEBEB"/>
          </a:solidFill>
          <a:ln w="16193">
            <a:solidFill>
              <a:srgbClr val="C00000"/>
            </a:solidFill>
          </a:ln>
        </p:spPr>
        <p:txBody>
          <a:bodyPr/>
          <a:lstStyle/>
          <a:p>
            <a:endParaRPr lang="nl-NL"/>
          </a:p>
        </p:txBody>
      </p:sp>
      <p:sp>
        <p:nvSpPr>
          <p:cNvPr id="83" name="Rectangle 41">
            <a:extLst>
              <a:ext uri="{FF2B5EF4-FFF2-40B4-BE49-F238E27FC236}">
                <a16:creationId xmlns:a16="http://schemas.microsoft.com/office/drawing/2014/main" id="{25DB591D-74AC-4633-19E5-1947AF4FE68B}"/>
              </a:ext>
            </a:extLst>
          </p:cNvPr>
          <p:cNvSpPr txBox="1"/>
          <p:nvPr/>
        </p:nvSpPr>
        <p:spPr>
          <a:xfrm>
            <a:off x="5373522" y="4702959"/>
            <a:ext cx="1560420" cy="270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2500"/>
          </a:bodyPr>
          <a:lstStyle/>
          <a:p>
            <a:pPr algn="l">
              <a:defRPr sz="1350" b="1">
                <a:solidFill>
                  <a:srgbClr val="172238"/>
                </a:solidFill>
                <a:latin typeface="Georgia"/>
                <a:ea typeface="Georgia"/>
                <a:cs typeface="Georgia"/>
              </a:defRPr>
            </a:pPr>
            <a:r>
              <a:rPr lang="en-US" sz="1600" b="1" dirty="0">
                <a:solidFill>
                  <a:srgbClr val="172238"/>
                </a:solidFill>
                <a:latin typeface="Georgia"/>
                <a:ea typeface="Georgia"/>
                <a:cs typeface="Georgia"/>
              </a:rPr>
              <a:t>Tableau prover</a:t>
            </a:r>
            <a:endParaRPr sz="1600" b="1" dirty="0">
              <a:solidFill>
                <a:srgbClr val="172238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196047E-AC0D-9B99-4E33-3273156B9FB5}"/>
              </a:ext>
            </a:extLst>
          </p:cNvPr>
          <p:cNvSpPr/>
          <p:nvPr/>
        </p:nvSpPr>
        <p:spPr>
          <a:xfrm>
            <a:off x="2182380" y="5779105"/>
            <a:ext cx="1360694" cy="457200"/>
          </a:xfrm>
          <a:prstGeom prst="roundRect">
            <a:avLst>
              <a:gd name="adj" fmla="val 7921"/>
            </a:avLst>
          </a:prstGeom>
          <a:solidFill>
            <a:srgbClr val="FFEBEB"/>
          </a:solidFill>
          <a:ln w="16193">
            <a:solidFill>
              <a:srgbClr val="C00000"/>
            </a:solidFill>
          </a:ln>
        </p:spPr>
        <p:txBody>
          <a:bodyPr/>
          <a:lstStyle/>
          <a:p>
            <a:r>
              <a:rPr lang="en-US" dirty="0">
                <a:solidFill>
                  <a:srgbClr val="344054"/>
                </a:solidFill>
                <a:latin typeface="Georgia"/>
                <a:ea typeface="Georgia"/>
                <a:cs typeface="Georgia"/>
              </a:rPr>
              <a:t>CCG parser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D1135A8E-F277-FD05-ECAB-8C8E4EAA4410}"/>
              </a:ext>
            </a:extLst>
          </p:cNvPr>
          <p:cNvSpPr/>
          <p:nvPr/>
        </p:nvSpPr>
        <p:spPr>
          <a:xfrm>
            <a:off x="3876710" y="5779105"/>
            <a:ext cx="1113458" cy="457200"/>
          </a:xfrm>
          <a:prstGeom prst="roundRect">
            <a:avLst>
              <a:gd name="adj" fmla="val 7921"/>
            </a:avLst>
          </a:prstGeom>
          <a:solidFill>
            <a:srgbClr val="FFEBEB"/>
          </a:solidFill>
          <a:ln w="16193">
            <a:solidFill>
              <a:srgbClr val="C00000"/>
            </a:solidFill>
          </a:ln>
        </p:spPr>
        <p:txBody>
          <a:bodyPr/>
          <a:lstStyle/>
          <a:p>
            <a:r>
              <a:rPr lang="en-US" dirty="0">
                <a:solidFill>
                  <a:srgbClr val="344054"/>
                </a:solidFill>
                <a:latin typeface="Georgia"/>
                <a:ea typeface="Georgia"/>
                <a:cs typeface="Georgia"/>
              </a:rPr>
              <a:t>LLF gen.</a:t>
            </a:r>
          </a:p>
        </p:txBody>
      </p:sp>
      <p:sp>
        <p:nvSpPr>
          <p:cNvPr id="86" name="Revision Right">
            <a:extLst>
              <a:ext uri="{FF2B5EF4-FFF2-40B4-BE49-F238E27FC236}">
                <a16:creationId xmlns:a16="http://schemas.microsoft.com/office/drawing/2014/main" id="{11ADC21C-8169-477F-42AC-A220ACC83167}"/>
              </a:ext>
            </a:extLst>
          </p:cNvPr>
          <p:cNvSpPr/>
          <p:nvPr/>
        </p:nvSpPr>
        <p:spPr>
          <a:xfrm>
            <a:off x="3494545" y="5827705"/>
            <a:ext cx="432000" cy="36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87" name="Revision Right">
            <a:extLst>
              <a:ext uri="{FF2B5EF4-FFF2-40B4-BE49-F238E27FC236}">
                <a16:creationId xmlns:a16="http://schemas.microsoft.com/office/drawing/2014/main" id="{687EC4FE-F5CC-F547-4B25-6EF32C7295F3}"/>
              </a:ext>
            </a:extLst>
          </p:cNvPr>
          <p:cNvSpPr/>
          <p:nvPr/>
        </p:nvSpPr>
        <p:spPr>
          <a:xfrm>
            <a:off x="4951033" y="5827705"/>
            <a:ext cx="432000" cy="36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BCB51718-B288-0715-DEDC-17ED44833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697" y="2931727"/>
            <a:ext cx="874902" cy="1117106"/>
          </a:xfrm>
          <a:prstGeom prst="rect">
            <a:avLst/>
          </a:prstGeom>
        </p:spPr>
      </p:pic>
      <p:sp>
        <p:nvSpPr>
          <p:cNvPr id="91" name="Revision Right">
            <a:extLst>
              <a:ext uri="{FF2B5EF4-FFF2-40B4-BE49-F238E27FC236}">
                <a16:creationId xmlns:a16="http://schemas.microsoft.com/office/drawing/2014/main" id="{0F3FE5DD-A88A-FD8F-9F28-493626E38EE2}"/>
              </a:ext>
            </a:extLst>
          </p:cNvPr>
          <p:cNvSpPr/>
          <p:nvPr/>
        </p:nvSpPr>
        <p:spPr>
          <a:xfrm>
            <a:off x="4946916" y="5002995"/>
            <a:ext cx="432000" cy="36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CFDDC88-A04B-C64A-3BB1-AB368791AF44}"/>
              </a:ext>
            </a:extLst>
          </p:cNvPr>
          <p:cNvGrpSpPr/>
          <p:nvPr/>
        </p:nvGrpSpPr>
        <p:grpSpPr>
          <a:xfrm>
            <a:off x="3627160" y="3346957"/>
            <a:ext cx="1600201" cy="685800"/>
            <a:chOff x="2788396" y="3022019"/>
            <a:chExt cx="1600201" cy="685800"/>
          </a:xfrm>
        </p:grpSpPr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4741405E-7ACA-6675-4E35-77BA84F33D30}"/>
                </a:ext>
              </a:extLst>
            </p:cNvPr>
            <p:cNvSpPr/>
            <p:nvPr/>
          </p:nvSpPr>
          <p:spPr>
            <a:xfrm>
              <a:off x="2788396" y="3022019"/>
              <a:ext cx="1600201" cy="685800"/>
            </a:xfrm>
            <a:prstGeom prst="roundRect">
              <a:avLst/>
            </a:prstGeom>
            <a:solidFill>
              <a:schemeClr val="bg1"/>
            </a:solidFill>
            <a:ln w="23813">
              <a:solidFill>
                <a:srgbClr val="C00000"/>
              </a:solidFill>
              <a:prstDash val="sysDot"/>
            </a:ln>
          </p:spPr>
          <p:txBody>
            <a:bodyPr anchor="ctr"/>
            <a:lstStyle/>
            <a:p>
              <a:r>
                <a:rPr lang="en-US" sz="2400" b="1" dirty="0"/>
                <a:t> LLM</a:t>
              </a: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52232A8B-6DA6-4B25-8210-801C80AB4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9685" y="3043039"/>
              <a:ext cx="656698" cy="656698"/>
            </a:xfrm>
            <a:prstGeom prst="rect">
              <a:avLst/>
            </a:prstGeom>
          </p:spPr>
        </p:pic>
      </p:grpSp>
      <p:sp>
        <p:nvSpPr>
          <p:cNvPr id="99" name="Candidate KB Arrow">
            <a:extLst>
              <a:ext uri="{FF2B5EF4-FFF2-40B4-BE49-F238E27FC236}">
                <a16:creationId xmlns:a16="http://schemas.microsoft.com/office/drawing/2014/main" id="{6E355BE2-C39A-B51F-0FED-5DA094C617FA}"/>
              </a:ext>
            </a:extLst>
          </p:cNvPr>
          <p:cNvSpPr/>
          <p:nvPr/>
        </p:nvSpPr>
        <p:spPr>
          <a:xfrm rot="5400000">
            <a:off x="4206464" y="4123739"/>
            <a:ext cx="825500" cy="517565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pic>
        <p:nvPicPr>
          <p:cNvPr id="7" name="gear2-3">
            <a:extLst>
              <a:ext uri="{FF2B5EF4-FFF2-40B4-BE49-F238E27FC236}">
                <a16:creationId xmlns:a16="http://schemas.microsoft.com/office/drawing/2014/main" id="{0D1327DA-990E-5534-884A-F3F461B521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68646"/>
                    </a14:imgEffect>
                    <a14:imgEffect>
                      <a14:sharpenSoften amount="-25000"/>
                    </a14:imgEffect>
                    <a14:imgEffect>
                      <a14:colorTemperature colorTemp="4920"/>
                    </a14:imgEffect>
                    <a14:imgEffect>
                      <a14:saturation sat="20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r="43381" b="9227"/>
          <a:stretch/>
        </p:blipFill>
        <p:spPr>
          <a:xfrm rot="2000785">
            <a:off x="6241413" y="5662800"/>
            <a:ext cx="573420" cy="573619"/>
          </a:xfrm>
          <a:prstGeom prst="rect">
            <a:avLst/>
          </a:prstGeom>
        </p:spPr>
      </p:pic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B8797F8B-9872-BD77-D486-FE790FD136D6}"/>
              </a:ext>
            </a:extLst>
          </p:cNvPr>
          <p:cNvSpPr/>
          <p:nvPr/>
        </p:nvSpPr>
        <p:spPr>
          <a:xfrm>
            <a:off x="7446563" y="2702560"/>
            <a:ext cx="5319229" cy="3220720"/>
          </a:xfrm>
          <a:custGeom>
            <a:avLst/>
            <a:gdLst>
              <a:gd name="csX0" fmla="*/ 4613357 w 5060397"/>
              <a:gd name="csY0" fmla="*/ 101600 h 3220720"/>
              <a:gd name="csX1" fmla="*/ 4359357 w 5060397"/>
              <a:gd name="csY1" fmla="*/ 121920 h 3220720"/>
              <a:gd name="csX2" fmla="*/ 4105357 w 5060397"/>
              <a:gd name="csY2" fmla="*/ 172720 h 3220720"/>
              <a:gd name="csX3" fmla="*/ 3170637 w 5060397"/>
              <a:gd name="csY3" fmla="*/ 152400 h 3220720"/>
              <a:gd name="csX4" fmla="*/ 2957277 w 5060397"/>
              <a:gd name="csY4" fmla="*/ 142240 h 3220720"/>
              <a:gd name="csX5" fmla="*/ 2733757 w 5060397"/>
              <a:gd name="csY5" fmla="*/ 121920 h 3220720"/>
              <a:gd name="csX6" fmla="*/ 1829517 w 5060397"/>
              <a:gd name="csY6" fmla="*/ 81280 h 3220720"/>
              <a:gd name="csX7" fmla="*/ 1626317 w 5060397"/>
              <a:gd name="csY7" fmla="*/ 40640 h 3220720"/>
              <a:gd name="csX8" fmla="*/ 1412957 w 5060397"/>
              <a:gd name="csY8" fmla="*/ 20320 h 3220720"/>
              <a:gd name="csX9" fmla="*/ 1230077 w 5060397"/>
              <a:gd name="csY9" fmla="*/ 0 h 3220720"/>
              <a:gd name="csX10" fmla="*/ 488397 w 5060397"/>
              <a:gd name="csY10" fmla="*/ 40640 h 3220720"/>
              <a:gd name="csX11" fmla="*/ 386797 w 5060397"/>
              <a:gd name="csY11" fmla="*/ 60960 h 3220720"/>
              <a:gd name="csX12" fmla="*/ 295357 w 5060397"/>
              <a:gd name="csY12" fmla="*/ 101600 h 3220720"/>
              <a:gd name="csX13" fmla="*/ 203917 w 5060397"/>
              <a:gd name="csY13" fmla="*/ 111760 h 3220720"/>
              <a:gd name="csX14" fmla="*/ 21037 w 5060397"/>
              <a:gd name="csY14" fmla="*/ 294640 h 3220720"/>
              <a:gd name="csX15" fmla="*/ 717 w 5060397"/>
              <a:gd name="csY15" fmla="*/ 426720 h 3220720"/>
              <a:gd name="csX16" fmla="*/ 142957 w 5060397"/>
              <a:gd name="csY16" fmla="*/ 975360 h 3220720"/>
              <a:gd name="csX17" fmla="*/ 305517 w 5060397"/>
              <a:gd name="csY17" fmla="*/ 1219200 h 3220720"/>
              <a:gd name="csX18" fmla="*/ 610317 w 5060397"/>
              <a:gd name="csY18" fmla="*/ 1625600 h 3220720"/>
              <a:gd name="csX19" fmla="*/ 783037 w 5060397"/>
              <a:gd name="csY19" fmla="*/ 1757680 h 3220720"/>
              <a:gd name="csX20" fmla="*/ 1189437 w 5060397"/>
              <a:gd name="csY20" fmla="*/ 1981200 h 3220720"/>
              <a:gd name="csX21" fmla="*/ 1443437 w 5060397"/>
              <a:gd name="csY21" fmla="*/ 2214880 h 3220720"/>
              <a:gd name="csX22" fmla="*/ 1646637 w 5060397"/>
              <a:gd name="csY22" fmla="*/ 2519680 h 3220720"/>
              <a:gd name="csX23" fmla="*/ 1951437 w 5060397"/>
              <a:gd name="csY23" fmla="*/ 2915920 h 3220720"/>
              <a:gd name="csX24" fmla="*/ 2174957 w 5060397"/>
              <a:gd name="csY24" fmla="*/ 3078480 h 3220720"/>
              <a:gd name="csX25" fmla="*/ 2682957 w 5060397"/>
              <a:gd name="csY25" fmla="*/ 3220720 h 3220720"/>
              <a:gd name="csX26" fmla="*/ 3566877 w 5060397"/>
              <a:gd name="csY26" fmla="*/ 3200400 h 3220720"/>
              <a:gd name="csX27" fmla="*/ 3800557 w 5060397"/>
              <a:gd name="csY27" fmla="*/ 3190240 h 3220720"/>
              <a:gd name="csX28" fmla="*/ 4267917 w 5060397"/>
              <a:gd name="csY28" fmla="*/ 3088640 h 3220720"/>
              <a:gd name="csX29" fmla="*/ 4552397 w 5060397"/>
              <a:gd name="csY29" fmla="*/ 3027680 h 3220720"/>
              <a:gd name="csX30" fmla="*/ 4887677 w 5060397"/>
              <a:gd name="csY30" fmla="*/ 2926080 h 3220720"/>
              <a:gd name="csX31" fmla="*/ 5060397 w 5060397"/>
              <a:gd name="csY31" fmla="*/ 2885440 h 3220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060397" h="3220720">
                <a:moveTo>
                  <a:pt x="4613357" y="101600"/>
                </a:moveTo>
                <a:cubicBezTo>
                  <a:pt x="4528690" y="108373"/>
                  <a:pt x="4443474" y="110144"/>
                  <a:pt x="4359357" y="121920"/>
                </a:cubicBezTo>
                <a:cubicBezTo>
                  <a:pt x="4273848" y="133891"/>
                  <a:pt x="4191672" y="170507"/>
                  <a:pt x="4105357" y="172720"/>
                </a:cubicBezTo>
                <a:lnTo>
                  <a:pt x="3170637" y="152400"/>
                </a:lnTo>
                <a:cubicBezTo>
                  <a:pt x="3099517" y="149013"/>
                  <a:pt x="3028305" y="147195"/>
                  <a:pt x="2957277" y="142240"/>
                </a:cubicBezTo>
                <a:cubicBezTo>
                  <a:pt x="2882645" y="137033"/>
                  <a:pt x="2808462" y="125958"/>
                  <a:pt x="2733757" y="121920"/>
                </a:cubicBezTo>
                <a:lnTo>
                  <a:pt x="1829517" y="81280"/>
                </a:lnTo>
                <a:cubicBezTo>
                  <a:pt x="1761784" y="67733"/>
                  <a:pt x="1694664" y="50642"/>
                  <a:pt x="1626317" y="40640"/>
                </a:cubicBezTo>
                <a:cubicBezTo>
                  <a:pt x="1555628" y="30295"/>
                  <a:pt x="1484026" y="27609"/>
                  <a:pt x="1412957" y="20320"/>
                </a:cubicBezTo>
                <a:lnTo>
                  <a:pt x="1230077" y="0"/>
                </a:lnTo>
                <a:cubicBezTo>
                  <a:pt x="943470" y="10422"/>
                  <a:pt x="746786" y="3727"/>
                  <a:pt x="488397" y="40640"/>
                </a:cubicBezTo>
                <a:cubicBezTo>
                  <a:pt x="454207" y="45524"/>
                  <a:pt x="420664" y="54187"/>
                  <a:pt x="386797" y="60960"/>
                </a:cubicBezTo>
                <a:cubicBezTo>
                  <a:pt x="356317" y="74507"/>
                  <a:pt x="327495" y="92673"/>
                  <a:pt x="295357" y="101600"/>
                </a:cubicBezTo>
                <a:cubicBezTo>
                  <a:pt x="265808" y="109808"/>
                  <a:pt x="231883" y="99175"/>
                  <a:pt x="203917" y="111760"/>
                </a:cubicBezTo>
                <a:cubicBezTo>
                  <a:pt x="99864" y="158584"/>
                  <a:pt x="81652" y="208047"/>
                  <a:pt x="21037" y="294640"/>
                </a:cubicBezTo>
                <a:cubicBezTo>
                  <a:pt x="14264" y="338667"/>
                  <a:pt x="-3805" y="382405"/>
                  <a:pt x="717" y="426720"/>
                </a:cubicBezTo>
                <a:cubicBezTo>
                  <a:pt x="14878" y="565502"/>
                  <a:pt x="63390" y="830063"/>
                  <a:pt x="142957" y="975360"/>
                </a:cubicBezTo>
                <a:cubicBezTo>
                  <a:pt x="189877" y="1061040"/>
                  <a:pt x="252212" y="1137339"/>
                  <a:pt x="305517" y="1219200"/>
                </a:cubicBezTo>
                <a:cubicBezTo>
                  <a:pt x="426633" y="1405199"/>
                  <a:pt x="440461" y="1460597"/>
                  <a:pt x="610317" y="1625600"/>
                </a:cubicBezTo>
                <a:cubicBezTo>
                  <a:pt x="662304" y="1676102"/>
                  <a:pt x="721273" y="1719755"/>
                  <a:pt x="783037" y="1757680"/>
                </a:cubicBezTo>
                <a:cubicBezTo>
                  <a:pt x="914786" y="1838579"/>
                  <a:pt x="1075659" y="1876524"/>
                  <a:pt x="1189437" y="1981200"/>
                </a:cubicBezTo>
                <a:cubicBezTo>
                  <a:pt x="1274104" y="2059093"/>
                  <a:pt x="1362086" y="2133529"/>
                  <a:pt x="1443437" y="2214880"/>
                </a:cubicBezTo>
                <a:cubicBezTo>
                  <a:pt x="1597793" y="2369236"/>
                  <a:pt x="1527628" y="2326999"/>
                  <a:pt x="1646637" y="2519680"/>
                </a:cubicBezTo>
                <a:cubicBezTo>
                  <a:pt x="1702636" y="2610346"/>
                  <a:pt x="1889818" y="2857382"/>
                  <a:pt x="1951437" y="2915920"/>
                </a:cubicBezTo>
                <a:cubicBezTo>
                  <a:pt x="2018229" y="2979373"/>
                  <a:pt x="2094079" y="3034365"/>
                  <a:pt x="2174957" y="3078480"/>
                </a:cubicBezTo>
                <a:cubicBezTo>
                  <a:pt x="2316863" y="3155883"/>
                  <a:pt x="2532280" y="3188432"/>
                  <a:pt x="2682957" y="3220720"/>
                </a:cubicBezTo>
                <a:lnTo>
                  <a:pt x="3566877" y="3200400"/>
                </a:lnTo>
                <a:cubicBezTo>
                  <a:pt x="3644815" y="3198274"/>
                  <a:pt x="3723067" y="3198850"/>
                  <a:pt x="3800557" y="3190240"/>
                </a:cubicBezTo>
                <a:cubicBezTo>
                  <a:pt x="3987609" y="3169456"/>
                  <a:pt x="4082153" y="3129418"/>
                  <a:pt x="4267917" y="3088640"/>
                </a:cubicBezTo>
                <a:cubicBezTo>
                  <a:pt x="4649120" y="3004961"/>
                  <a:pt x="4271650" y="3104247"/>
                  <a:pt x="4552397" y="3027680"/>
                </a:cubicBezTo>
                <a:cubicBezTo>
                  <a:pt x="4724478" y="2932079"/>
                  <a:pt x="4590500" y="2994659"/>
                  <a:pt x="4887677" y="2926080"/>
                </a:cubicBezTo>
                <a:cubicBezTo>
                  <a:pt x="5071346" y="2883695"/>
                  <a:pt x="4984316" y="2885440"/>
                  <a:pt x="5060397" y="2885440"/>
                </a:cubicBezTo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9" name="gear2-1">
            <a:extLst>
              <a:ext uri="{FF2B5EF4-FFF2-40B4-BE49-F238E27FC236}">
                <a16:creationId xmlns:a16="http://schemas.microsoft.com/office/drawing/2014/main" id="{CE180CB4-6FDD-301C-BA92-61A886ECA010}"/>
              </a:ext>
            </a:extLst>
          </p:cNvPr>
          <p:cNvGrpSpPr>
            <a:grpSpLocks noChangeAspect="1"/>
          </p:cNvGrpSpPr>
          <p:nvPr/>
        </p:nvGrpSpPr>
        <p:grpSpPr>
          <a:xfrm rot="20220780">
            <a:off x="5366475" y="5021551"/>
            <a:ext cx="956043" cy="956380"/>
            <a:chOff x="9909305" y="3698815"/>
            <a:chExt cx="1146727" cy="114712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4D0DC7-7B85-573E-B6FC-E95A123B9B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0" b="100000" l="0" r="68646"/>
                      </a14:imgEffect>
                      <a14:imgEffect>
                        <a14:sharpenSoften amount="-25000"/>
                      </a14:imgEffect>
                      <a14:imgEffect>
                        <a14:colorTemperature colorTemp="4920"/>
                      </a14:imgEffect>
                      <a14:imgEffect>
                        <a14:saturation sat="2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3381" b="9227"/>
            <a:stretch/>
          </p:blipFill>
          <p:spPr>
            <a:xfrm rot="2000785">
              <a:off x="9909305" y="3698815"/>
              <a:ext cx="1146727" cy="1147126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15A44173-4A90-D093-0288-2FF46A960BD8}"/>
                </a:ext>
              </a:extLst>
            </p:cNvPr>
            <p:cNvSpPr/>
            <p:nvPr/>
          </p:nvSpPr>
          <p:spPr>
            <a:xfrm rot="17987935" flipH="1">
              <a:off x="10100914" y="3861204"/>
              <a:ext cx="801736" cy="801742"/>
            </a:xfrm>
            <a:prstGeom prst="arc">
              <a:avLst>
                <a:gd name="adj1" fmla="val 14957800"/>
                <a:gd name="adj2" fmla="val 0"/>
              </a:avLst>
            </a:prstGeom>
            <a:ln w="38100">
              <a:solidFill>
                <a:srgbClr val="1F3424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</p:grpSp>
      <p:grpSp>
        <p:nvGrpSpPr>
          <p:cNvPr id="14" name="gear2-2">
            <a:extLst>
              <a:ext uri="{FF2B5EF4-FFF2-40B4-BE49-F238E27FC236}">
                <a16:creationId xmlns:a16="http://schemas.microsoft.com/office/drawing/2014/main" id="{608A25F3-3CAC-A3EF-568A-B7A0F51DC876}"/>
              </a:ext>
            </a:extLst>
          </p:cNvPr>
          <p:cNvGrpSpPr>
            <a:grpSpLocks noChangeAspect="1"/>
          </p:cNvGrpSpPr>
          <p:nvPr/>
        </p:nvGrpSpPr>
        <p:grpSpPr>
          <a:xfrm>
            <a:off x="6315064" y="5077310"/>
            <a:ext cx="571170" cy="571369"/>
            <a:chOff x="9909305" y="3698815"/>
            <a:chExt cx="1146727" cy="114712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DCF027-615E-3EEF-3615-237FB254C2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0" b="100000" l="0" r="68646"/>
                      </a14:imgEffect>
                      <a14:imgEffect>
                        <a14:sharpenSoften amount="-25000"/>
                      </a14:imgEffect>
                      <a14:imgEffect>
                        <a14:colorTemperature colorTemp="4920"/>
                      </a14:imgEffect>
                      <a14:imgEffect>
                        <a14:saturation sat="2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43381" b="9227"/>
            <a:stretch/>
          </p:blipFill>
          <p:spPr>
            <a:xfrm rot="2000785">
              <a:off x="9909305" y="3698815"/>
              <a:ext cx="1146727" cy="1147126"/>
            </a:xfrm>
            <a:prstGeom prst="rect">
              <a:avLst/>
            </a:prstGeom>
          </p:spPr>
        </p:pic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F96929E2-0EF0-EC68-29D8-FCE43705C599}"/>
                </a:ext>
              </a:extLst>
            </p:cNvPr>
            <p:cNvSpPr/>
            <p:nvPr/>
          </p:nvSpPr>
          <p:spPr>
            <a:xfrm rot="18349741" flipH="1">
              <a:off x="10104423" y="3885816"/>
              <a:ext cx="801739" cy="801739"/>
            </a:xfrm>
            <a:prstGeom prst="arc">
              <a:avLst>
                <a:gd name="adj1" fmla="val 14957800"/>
                <a:gd name="adj2" fmla="val 0"/>
              </a:avLst>
            </a:prstGeom>
            <a:ln w="38100">
              <a:solidFill>
                <a:srgbClr val="1F3424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</p:grpSp>
      <p:sp>
        <p:nvSpPr>
          <p:cNvPr id="17" name="Arrow: Bent 16">
            <a:extLst>
              <a:ext uri="{FF2B5EF4-FFF2-40B4-BE49-F238E27FC236}">
                <a16:creationId xmlns:a16="http://schemas.microsoft.com/office/drawing/2014/main" id="{A141BB99-B834-ECAA-682C-6C3344AC6B4A}"/>
              </a:ext>
            </a:extLst>
          </p:cNvPr>
          <p:cNvSpPr/>
          <p:nvPr/>
        </p:nvSpPr>
        <p:spPr>
          <a:xfrm rot="10800000" flipH="1">
            <a:off x="1222500" y="3906685"/>
            <a:ext cx="992667" cy="2408084"/>
          </a:xfrm>
          <a:prstGeom prst="bentArrow">
            <a:avLst>
              <a:gd name="adj1" fmla="val 28176"/>
              <a:gd name="adj2" fmla="val 27110"/>
              <a:gd name="adj3" fmla="val 30274"/>
              <a:gd name="adj4" fmla="val 43750"/>
            </a:avLst>
          </a:prstGeom>
          <a:solidFill>
            <a:schemeClr val="bg2">
              <a:lumMod val="75000"/>
            </a:schemeClr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19" name="Candidate KB Arrow">
            <a:extLst>
              <a:ext uri="{FF2B5EF4-FFF2-40B4-BE49-F238E27FC236}">
                <a16:creationId xmlns:a16="http://schemas.microsoft.com/office/drawing/2014/main" id="{A7717B7E-E103-FC29-A104-7D16283478D5}"/>
              </a:ext>
            </a:extLst>
          </p:cNvPr>
          <p:cNvSpPr/>
          <p:nvPr/>
        </p:nvSpPr>
        <p:spPr>
          <a:xfrm>
            <a:off x="2852671" y="3446736"/>
            <a:ext cx="825500" cy="517565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21" name="Candidate KB Arrow">
            <a:extLst>
              <a:ext uri="{FF2B5EF4-FFF2-40B4-BE49-F238E27FC236}">
                <a16:creationId xmlns:a16="http://schemas.microsoft.com/office/drawing/2014/main" id="{61A5B374-4ED0-2E10-BC5F-B4D0584AF3B9}"/>
              </a:ext>
            </a:extLst>
          </p:cNvPr>
          <p:cNvSpPr/>
          <p:nvPr/>
        </p:nvSpPr>
        <p:spPr>
          <a:xfrm rot="16200000">
            <a:off x="5749796" y="4109770"/>
            <a:ext cx="837215" cy="517565"/>
          </a:xfrm>
          <a:prstGeom prst="rightArrow">
            <a:avLst/>
          </a:prstGeom>
          <a:solidFill>
            <a:schemeClr val="bg2">
              <a:lumMod val="75000"/>
            </a:schemeClr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DE5B074-0A28-FD2E-B7AE-E508BB74C738}"/>
              </a:ext>
            </a:extLst>
          </p:cNvPr>
          <p:cNvGrpSpPr/>
          <p:nvPr/>
        </p:nvGrpSpPr>
        <p:grpSpPr>
          <a:xfrm>
            <a:off x="7564826" y="5647912"/>
            <a:ext cx="1600201" cy="685800"/>
            <a:chOff x="9940667" y="3119808"/>
            <a:chExt cx="1600201" cy="685800"/>
          </a:xfrm>
        </p:grpSpPr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584BBA0C-ED5A-FFA7-4E96-041603D5217D}"/>
                </a:ext>
              </a:extLst>
            </p:cNvPr>
            <p:cNvSpPr/>
            <p:nvPr/>
          </p:nvSpPr>
          <p:spPr>
            <a:xfrm>
              <a:off x="9940667" y="3119808"/>
              <a:ext cx="1600201" cy="685800"/>
            </a:xfrm>
            <a:prstGeom prst="roundRect">
              <a:avLst/>
            </a:prstGeom>
            <a:solidFill>
              <a:schemeClr val="bg1"/>
            </a:solidFill>
            <a:ln w="23813">
              <a:solidFill>
                <a:srgbClr val="C00000"/>
              </a:solidFill>
              <a:prstDash val="sysDot"/>
            </a:ln>
          </p:spPr>
          <p:txBody>
            <a:bodyPr anchor="ctr"/>
            <a:lstStyle/>
            <a:p>
              <a:r>
                <a:rPr lang="en-US" sz="2400" b="1" dirty="0"/>
                <a:t>Critic</a:t>
              </a:r>
              <a:br>
                <a:rPr lang="en-US" sz="2400" b="1" dirty="0"/>
              </a:br>
              <a:r>
                <a:rPr lang="en-US" sz="2400" b="1" dirty="0"/>
                <a:t>LLM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398AD44-F605-428D-F6EF-63CA8A952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10177"/>
            <a:stretch>
              <a:fillRect/>
            </a:stretch>
          </p:blipFill>
          <p:spPr>
            <a:xfrm>
              <a:off x="10735687" y="3134428"/>
              <a:ext cx="730362" cy="656031"/>
            </a:xfrm>
            <a:prstGeom prst="rect">
              <a:avLst/>
            </a:prstGeom>
          </p:spPr>
        </p:pic>
      </p:grpSp>
      <p:sp>
        <p:nvSpPr>
          <p:cNvPr id="36" name="Candidate KB Arrow">
            <a:extLst>
              <a:ext uri="{FF2B5EF4-FFF2-40B4-BE49-F238E27FC236}">
                <a16:creationId xmlns:a16="http://schemas.microsoft.com/office/drawing/2014/main" id="{B093BDD2-3B58-E52E-7FB6-C04FDF71208D}"/>
              </a:ext>
            </a:extLst>
          </p:cNvPr>
          <p:cNvSpPr/>
          <p:nvPr/>
        </p:nvSpPr>
        <p:spPr>
          <a:xfrm>
            <a:off x="6815105" y="5953886"/>
            <a:ext cx="854258" cy="517565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38" name="Candidate KB Arrow">
            <a:extLst>
              <a:ext uri="{FF2B5EF4-FFF2-40B4-BE49-F238E27FC236}">
                <a16:creationId xmlns:a16="http://schemas.microsoft.com/office/drawing/2014/main" id="{1CF23B62-9C8A-8710-FB5B-68E3E00C4802}"/>
              </a:ext>
            </a:extLst>
          </p:cNvPr>
          <p:cNvSpPr/>
          <p:nvPr/>
        </p:nvSpPr>
        <p:spPr>
          <a:xfrm rot="10800000">
            <a:off x="6763369" y="5397291"/>
            <a:ext cx="878793" cy="517565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551200-0553-41C6-17D9-F2CE3D27D7C6}"/>
              </a:ext>
            </a:extLst>
          </p:cNvPr>
          <p:cNvSpPr txBox="1"/>
          <p:nvPr/>
        </p:nvSpPr>
        <p:spPr>
          <a:xfrm>
            <a:off x="2240246" y="5004615"/>
            <a:ext cx="1948388" cy="3745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44054"/>
                </a:solidFill>
                <a:latin typeface="Georgia"/>
                <a:ea typeface="Georgia"/>
                <a:cs typeface="Georgia"/>
              </a:rPr>
              <a:t>WordNet as KB</a:t>
            </a:r>
            <a:endParaRPr lang="LID4096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5104D5-C791-00F1-0161-67E3C3A167EF}"/>
              </a:ext>
            </a:extLst>
          </p:cNvPr>
          <p:cNvSpPr txBox="1"/>
          <p:nvPr/>
        </p:nvSpPr>
        <p:spPr>
          <a:xfrm>
            <a:off x="7896871" y="3308509"/>
            <a:ext cx="1224000" cy="43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344054"/>
                </a:solidFill>
                <a:latin typeface="Georgia"/>
                <a:ea typeface="Georgia"/>
                <a:cs typeface="Georgia"/>
              </a:rPr>
              <a:t>WordNet</a:t>
            </a:r>
            <a:endParaRPr lang="LID4096" sz="16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88DC7C6-8B4A-FE10-2924-0F75FE4054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0565" y="3271571"/>
            <a:ext cx="1180087" cy="52349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FA279C5-0A33-F94E-3429-717BCD2993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60783" y="4484837"/>
            <a:ext cx="1276051" cy="773082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52FDBF59-B0BA-1028-0B39-BED11EE824B5}"/>
              </a:ext>
            </a:extLst>
          </p:cNvPr>
          <p:cNvSpPr txBox="1"/>
          <p:nvPr/>
        </p:nvSpPr>
        <p:spPr>
          <a:xfrm>
            <a:off x="9637397" y="3724982"/>
            <a:ext cx="598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+8</a:t>
            </a:r>
            <a:endParaRPr lang="LID4096" sz="3200" b="1" dirty="0">
              <a:solidFill>
                <a:srgbClr val="C0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133B73-E587-1488-53C1-4BAD599F6676}"/>
              </a:ext>
            </a:extLst>
          </p:cNvPr>
          <p:cNvSpPr txBox="1"/>
          <p:nvPr/>
        </p:nvSpPr>
        <p:spPr>
          <a:xfrm>
            <a:off x="8199923" y="3724982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157</a:t>
            </a:r>
            <a:endParaRPr lang="LID4096" sz="2800" b="1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9D2CDC88-B5CF-E85C-1D9D-A1F5F05452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00530" y="3268788"/>
            <a:ext cx="1180087" cy="523497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26E98FFA-C2BE-8A8A-3A4F-17BA778F5229}"/>
              </a:ext>
            </a:extLst>
          </p:cNvPr>
          <p:cNvSpPr txBox="1"/>
          <p:nvPr/>
        </p:nvSpPr>
        <p:spPr>
          <a:xfrm>
            <a:off x="10930040" y="3073032"/>
            <a:ext cx="1116000" cy="43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1600" b="1" dirty="0">
                <a:solidFill>
                  <a:srgbClr val="344054"/>
                </a:solidFill>
                <a:latin typeface="Georgia"/>
                <a:ea typeface="Georgia"/>
                <a:cs typeface="Georgia"/>
              </a:rPr>
              <a:t>WordNet</a:t>
            </a:r>
            <a:endParaRPr lang="LID4096" sz="16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B10D3A6-7587-4423-262E-04E7AA19A4B4}"/>
              </a:ext>
            </a:extLst>
          </p:cNvPr>
          <p:cNvSpPr txBox="1"/>
          <p:nvPr/>
        </p:nvSpPr>
        <p:spPr>
          <a:xfrm>
            <a:off x="10889769" y="3724982"/>
            <a:ext cx="806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+22</a:t>
            </a:r>
            <a:endParaRPr lang="LID4096" sz="3200" b="1" dirty="0">
              <a:solidFill>
                <a:srgbClr val="C00000"/>
              </a:solidFill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A7734C26-72E1-4292-3627-4BBF833CE5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56339" y="4454784"/>
            <a:ext cx="1276051" cy="773082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3467CA5-EBC6-95FD-A211-36EA468C70E8}"/>
              </a:ext>
            </a:extLst>
          </p:cNvPr>
          <p:cNvSpPr txBox="1"/>
          <p:nvPr/>
        </p:nvSpPr>
        <p:spPr>
          <a:xfrm>
            <a:off x="10985482" y="4382973"/>
            <a:ext cx="1116000" cy="43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 wrap="square" lIns="0" rIns="0" anchor="ctr">
            <a:spAutoFit/>
          </a:bodyPr>
          <a:lstStyle>
            <a:defPPr>
              <a:defRPr lang="nl-NL"/>
            </a:defPPr>
            <a:lvl1pPr algn="ctr">
              <a:defRPr sz="1600" b="1">
                <a:solidFill>
                  <a:srgbClr val="344054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lang="en-US" dirty="0"/>
              <a:t>WordNet</a:t>
            </a:r>
            <a:endParaRPr lang="LID4096" dirty="0"/>
          </a:p>
        </p:txBody>
      </p:sp>
      <p:sp>
        <p:nvSpPr>
          <p:cNvPr id="104" name="Rectangle 32">
            <a:extLst>
              <a:ext uri="{FF2B5EF4-FFF2-40B4-BE49-F238E27FC236}">
                <a16:creationId xmlns:a16="http://schemas.microsoft.com/office/drawing/2014/main" id="{BAEB82D0-7A5C-D396-6AAB-5D43CC86F5F1}"/>
              </a:ext>
            </a:extLst>
          </p:cNvPr>
          <p:cNvSpPr txBox="1"/>
          <p:nvPr/>
        </p:nvSpPr>
        <p:spPr>
          <a:xfrm>
            <a:off x="7788315" y="2944100"/>
            <a:ext cx="1258172" cy="396000"/>
          </a:xfrm>
          <a:prstGeom prst="roundRect">
            <a:avLst/>
          </a:prstGeom>
          <a:solidFill>
            <a:srgbClr val="F4A6A6"/>
          </a:solidFill>
          <a:ln w="16193">
            <a:solidFill>
              <a:srgbClr val="C00000"/>
            </a:solidFill>
          </a:ln>
        </p:spPr>
        <p:txBody>
          <a:bodyPr tIns="0" bIns="0"/>
          <a:lstStyle>
            <a:defPPr>
              <a:defRPr lang="nl-NL"/>
            </a:defPPr>
            <a:lvl1pPr>
              <a:defRPr sz="1600" b="1">
                <a:solidFill>
                  <a:srgbClr val="172238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sz="2400" dirty="0">
                <a:latin typeface="+mn-lt"/>
              </a:rPr>
              <a:t>LangPro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DB9CAF0-77B7-7786-60F0-D8DE39AF4B1F}"/>
              </a:ext>
            </a:extLst>
          </p:cNvPr>
          <p:cNvSpPr txBox="1"/>
          <p:nvPr/>
        </p:nvSpPr>
        <p:spPr>
          <a:xfrm>
            <a:off x="9529868" y="5072891"/>
            <a:ext cx="806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+23</a:t>
            </a:r>
            <a:endParaRPr lang="LID4096" sz="3200" b="1" dirty="0">
              <a:solidFill>
                <a:srgbClr val="C0000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C9DD0A8-70A1-1239-9D42-87B585C11F07}"/>
              </a:ext>
            </a:extLst>
          </p:cNvPr>
          <p:cNvSpPr txBox="1"/>
          <p:nvPr/>
        </p:nvSpPr>
        <p:spPr>
          <a:xfrm>
            <a:off x="10974361" y="5054514"/>
            <a:ext cx="806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+36</a:t>
            </a:r>
            <a:endParaRPr lang="LID4096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0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8" presetClass="emph" presetSubtype="0" fill="hold" nodeType="click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-21600000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5" grpId="0" animBg="1"/>
      <p:bldP spid="76" grpId="0" animBg="1"/>
      <p:bldP spid="77" grpId="0" animBg="1"/>
      <p:bldP spid="82" grpId="0" animBg="1"/>
      <p:bldP spid="83" grpId="0"/>
      <p:bldP spid="84" grpId="0" animBg="1"/>
      <p:bldP spid="85" grpId="0" animBg="1"/>
      <p:bldP spid="86" grpId="0" animBg="1"/>
      <p:bldP spid="87" grpId="0" animBg="1"/>
      <p:bldP spid="91" grpId="0" animBg="1"/>
      <p:bldP spid="99" grpId="0" animBg="1"/>
      <p:bldP spid="115" grpId="0" animBg="1"/>
      <p:bldP spid="17" grpId="0" animBg="1"/>
      <p:bldP spid="19" grpId="0" animBg="1"/>
      <p:bldP spid="21" grpId="0" animBg="1"/>
      <p:bldP spid="36" grpId="0" animBg="1"/>
      <p:bldP spid="38" grpId="0" animBg="1"/>
      <p:bldP spid="40" grpId="0" animBg="1"/>
      <p:bldP spid="42" grpId="0" animBg="1"/>
      <p:bldP spid="68" grpId="0"/>
      <p:bldP spid="70" grpId="0"/>
      <p:bldP spid="93" grpId="0" animBg="1"/>
      <p:bldP spid="96" grpId="0"/>
      <p:bldP spid="102" grpId="0" animBg="1"/>
      <p:bldP spid="104" grpId="0" animBg="1"/>
      <p:bldP spid="112" grpId="0"/>
      <p:bldP spid="1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E87F-AC1A-3172-C89B-D54BE37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0F72B-4D43-6FE2-62F8-7B3CB1CD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1262743"/>
            <a:ext cx="10515600" cy="16836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Only entailment problems and relations</a:t>
            </a:r>
          </a:p>
          <a:p>
            <a:pPr marL="0" indent="0">
              <a:buNone/>
            </a:pPr>
            <a:r>
              <a:rPr lang="en-US" dirty="0"/>
              <a:t>Only 362 problems in the test set</a:t>
            </a:r>
          </a:p>
          <a:p>
            <a:pPr marL="0" indent="0">
              <a:buNone/>
            </a:pPr>
            <a:r>
              <a:rPr lang="en-US" dirty="0"/>
              <a:t>We need more diversity in explanations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C548B-3A73-163D-715E-B3DFA9F1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B50F8-B433-800A-B407-5F8C0682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0BB4D-91FB-AABE-9DCE-70919773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8</a:t>
            </a:fld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524DC-BD10-788C-665B-3B19BFBF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62680">
            <a:off x="7446545" y="745474"/>
            <a:ext cx="4582160" cy="229108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F0571B0-2A95-FC0E-C453-8A0E0E591437}"/>
              </a:ext>
            </a:extLst>
          </p:cNvPr>
          <p:cNvSpPr txBox="1">
            <a:spLocks/>
          </p:cNvSpPr>
          <p:nvPr/>
        </p:nvSpPr>
        <p:spPr>
          <a:xfrm>
            <a:off x="896975" y="3016727"/>
            <a:ext cx="10515600" cy="845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Future research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2BA7C-2BF5-FC2E-18D5-53598C158226}"/>
              </a:ext>
            </a:extLst>
          </p:cNvPr>
          <p:cNvSpPr txBox="1"/>
          <p:nvPr/>
        </p:nvSpPr>
        <p:spPr>
          <a:xfrm>
            <a:off x="896974" y="3833077"/>
            <a:ext cx="8891451" cy="18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Scale up: data size, variation in explanations, labels</a:t>
            </a:r>
          </a:p>
          <a:p>
            <a:r>
              <a:rPr lang="en-US" dirty="0"/>
              <a:t>Go beyond lexical relations in structured explanations</a:t>
            </a:r>
          </a:p>
          <a:p>
            <a:endParaRPr lang="LID4096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705B661-884A-E9B9-1B80-D27460A32EF6}"/>
              </a:ext>
            </a:extLst>
          </p:cNvPr>
          <p:cNvSpPr/>
          <p:nvPr/>
        </p:nvSpPr>
        <p:spPr>
          <a:xfrm>
            <a:off x="970280" y="5092903"/>
            <a:ext cx="4140200" cy="84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A man and a woman walk.</a:t>
            </a:r>
            <a:endParaRPr lang="en-US" sz="2400" dirty="0">
              <a:solidFill>
                <a:srgbClr val="0070C0"/>
              </a:solidFill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H: A woman and a man walk.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13DA89E-FF47-1683-B1B3-094BE452C44A}"/>
              </a:ext>
            </a:extLst>
          </p:cNvPr>
          <p:cNvSpPr/>
          <p:nvPr/>
        </p:nvSpPr>
        <p:spPr>
          <a:xfrm>
            <a:off x="5542280" y="5071817"/>
            <a:ext cx="4140200" cy="845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Not all birds fly</a:t>
            </a:r>
            <a:endParaRPr lang="en-US" sz="2400" dirty="0">
              <a:solidFill>
                <a:srgbClr val="0070C0"/>
              </a:solidFill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H: Some bird doesn’t fly</a:t>
            </a:r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C3CCA5-A4BB-D332-0DD5-AB2E447C1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978" y="264909"/>
            <a:ext cx="1441444" cy="13512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66BD20-1764-4474-A9F7-E7D7A0820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620" y="4808827"/>
            <a:ext cx="3361535" cy="168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6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6E47-2B0A-BAB1-21EE-E1038A41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Tableau in Action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C7D62-0FB6-0E80-0DC2-0D0B74D9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AKBC 2026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8F8C-0C9F-3D2C-3487-9E0F3495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Explaining Textual Entailment with Lexical Entailments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151B7-99F3-BA02-E1B6-5BAB8871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09D6B-D05C-411B-9FD4-A4FD8E9C0886}" type="slidenum">
              <a:rPr lang="nl-NL" smtClean="0"/>
              <a:t>9</a:t>
            </a:fld>
            <a:endParaRPr lang="nl-NL" dirty="0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0C8B0C0-46B0-91FA-3D12-686C486629B5}"/>
              </a:ext>
            </a:extLst>
          </p:cNvPr>
          <p:cNvCxnSpPr/>
          <p:nvPr/>
        </p:nvCxnSpPr>
        <p:spPr>
          <a:xfrm flipH="1">
            <a:off x="2260584" y="3113272"/>
            <a:ext cx="13243" cy="645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9F979F1-252C-4F5F-F3CE-21EC63F70EC5}"/>
              </a:ext>
            </a:extLst>
          </p:cNvPr>
          <p:cNvCxnSpPr/>
          <p:nvPr/>
        </p:nvCxnSpPr>
        <p:spPr>
          <a:xfrm flipH="1">
            <a:off x="2270782" y="2005060"/>
            <a:ext cx="13243" cy="645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0BAFE7F-B8FE-BD54-EB69-7805198503AB}"/>
              </a:ext>
            </a:extLst>
          </p:cNvPr>
          <p:cNvGrpSpPr/>
          <p:nvPr/>
        </p:nvGrpSpPr>
        <p:grpSpPr>
          <a:xfrm>
            <a:off x="8782518" y="1331681"/>
            <a:ext cx="3299027" cy="982812"/>
            <a:chOff x="1828792" y="4712677"/>
            <a:chExt cx="3973335" cy="982812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437A00E-F027-0BA9-E434-2298FD61A203}"/>
                </a:ext>
              </a:extLst>
            </p:cNvPr>
            <p:cNvSpPr txBox="1"/>
            <p:nvPr/>
          </p:nvSpPr>
          <p:spPr>
            <a:xfrm>
              <a:off x="1828793" y="4712677"/>
              <a:ext cx="3973334" cy="982812"/>
            </a:xfrm>
            <a:prstGeom prst="roundRect">
              <a:avLst/>
            </a:prstGeom>
            <a:noFill/>
            <a:ln w="25400">
              <a:solidFill>
                <a:srgbClr val="0070C0"/>
              </a:solidFill>
            </a:ln>
          </p:spPr>
          <p:txBody>
            <a:bodyPr wrap="square" lIns="72000" tIns="36000" rIns="72000" bIns="36000" rtlCol="0">
              <a:spAutoFit/>
            </a:bodyPr>
            <a:lstStyle/>
            <a:p>
              <a:pPr defTabSz="715963">
                <a:tabLst>
                  <a:tab pos="533400" algn="l"/>
                </a:tabLst>
              </a:pPr>
              <a:r>
                <a:rPr lang="en-US" sz="2400" dirty="0"/>
                <a:t>	A lark is not moving</a:t>
              </a:r>
            </a:p>
            <a:p>
              <a:pPr>
                <a:spcBef>
                  <a:spcPts val="600"/>
                </a:spcBef>
                <a:tabLst>
                  <a:tab pos="533400" algn="l"/>
                </a:tabLst>
              </a:pPr>
              <a:r>
                <a:rPr lang="en-US" sz="2400" b="1" dirty="0">
                  <a:effectLst>
                    <a:glow rad="127000">
                      <a:schemeClr val="accent4"/>
                    </a:glow>
                  </a:effectLst>
                </a:rPr>
                <a:t>C</a:t>
              </a:r>
              <a:r>
                <a:rPr lang="en-US" sz="2400" dirty="0"/>
                <a:t>	Every bird is flying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BC4E9001-9A31-DD91-EE36-44E076C399FD}"/>
                </a:ext>
              </a:extLst>
            </p:cNvPr>
            <p:cNvCxnSpPr>
              <a:endCxn id="131" idx="3"/>
            </p:cNvCxnSpPr>
            <p:nvPr/>
          </p:nvCxnSpPr>
          <p:spPr>
            <a:xfrm flipV="1">
              <a:off x="1828792" y="5204083"/>
              <a:ext cx="3973335" cy="10502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37E6852-8C89-42F4-66FA-D146D7AD31E4}"/>
                </a:ext>
              </a:extLst>
            </p:cNvPr>
            <p:cNvCxnSpPr/>
            <p:nvPr/>
          </p:nvCxnSpPr>
          <p:spPr>
            <a:xfrm flipV="1">
              <a:off x="2322576" y="4712678"/>
              <a:ext cx="0" cy="982811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6363DA2-FDFC-7554-43D3-F28203741E22}"/>
              </a:ext>
            </a:extLst>
          </p:cNvPr>
          <p:cNvCxnSpPr/>
          <p:nvPr/>
        </p:nvCxnSpPr>
        <p:spPr>
          <a:xfrm flipH="1">
            <a:off x="3607160" y="5155188"/>
            <a:ext cx="13243" cy="645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9879A7B-3360-9B15-62CB-80BBFCAB122A}"/>
              </a:ext>
            </a:extLst>
          </p:cNvPr>
          <p:cNvGrpSpPr/>
          <p:nvPr/>
        </p:nvGrpSpPr>
        <p:grpSpPr>
          <a:xfrm>
            <a:off x="978950" y="1409362"/>
            <a:ext cx="2791599" cy="713275"/>
            <a:chOff x="978950" y="1133596"/>
            <a:chExt cx="2791599" cy="713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AB20BA1F-E1C0-E25F-4B73-5F931E0A23C9}"/>
                    </a:ext>
                  </a:extLst>
                </p:cNvPr>
                <p:cNvSpPr txBox="1"/>
                <p:nvPr/>
              </p:nvSpPr>
              <p:spPr>
                <a:xfrm>
                  <a:off x="978950" y="1133596"/>
                  <a:ext cx="2791599" cy="340519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𝐥𝐚𝐫𝐤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𝐧𝐨𝐭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𝐛𝐞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𝐦𝐨𝐯𝐞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950" y="1133596"/>
                  <a:ext cx="2791599" cy="340519"/>
                </a:xfrm>
                <a:prstGeom prst="roundRect">
                  <a:avLst/>
                </a:prstGeom>
                <a:blipFill>
                  <a:blip r:embed="rId3"/>
                  <a:stretch>
                    <a:fillRect r="-2174" b="-24138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B3C13FCA-E80C-EEFC-66C5-4C677076DAC9}"/>
                    </a:ext>
                  </a:extLst>
                </p:cNvPr>
                <p:cNvSpPr txBox="1"/>
                <p:nvPr/>
              </p:nvSpPr>
              <p:spPr>
                <a:xfrm>
                  <a:off x="1234674" y="1506352"/>
                  <a:ext cx="2280151" cy="340519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𝐞𝐯𝐞𝐫𝐲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𝐛𝐢𝐫𝐝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𝐛𝐞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𝐟𝐥𝐲</m:t>
                            </m:r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674" y="1506352"/>
                  <a:ext cx="2280151" cy="340519"/>
                </a:xfrm>
                <a:prstGeom prst="roundRect">
                  <a:avLst/>
                </a:prstGeom>
                <a:blipFill>
                  <a:blip r:embed="rId4"/>
                  <a:stretch>
                    <a:fillRect l="-2128" b="-24138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8" name="Picture 137">
            <a:extLst>
              <a:ext uri="{FF2B5EF4-FFF2-40B4-BE49-F238E27FC236}">
                <a16:creationId xmlns:a16="http://schemas.microsoft.com/office/drawing/2014/main" id="{542B29EE-CB3B-68B5-8BDD-DF1ECA87A9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508" y="316289"/>
            <a:ext cx="1549681" cy="1234579"/>
          </a:xfrm>
          <a:prstGeom prst="rect">
            <a:avLst/>
          </a:prstGeom>
        </p:spPr>
      </p:pic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D884FF7-08F4-AA46-2AC3-1184ECB381A3}"/>
              </a:ext>
            </a:extLst>
          </p:cNvPr>
          <p:cNvCxnSpPr/>
          <p:nvPr/>
        </p:nvCxnSpPr>
        <p:spPr>
          <a:xfrm flipH="1">
            <a:off x="2260584" y="3786372"/>
            <a:ext cx="13243" cy="6457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A5DF9B1-D244-9A64-2D2D-BF24B3591D79}"/>
              </a:ext>
            </a:extLst>
          </p:cNvPr>
          <p:cNvGrpSpPr/>
          <p:nvPr/>
        </p:nvGrpSpPr>
        <p:grpSpPr>
          <a:xfrm>
            <a:off x="1675071" y="3533041"/>
            <a:ext cx="1399356" cy="340519"/>
            <a:chOff x="5325492" y="3650975"/>
            <a:chExt cx="1399356" cy="34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7C222655-A66C-F8F4-B1ED-41D9E99A6B14}"/>
                    </a:ext>
                  </a:extLst>
                </p:cNvPr>
                <p:cNvSpPr txBox="1"/>
                <p:nvPr/>
              </p:nvSpPr>
              <p:spPr>
                <a:xfrm>
                  <a:off x="5325492" y="3650975"/>
                  <a:ext cx="1098575" cy="340519"/>
                </a:xfrm>
                <a:prstGeom prst="roundRect">
                  <a:avLst/>
                </a:prstGeom>
                <a:pattFill prst="pct80">
                  <a:fgClr>
                    <a:srgbClr val="E85E5E"/>
                  </a:fgClr>
                  <a:bgClr>
                    <a:schemeClr val="tx1"/>
                  </a:bgClr>
                </a:patt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𝐛𝐞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𝐦𝐨𝐯𝐞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5492" y="3650975"/>
                  <a:ext cx="1098575" cy="340519"/>
                </a:xfrm>
                <a:prstGeom prst="roundRect">
                  <a:avLst/>
                </a:prstGeom>
                <a:blipFill>
                  <a:blip r:embed="rId6"/>
                  <a:stretch>
                    <a:fillRect l="-3297" r="-1648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2323B15B-C10D-CF50-9531-0AFF18C9764D}"/>
                    </a:ext>
                  </a:extLst>
                </p:cNvPr>
                <p:cNvSpPr txBox="1"/>
                <p:nvPr/>
              </p:nvSpPr>
              <p:spPr>
                <a:xfrm>
                  <a:off x="6429027" y="3650975"/>
                  <a:ext cx="295821" cy="334566"/>
                </a:xfrm>
                <a:prstGeom prst="roundRect">
                  <a:avLst/>
                </a:prstGeom>
                <a:solidFill>
                  <a:schemeClr val="bg2"/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9027" y="3650975"/>
                  <a:ext cx="295821" cy="33456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A286E88-6995-A4AF-4925-B8458F878EB2}"/>
              </a:ext>
            </a:extLst>
          </p:cNvPr>
          <p:cNvGrpSpPr/>
          <p:nvPr/>
        </p:nvGrpSpPr>
        <p:grpSpPr>
          <a:xfrm>
            <a:off x="1847106" y="4233352"/>
            <a:ext cx="1055287" cy="340519"/>
            <a:chOff x="5499663" y="4402086"/>
            <a:chExt cx="1055287" cy="34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ACD5290-81C5-756A-E716-DC77AAB05657}"/>
                    </a:ext>
                  </a:extLst>
                </p:cNvPr>
                <p:cNvSpPr txBox="1"/>
                <p:nvPr/>
              </p:nvSpPr>
              <p:spPr>
                <a:xfrm>
                  <a:off x="5499663" y="4402086"/>
                  <a:ext cx="744262" cy="340519"/>
                </a:xfrm>
                <a:prstGeom prst="roundRect">
                  <a:avLst/>
                </a:prstGeom>
                <a:pattFill prst="pct80">
                  <a:fgClr>
                    <a:srgbClr val="E85E5E"/>
                  </a:fgClr>
                  <a:bgClr>
                    <a:schemeClr val="tx1"/>
                  </a:bgClr>
                </a:patt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𝐦𝐨𝐯𝐞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663" y="4402086"/>
                  <a:ext cx="744262" cy="340519"/>
                </a:xfrm>
                <a:prstGeom prst="roundRect">
                  <a:avLst/>
                </a:prstGeom>
                <a:blipFill>
                  <a:blip r:embed="rId8"/>
                  <a:stretch>
                    <a:fillRect l="-1613" r="-322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AFC050AA-74A2-ED52-A805-8968FDBBD41B}"/>
                    </a:ext>
                  </a:extLst>
                </p:cNvPr>
                <p:cNvSpPr txBox="1"/>
                <p:nvPr/>
              </p:nvSpPr>
              <p:spPr>
                <a:xfrm>
                  <a:off x="6259129" y="4402086"/>
                  <a:ext cx="295821" cy="334566"/>
                </a:xfrm>
                <a:prstGeom prst="roundRect">
                  <a:avLst/>
                </a:prstGeom>
                <a:solidFill>
                  <a:schemeClr val="bg2"/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9129" y="4402086"/>
                  <a:ext cx="295821" cy="334566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EDFF779-AA1C-100B-23F5-8F257F150B4F}"/>
              </a:ext>
            </a:extLst>
          </p:cNvPr>
          <p:cNvGrpSpPr/>
          <p:nvPr/>
        </p:nvGrpSpPr>
        <p:grpSpPr>
          <a:xfrm>
            <a:off x="653357" y="4915239"/>
            <a:ext cx="900807" cy="340519"/>
            <a:chOff x="4095057" y="5096673"/>
            <a:chExt cx="900807" cy="34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058BB949-6A06-8AFF-8EEE-8B0CAAF341BD}"/>
                    </a:ext>
                  </a:extLst>
                </p:cNvPr>
                <p:cNvSpPr txBox="1"/>
                <p:nvPr/>
              </p:nvSpPr>
              <p:spPr>
                <a:xfrm>
                  <a:off x="4095057" y="5096673"/>
                  <a:ext cx="604986" cy="340519"/>
                </a:xfrm>
                <a:prstGeom prst="roundRect">
                  <a:avLst/>
                </a:prstGeom>
                <a:pattFill prst="pct80">
                  <a:fgClr>
                    <a:srgbClr val="E85E5E"/>
                  </a:fgClr>
                  <a:bgClr>
                    <a:schemeClr val="tx1"/>
                  </a:bgClr>
                </a:patt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𝐛𝐢𝐫𝐝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5057" y="5096673"/>
                  <a:ext cx="604986" cy="340519"/>
                </a:xfrm>
                <a:prstGeom prst="roundRect">
                  <a:avLst/>
                </a:prstGeom>
                <a:blipFill>
                  <a:blip r:embed="rId10"/>
                  <a:stretch>
                    <a:fillRect l="-5941" r="-792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5A5FDE4-FB54-6FED-2863-22B7A3EEE0D3}"/>
                    </a:ext>
                  </a:extLst>
                </p:cNvPr>
                <p:cNvSpPr txBox="1"/>
                <p:nvPr/>
              </p:nvSpPr>
              <p:spPr>
                <a:xfrm>
                  <a:off x="4700043" y="5099649"/>
                  <a:ext cx="295821" cy="334566"/>
                </a:xfrm>
                <a:prstGeom prst="roundRect">
                  <a:avLst/>
                </a:prstGeom>
                <a:pattFill prst="pct80">
                  <a:fgClr>
                    <a:schemeClr val="accent1">
                      <a:lumMod val="60000"/>
                      <a:lumOff val="40000"/>
                    </a:schemeClr>
                  </a:fgClr>
                  <a:bgClr>
                    <a:schemeClr val="tx1"/>
                  </a:bgClr>
                </a:pattFill>
                <a:ln w="12700"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0043" y="5099649"/>
                  <a:ext cx="295821" cy="334566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ADC1AE9-45F0-69D2-AB4B-DA9CE07F8210}"/>
              </a:ext>
            </a:extLst>
          </p:cNvPr>
          <p:cNvGrpSpPr/>
          <p:nvPr/>
        </p:nvGrpSpPr>
        <p:grpSpPr>
          <a:xfrm>
            <a:off x="3144078" y="4915239"/>
            <a:ext cx="1061728" cy="340519"/>
            <a:chOff x="6585778" y="5096673"/>
            <a:chExt cx="1061728" cy="34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3C2CE8DF-5F4A-D64F-8240-68CC3EB850C0}"/>
                    </a:ext>
                  </a:extLst>
                </p:cNvPr>
                <p:cNvSpPr txBox="1"/>
                <p:nvPr/>
              </p:nvSpPr>
              <p:spPr>
                <a:xfrm>
                  <a:off x="6585778" y="5096673"/>
                  <a:ext cx="765907" cy="340519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𝐛𝐞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𝐟𝐥𝐲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5778" y="5096673"/>
                  <a:ext cx="765907" cy="340519"/>
                </a:xfrm>
                <a:prstGeom prst="roundRect">
                  <a:avLst/>
                </a:prstGeom>
                <a:blipFill>
                  <a:blip r:embed="rId12"/>
                  <a:stretch>
                    <a:fillRect l="-5512" r="-9449" b="-22414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E95DBCE6-6A46-3B7E-A503-E587163261E6}"/>
                    </a:ext>
                  </a:extLst>
                </p:cNvPr>
                <p:cNvSpPr txBox="1"/>
                <p:nvPr/>
              </p:nvSpPr>
              <p:spPr>
                <a:xfrm>
                  <a:off x="7351685" y="5099649"/>
                  <a:ext cx="295821" cy="334566"/>
                </a:xfrm>
                <a:prstGeom prst="roundRect">
                  <a:avLst/>
                </a:prstGeom>
                <a:pattFill prst="pct80">
                  <a:fgClr>
                    <a:schemeClr val="accent1">
                      <a:lumMod val="60000"/>
                      <a:lumOff val="40000"/>
                    </a:schemeClr>
                  </a:fgClr>
                  <a:bgClr>
                    <a:schemeClr val="tx1"/>
                  </a:bgClr>
                </a:pattFill>
                <a:ln w="12700"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1685" y="5099649"/>
                  <a:ext cx="295821" cy="334566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72EB9A0-CA46-5848-060C-568EB1523A17}"/>
              </a:ext>
            </a:extLst>
          </p:cNvPr>
          <p:cNvGrpSpPr/>
          <p:nvPr/>
        </p:nvGrpSpPr>
        <p:grpSpPr>
          <a:xfrm>
            <a:off x="3318926" y="5630471"/>
            <a:ext cx="712033" cy="340519"/>
            <a:chOff x="6935473" y="5532505"/>
            <a:chExt cx="712033" cy="340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8FDFA7D1-CEB0-DA09-B47F-49AA4AA34103}"/>
                    </a:ext>
                  </a:extLst>
                </p:cNvPr>
                <p:cNvSpPr txBox="1"/>
                <p:nvPr/>
              </p:nvSpPr>
              <p:spPr>
                <a:xfrm>
                  <a:off x="6935473" y="5532505"/>
                  <a:ext cx="416213" cy="340519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𝐟𝐥𝐲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5473" y="5532505"/>
                  <a:ext cx="416213" cy="340519"/>
                </a:xfrm>
                <a:prstGeom prst="roundRect">
                  <a:avLst/>
                </a:prstGeom>
                <a:blipFill>
                  <a:blip r:embed="rId14"/>
                  <a:stretch>
                    <a:fillRect l="-14085" r="-16901" b="-24138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565A0256-527A-34CB-71D0-8F32F99BED4D}"/>
                    </a:ext>
                  </a:extLst>
                </p:cNvPr>
                <p:cNvSpPr txBox="1"/>
                <p:nvPr/>
              </p:nvSpPr>
              <p:spPr>
                <a:xfrm>
                  <a:off x="7351685" y="5535481"/>
                  <a:ext cx="295821" cy="334566"/>
                </a:xfrm>
                <a:prstGeom prst="roundRect">
                  <a:avLst/>
                </a:prstGeom>
                <a:solidFill>
                  <a:schemeClr val="bg2"/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1685" y="5535481"/>
                  <a:ext cx="295821" cy="334566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a_T">
            <a:extLst>
              <a:ext uri="{FF2B5EF4-FFF2-40B4-BE49-F238E27FC236}">
                <a16:creationId xmlns:a16="http://schemas.microsoft.com/office/drawing/2014/main" id="{49EBF85C-4723-76E4-82C8-6D0FD0232E7C}"/>
              </a:ext>
            </a:extLst>
          </p:cNvPr>
          <p:cNvGrpSpPr/>
          <p:nvPr/>
        </p:nvGrpSpPr>
        <p:grpSpPr>
          <a:xfrm>
            <a:off x="8402823" y="2754080"/>
            <a:ext cx="819521" cy="1444749"/>
            <a:chOff x="400972" y="1322632"/>
            <a:chExt cx="819521" cy="1444749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1A2CFB4-E6B1-27D2-EC7F-CF5E75EEBB7F}"/>
                </a:ext>
              </a:extLst>
            </p:cNvPr>
            <p:cNvCxnSpPr/>
            <p:nvPr/>
          </p:nvCxnSpPr>
          <p:spPr>
            <a:xfrm flipH="1">
              <a:off x="776806" y="1548851"/>
              <a:ext cx="13243" cy="6457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759EC33E-B3A2-CC96-F69E-5F13811EFF6B}"/>
                </a:ext>
              </a:extLst>
            </p:cNvPr>
            <p:cNvGrpSpPr/>
            <p:nvPr/>
          </p:nvGrpSpPr>
          <p:grpSpPr>
            <a:xfrm>
              <a:off x="550052" y="2027314"/>
              <a:ext cx="526838" cy="334566"/>
              <a:chOff x="5976016" y="2458026"/>
              <a:chExt cx="526838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DDE2C64A-D436-AFBE-60A2-40DEA3633A36}"/>
                      </a:ext>
                    </a:extLst>
                  </p:cNvPr>
                  <p:cNvSpPr txBox="1"/>
                  <p:nvPr/>
                </p:nvSpPr>
                <p:spPr>
                  <a:xfrm>
                    <a:off x="5976016" y="2458026"/>
                    <a:ext cx="220132" cy="328613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6016" y="2458026"/>
                    <a:ext cx="220132" cy="328613"/>
                  </a:xfrm>
                  <a:prstGeom prst="roundRect">
                    <a:avLst/>
                  </a:prstGeom>
                  <a:blipFill>
                    <a:blip r:embed="rId16"/>
                    <a:stretch>
                      <a:fillRect l="-15789" r="-18421" b="-178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30D64FF7-FA97-F64F-4DAD-151D2EEADA14}"/>
                      </a:ext>
                    </a:extLst>
                  </p:cNvPr>
                  <p:cNvSpPr txBox="1"/>
                  <p:nvPr/>
                </p:nvSpPr>
                <p:spPr>
                  <a:xfrm>
                    <a:off x="6207033" y="2458026"/>
                    <a:ext cx="295821" cy="334566"/>
                  </a:xfrm>
                  <a:prstGeom prst="round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033" y="2458026"/>
                    <a:ext cx="295821" cy="334566"/>
                  </a:xfrm>
                  <a:prstGeom prst="round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D4025ACE-2766-4212-6B64-72ECA2AC4A49}"/>
                </a:ext>
              </a:extLst>
            </p:cNvPr>
            <p:cNvGrpSpPr/>
            <p:nvPr/>
          </p:nvGrpSpPr>
          <p:grpSpPr>
            <a:xfrm>
              <a:off x="507214" y="2432815"/>
              <a:ext cx="552427" cy="334566"/>
              <a:chOff x="6529478" y="2845435"/>
              <a:chExt cx="552427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id="{41213349-572A-4F0C-EE8F-1593B54C3245}"/>
                      </a:ext>
                    </a:extLst>
                  </p:cNvPr>
                  <p:cNvSpPr txBox="1"/>
                  <p:nvPr/>
                </p:nvSpPr>
                <p:spPr>
                  <a:xfrm>
                    <a:off x="6529478" y="2848412"/>
                    <a:ext cx="250210" cy="328613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9478" y="2848412"/>
                    <a:ext cx="250210" cy="328613"/>
                  </a:xfrm>
                  <a:prstGeom prst="roundRect">
                    <a:avLst/>
                  </a:prstGeom>
                  <a:blipFill>
                    <a:blip r:embed="rId18"/>
                    <a:stretch>
                      <a:fillRect l="-16279" r="-11628" b="-178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72E6903E-5622-5990-47CD-4C6CD00FC685}"/>
                      </a:ext>
                    </a:extLst>
                  </p:cNvPr>
                  <p:cNvSpPr txBox="1"/>
                  <p:nvPr/>
                </p:nvSpPr>
                <p:spPr>
                  <a:xfrm>
                    <a:off x="6786084" y="2845435"/>
                    <a:ext cx="295821" cy="334566"/>
                  </a:xfrm>
                  <a:prstGeom prst="round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6084" y="2845435"/>
                    <a:ext cx="295821" cy="334566"/>
                  </a:xfrm>
                  <a:prstGeom prst="round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67F99320-7E9A-34B9-B074-4CC7377AF232}"/>
                    </a:ext>
                  </a:extLst>
                </p:cNvPr>
                <p:cNvSpPr txBox="1"/>
                <p:nvPr/>
              </p:nvSpPr>
              <p:spPr>
                <a:xfrm>
                  <a:off x="400972" y="1322632"/>
                  <a:ext cx="819521" cy="340519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972" y="1322632"/>
                  <a:ext cx="819521" cy="340519"/>
                </a:xfrm>
                <a:prstGeom prst="roundRect">
                  <a:avLst/>
                </a:prstGeom>
                <a:blipFill>
                  <a:blip r:embed="rId20"/>
                  <a:stretch>
                    <a:fillRect r="-294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406AD61-1695-C2FD-7E86-344574D4D454}"/>
              </a:ext>
            </a:extLst>
          </p:cNvPr>
          <p:cNvGrpSpPr/>
          <p:nvPr/>
        </p:nvGrpSpPr>
        <p:grpSpPr>
          <a:xfrm>
            <a:off x="1344792" y="2428580"/>
            <a:ext cx="2059914" cy="746020"/>
            <a:chOff x="1344792" y="2152814"/>
            <a:chExt cx="2059914" cy="746020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8B0DE372-2E76-C643-46DA-31FFB12D36E1}"/>
                </a:ext>
              </a:extLst>
            </p:cNvPr>
            <p:cNvGrpSpPr/>
            <p:nvPr/>
          </p:nvGrpSpPr>
          <p:grpSpPr>
            <a:xfrm>
              <a:off x="1925441" y="2152814"/>
              <a:ext cx="898617" cy="340519"/>
              <a:chOff x="5604237" y="2458026"/>
              <a:chExt cx="898617" cy="3405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5" name="TextBox 174">
                    <a:extLst>
                      <a:ext uri="{FF2B5EF4-FFF2-40B4-BE49-F238E27FC236}">
                        <a16:creationId xmlns:a16="http://schemas.microsoft.com/office/drawing/2014/main" id="{812BD01F-9FE0-1C5B-3C07-CB3B2A8EBE09}"/>
                      </a:ext>
                    </a:extLst>
                  </p:cNvPr>
                  <p:cNvSpPr txBox="1"/>
                  <p:nvPr/>
                </p:nvSpPr>
                <p:spPr>
                  <a:xfrm>
                    <a:off x="5604237" y="2458026"/>
                    <a:ext cx="591911" cy="340519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𝐥𝐚𝐫𝐤</m:t>
                          </m:r>
                        </m:oMath>
                      </m:oMathPara>
                    </a14:m>
                    <a:endParaRPr lang="en-US" sz="2000" b="1" dirty="0"/>
                  </a:p>
                </p:txBody>
              </p:sp>
            </mc:Choice>
            <mc:Fallback xmlns="">
              <p:sp>
                <p:nvSpPr>
                  <p:cNvPr id="53" name="TextBox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4237" y="2458026"/>
                    <a:ext cx="591911" cy="340519"/>
                  </a:xfrm>
                  <a:prstGeom prst="roundRect">
                    <a:avLst/>
                  </a:prstGeom>
                  <a:blipFill>
                    <a:blip r:embed="rId21"/>
                    <a:stretch>
                      <a:fillRect l="-6061" r="-7071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TextBox 175">
                    <a:extLst>
                      <a:ext uri="{FF2B5EF4-FFF2-40B4-BE49-F238E27FC236}">
                        <a16:creationId xmlns:a16="http://schemas.microsoft.com/office/drawing/2014/main" id="{4CA0D875-29C1-1359-B13A-B3C0EE4CF749}"/>
                      </a:ext>
                    </a:extLst>
                  </p:cNvPr>
                  <p:cNvSpPr txBox="1"/>
                  <p:nvPr/>
                </p:nvSpPr>
                <p:spPr>
                  <a:xfrm>
                    <a:off x="6207033" y="2458026"/>
                    <a:ext cx="295821" cy="334566"/>
                  </a:xfrm>
                  <a:prstGeom prst="round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033" y="2458026"/>
                    <a:ext cx="295821" cy="334566"/>
                  </a:xfrm>
                  <a:prstGeom prst="round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E1F580CF-59D6-8F1F-2F68-F059757A5AAF}"/>
                </a:ext>
              </a:extLst>
            </p:cNvPr>
            <p:cNvGrpSpPr/>
            <p:nvPr/>
          </p:nvGrpSpPr>
          <p:grpSpPr>
            <a:xfrm>
              <a:off x="1344792" y="2558315"/>
              <a:ext cx="2059914" cy="340519"/>
              <a:chOff x="5021991" y="2845435"/>
              <a:chExt cx="2059914" cy="3405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EF35F007-161E-EC57-B47F-F9B9E754F6D9}"/>
                      </a:ext>
                    </a:extLst>
                  </p:cNvPr>
                  <p:cNvSpPr txBox="1"/>
                  <p:nvPr/>
                </p:nvSpPr>
                <p:spPr>
                  <a:xfrm>
                    <a:off x="5021991" y="2845435"/>
                    <a:ext cx="1757697" cy="340519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𝐧𝐨𝐭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𝐛𝐞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𝐦𝐨𝐯𝐞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21991" y="2845435"/>
                    <a:ext cx="1757697" cy="340519"/>
                  </a:xfrm>
                  <a:prstGeom prst="roundRect">
                    <a:avLst/>
                  </a:prstGeom>
                  <a:blipFill>
                    <a:blip r:embed="rId23"/>
                    <a:stretch>
                      <a:fillRect l="-1724" r="-4138" b="-2241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TextBox 173">
                    <a:extLst>
                      <a:ext uri="{FF2B5EF4-FFF2-40B4-BE49-F238E27FC236}">
                        <a16:creationId xmlns:a16="http://schemas.microsoft.com/office/drawing/2014/main" id="{9EF699AC-9A92-22A5-CDDC-96E05945F3D0}"/>
                      </a:ext>
                    </a:extLst>
                  </p:cNvPr>
                  <p:cNvSpPr txBox="1"/>
                  <p:nvPr/>
                </p:nvSpPr>
                <p:spPr>
                  <a:xfrm>
                    <a:off x="6786084" y="2845435"/>
                    <a:ext cx="295821" cy="334566"/>
                  </a:xfrm>
                  <a:prstGeom prst="round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57" name="TextBox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6084" y="2845435"/>
                    <a:ext cx="295821" cy="334566"/>
                  </a:xfrm>
                  <a:prstGeom prst="round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77" name="not_T">
            <a:extLst>
              <a:ext uri="{FF2B5EF4-FFF2-40B4-BE49-F238E27FC236}">
                <a16:creationId xmlns:a16="http://schemas.microsoft.com/office/drawing/2014/main" id="{C862F79F-EF39-81ED-00CE-98AE94A0E48A}"/>
              </a:ext>
            </a:extLst>
          </p:cNvPr>
          <p:cNvGrpSpPr/>
          <p:nvPr/>
        </p:nvGrpSpPr>
        <p:grpSpPr>
          <a:xfrm>
            <a:off x="10109090" y="2808405"/>
            <a:ext cx="1130421" cy="1025649"/>
            <a:chOff x="394172" y="3206016"/>
            <a:chExt cx="1130421" cy="1025649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46F71484-1061-6E75-43BB-C19E1BE3A9EF}"/>
                </a:ext>
              </a:extLst>
            </p:cNvPr>
            <p:cNvCxnSpPr/>
            <p:nvPr/>
          </p:nvCxnSpPr>
          <p:spPr>
            <a:xfrm flipH="1">
              <a:off x="952761" y="3546535"/>
              <a:ext cx="13243" cy="6457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6769E018-0C8A-83EF-178D-D4BF002344BB}"/>
                </a:ext>
              </a:extLst>
            </p:cNvPr>
            <p:cNvGrpSpPr/>
            <p:nvPr/>
          </p:nvGrpSpPr>
          <p:grpSpPr>
            <a:xfrm>
              <a:off x="394172" y="3206016"/>
              <a:ext cx="1130421" cy="340519"/>
              <a:chOff x="394172" y="3206016"/>
              <a:chExt cx="1130421" cy="3405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73F47018-B7EC-BC54-57EE-A8B48384DADD}"/>
                      </a:ext>
                    </a:extLst>
                  </p:cNvPr>
                  <p:cNvSpPr txBox="1"/>
                  <p:nvPr/>
                </p:nvSpPr>
                <p:spPr>
                  <a:xfrm>
                    <a:off x="394172" y="3206016"/>
                    <a:ext cx="834040" cy="340519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𝐧𝐨𝐭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3" name="TextBox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172" y="3206016"/>
                    <a:ext cx="834040" cy="340519"/>
                  </a:xfrm>
                  <a:prstGeom prst="roundRect">
                    <a:avLst/>
                  </a:prstGeom>
                  <a:blipFill>
                    <a:blip r:embed="rId25"/>
                    <a:stretch>
                      <a:fillRect r="-3597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4009DCF7-6980-3C8A-C45C-2E733934D935}"/>
                      </a:ext>
                    </a:extLst>
                  </p:cNvPr>
                  <p:cNvSpPr txBox="1"/>
                  <p:nvPr/>
                </p:nvSpPr>
                <p:spPr>
                  <a:xfrm>
                    <a:off x="1228772" y="3211969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8772" y="3211969"/>
                    <a:ext cx="295821" cy="334566"/>
                  </a:xfrm>
                  <a:prstGeom prst="roundRect">
                    <a:avLst/>
                  </a:prstGeom>
                  <a:blipFill>
                    <a:blip r:embed="rId26"/>
                    <a:stretch>
                      <a:fillRect r="-3200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0EDFE70B-0EC9-9F4E-6B3A-B1350FAA4259}"/>
                </a:ext>
              </a:extLst>
            </p:cNvPr>
            <p:cNvGrpSpPr/>
            <p:nvPr/>
          </p:nvGrpSpPr>
          <p:grpSpPr>
            <a:xfrm>
              <a:off x="681918" y="3897099"/>
              <a:ext cx="554929" cy="334566"/>
              <a:chOff x="511669" y="4430499"/>
              <a:chExt cx="554929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1BBEA891-6DA5-0B1F-BFBC-580A0048D8DF}"/>
                      </a:ext>
                    </a:extLst>
                  </p:cNvPr>
                  <p:cNvSpPr txBox="1"/>
                  <p:nvPr/>
                </p:nvSpPr>
                <p:spPr>
                  <a:xfrm>
                    <a:off x="511669" y="4431988"/>
                    <a:ext cx="253474" cy="331589"/>
                  </a:xfrm>
                  <a:prstGeom prst="roundRect">
                    <a:avLst/>
                  </a:prstGeom>
                  <a:pattFill prst="pct80">
                    <a:fgClr>
                      <a:srgbClr val="E85E5E"/>
                    </a:fgClr>
                    <a:bgClr>
                      <a:schemeClr val="tx1"/>
                    </a:bgClr>
                  </a:patt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64" name="TextBox 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669" y="4431988"/>
                    <a:ext cx="253474" cy="331589"/>
                  </a:xfrm>
                  <a:prstGeom prst="roundRect">
                    <a:avLst/>
                  </a:prstGeom>
                  <a:blipFill>
                    <a:blip r:embed="rId27"/>
                    <a:stretch>
                      <a:fillRect l="-16279" r="-13953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455B9506-4BBF-7CB4-B5B3-BFBF17247FCD}"/>
                      </a:ext>
                    </a:extLst>
                  </p:cNvPr>
                  <p:cNvSpPr txBox="1"/>
                  <p:nvPr/>
                </p:nvSpPr>
                <p:spPr>
                  <a:xfrm>
                    <a:off x="770777" y="4430499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777" y="4430499"/>
                    <a:ext cx="295821" cy="334566"/>
                  </a:xfrm>
                  <a:prstGeom prst="roundRect">
                    <a:avLst/>
                  </a:prstGeom>
                  <a:blipFill>
                    <a:blip r:embed="rId28"/>
                    <a:stretch>
                      <a:fillRect r="-31373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5" name="every_T">
            <a:extLst>
              <a:ext uri="{FF2B5EF4-FFF2-40B4-BE49-F238E27FC236}">
                <a16:creationId xmlns:a16="http://schemas.microsoft.com/office/drawing/2014/main" id="{1C7BBBBF-6B18-643B-52E7-705B3C163CE6}"/>
              </a:ext>
            </a:extLst>
          </p:cNvPr>
          <p:cNvGrpSpPr/>
          <p:nvPr/>
        </p:nvGrpSpPr>
        <p:grpSpPr>
          <a:xfrm>
            <a:off x="4901736" y="1474930"/>
            <a:ext cx="1896625" cy="1026843"/>
            <a:chOff x="2072013" y="1317344"/>
            <a:chExt cx="1896625" cy="1026843"/>
          </a:xfrm>
        </p:grpSpPr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A884018-8FCB-430F-BFE9-60BBEF3B8611}"/>
                </a:ext>
              </a:extLst>
            </p:cNvPr>
            <p:cNvCxnSpPr>
              <a:stCxn id="190" idx="2"/>
              <a:endCxn id="192" idx="3"/>
            </p:cNvCxnSpPr>
            <p:nvPr/>
          </p:nvCxnSpPr>
          <p:spPr>
            <a:xfrm>
              <a:off x="3066590" y="1657863"/>
              <a:ext cx="902048" cy="5190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6501E8D7-2EE5-DD70-3CD1-7D52B324D640}"/>
                </a:ext>
              </a:extLst>
            </p:cNvPr>
            <p:cNvCxnSpPr>
              <a:stCxn id="190" idx="2"/>
              <a:endCxn id="193" idx="1"/>
            </p:cNvCxnSpPr>
            <p:nvPr/>
          </p:nvCxnSpPr>
          <p:spPr>
            <a:xfrm flipH="1">
              <a:off x="2072013" y="1657863"/>
              <a:ext cx="994577" cy="5160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C7BF1BBD-6054-36A8-DF9B-8C7540D1A123}"/>
                </a:ext>
              </a:extLst>
            </p:cNvPr>
            <p:cNvGrpSpPr/>
            <p:nvPr/>
          </p:nvGrpSpPr>
          <p:grpSpPr>
            <a:xfrm>
              <a:off x="2072013" y="2009621"/>
              <a:ext cx="526838" cy="334566"/>
              <a:chOff x="5976016" y="2458026"/>
              <a:chExt cx="526838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C6F5199C-C022-B169-3366-6F4E7121180E}"/>
                      </a:ext>
                    </a:extLst>
                  </p:cNvPr>
                  <p:cNvSpPr txBox="1"/>
                  <p:nvPr/>
                </p:nvSpPr>
                <p:spPr>
                  <a:xfrm>
                    <a:off x="5976016" y="2458026"/>
                    <a:ext cx="220132" cy="328613"/>
                  </a:xfrm>
                  <a:prstGeom prst="roundRect">
                    <a:avLst/>
                  </a:prstGeom>
                  <a:pattFill prst="pct80">
                    <a:fgClr>
                      <a:srgbClr val="E85E5E"/>
                    </a:fgClr>
                    <a:bgClr>
                      <a:schemeClr val="tx1"/>
                    </a:bgClr>
                  </a:patt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80" name="TextBox 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6016" y="2458026"/>
                    <a:ext cx="220132" cy="328613"/>
                  </a:xfrm>
                  <a:prstGeom prst="roundRect">
                    <a:avLst/>
                  </a:prstGeom>
                  <a:blipFill>
                    <a:blip r:embed="rId29"/>
                    <a:stretch>
                      <a:fillRect l="-18421" r="-15789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784368CD-D1E2-25F0-AE6F-E8D28AB4A2A9}"/>
                      </a:ext>
                    </a:extLst>
                  </p:cNvPr>
                  <p:cNvSpPr txBox="1"/>
                  <p:nvPr/>
                </p:nvSpPr>
                <p:spPr>
                  <a:xfrm>
                    <a:off x="6207033" y="2458026"/>
                    <a:ext cx="295821" cy="334566"/>
                  </a:xfrm>
                  <a:prstGeom prst="roundRect">
                    <a:avLst/>
                  </a:prstGeom>
                  <a:pattFill prst="pct80">
                    <a:fgClr>
                      <a:schemeClr val="accent1">
                        <a:lumMod val="60000"/>
                        <a:lumOff val="40000"/>
                      </a:schemeClr>
                    </a:fgClr>
                    <a:bgClr>
                      <a:schemeClr val="tx1"/>
                    </a:bgClr>
                  </a:patt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81" name="TextBox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7033" y="2458026"/>
                    <a:ext cx="295821" cy="334566"/>
                  </a:xfrm>
                  <a:prstGeom prst="round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84BEC41-903B-F688-CB89-808494F165C4}"/>
                </a:ext>
              </a:extLst>
            </p:cNvPr>
            <p:cNvGrpSpPr/>
            <p:nvPr/>
          </p:nvGrpSpPr>
          <p:grpSpPr>
            <a:xfrm>
              <a:off x="3416211" y="2009621"/>
              <a:ext cx="552427" cy="334566"/>
              <a:chOff x="7916514" y="2439934"/>
              <a:chExt cx="552427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04A5C483-1095-AA94-9C2D-D492454B2F72}"/>
                      </a:ext>
                    </a:extLst>
                  </p:cNvPr>
                  <p:cNvSpPr txBox="1"/>
                  <p:nvPr/>
                </p:nvSpPr>
                <p:spPr>
                  <a:xfrm>
                    <a:off x="7916514" y="2442911"/>
                    <a:ext cx="250210" cy="328613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78" name="TextBox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6514" y="2442911"/>
                    <a:ext cx="250210" cy="328613"/>
                  </a:xfrm>
                  <a:prstGeom prst="roundRect">
                    <a:avLst/>
                  </a:prstGeom>
                  <a:blipFill>
                    <a:blip r:embed="rId31"/>
                    <a:stretch>
                      <a:fillRect l="-16279" r="-11628" b="-178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id="{FEFC3E77-F5C9-26BB-33CE-A1743EE2919E}"/>
                      </a:ext>
                    </a:extLst>
                  </p:cNvPr>
                  <p:cNvSpPr txBox="1"/>
                  <p:nvPr/>
                </p:nvSpPr>
                <p:spPr>
                  <a:xfrm>
                    <a:off x="8173120" y="2439934"/>
                    <a:ext cx="295821" cy="334566"/>
                  </a:xfrm>
                  <a:prstGeom prst="roundRect">
                    <a:avLst/>
                  </a:prstGeom>
                  <a:pattFill prst="pct80">
                    <a:fgClr>
                      <a:schemeClr val="accent1">
                        <a:lumMod val="60000"/>
                        <a:lumOff val="40000"/>
                      </a:schemeClr>
                    </a:fgClr>
                    <a:bgClr>
                      <a:schemeClr val="tx1"/>
                    </a:bgClr>
                  </a:patt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79" name="TextBox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3120" y="2439934"/>
                    <a:ext cx="295821" cy="334566"/>
                  </a:xfrm>
                  <a:prstGeom prst="round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223B0331-0A4F-D7DF-F6AC-A1007B7170EC}"/>
                    </a:ext>
                  </a:extLst>
                </p:cNvPr>
                <p:cNvSpPr txBox="1"/>
                <p:nvPr/>
              </p:nvSpPr>
              <p:spPr>
                <a:xfrm>
                  <a:off x="2364783" y="1317344"/>
                  <a:ext cx="1403614" cy="340519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𝐞𝐯𝐞𝐫𝐲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4783" y="1317344"/>
                  <a:ext cx="1403614" cy="340519"/>
                </a:xfrm>
                <a:prstGeom prst="roundRect">
                  <a:avLst/>
                </a:prstGeom>
                <a:blipFill>
                  <a:blip r:embed="rId33"/>
                  <a:stretch>
                    <a:fillRect b="-1551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be_T">
            <a:extLst>
              <a:ext uri="{FF2B5EF4-FFF2-40B4-BE49-F238E27FC236}">
                <a16:creationId xmlns:a16="http://schemas.microsoft.com/office/drawing/2014/main" id="{84D6E314-5651-AE1C-60DE-D9BCC00C771A}"/>
              </a:ext>
            </a:extLst>
          </p:cNvPr>
          <p:cNvGrpSpPr/>
          <p:nvPr/>
        </p:nvGrpSpPr>
        <p:grpSpPr>
          <a:xfrm>
            <a:off x="4643046" y="3135396"/>
            <a:ext cx="1015534" cy="1025649"/>
            <a:chOff x="509059" y="3206016"/>
            <a:chExt cx="1015534" cy="1025649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38E3ED1-599E-A26A-FDE4-124B2AC15897}"/>
                </a:ext>
              </a:extLst>
            </p:cNvPr>
            <p:cNvCxnSpPr/>
            <p:nvPr/>
          </p:nvCxnSpPr>
          <p:spPr>
            <a:xfrm flipH="1">
              <a:off x="952761" y="3546535"/>
              <a:ext cx="13243" cy="6457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C79E69C0-E005-5BF3-1221-B79215C1A386}"/>
                </a:ext>
              </a:extLst>
            </p:cNvPr>
            <p:cNvGrpSpPr/>
            <p:nvPr/>
          </p:nvGrpSpPr>
          <p:grpSpPr>
            <a:xfrm>
              <a:off x="509059" y="3206016"/>
              <a:ext cx="1015534" cy="340519"/>
              <a:chOff x="509059" y="3206016"/>
              <a:chExt cx="1015534" cy="3405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TextBox 200">
                    <a:extLst>
                      <a:ext uri="{FF2B5EF4-FFF2-40B4-BE49-F238E27FC236}">
                        <a16:creationId xmlns:a16="http://schemas.microsoft.com/office/drawing/2014/main" id="{60800BD1-8FBD-0103-A5F9-7D3F2978D44E}"/>
                      </a:ext>
                    </a:extLst>
                  </p:cNvPr>
                  <p:cNvSpPr txBox="1"/>
                  <p:nvPr/>
                </p:nvSpPr>
                <p:spPr>
                  <a:xfrm>
                    <a:off x="509059" y="3206016"/>
                    <a:ext cx="719153" cy="340519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𝐛𝐞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95" name="TextBox 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9059" y="3206016"/>
                    <a:ext cx="719153" cy="340519"/>
                  </a:xfrm>
                  <a:prstGeom prst="roundRect">
                    <a:avLst/>
                  </a:prstGeom>
                  <a:blipFill>
                    <a:blip r:embed="rId34"/>
                    <a:stretch>
                      <a:fillRect r="-4167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77CC9B15-47E5-E6E3-7504-7A7C6174CA2D}"/>
                      </a:ext>
                    </a:extLst>
                  </p:cNvPr>
                  <p:cNvSpPr txBox="1"/>
                  <p:nvPr/>
                </p:nvSpPr>
                <p:spPr>
                  <a:xfrm>
                    <a:off x="1228772" y="3211969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96" name="TextBox 9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8772" y="3211969"/>
                    <a:ext cx="295821" cy="334566"/>
                  </a:xfrm>
                  <a:prstGeom prst="roundRect">
                    <a:avLst/>
                  </a:prstGeom>
                  <a:blipFill>
                    <a:blip r:embed="rId35"/>
                    <a:stretch>
                      <a:fillRect r="-31373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07C041F1-5C7B-6402-971B-3E08A2CE4767}"/>
                </a:ext>
              </a:extLst>
            </p:cNvPr>
            <p:cNvGrpSpPr/>
            <p:nvPr/>
          </p:nvGrpSpPr>
          <p:grpSpPr>
            <a:xfrm>
              <a:off x="681918" y="3897099"/>
              <a:ext cx="554929" cy="334566"/>
              <a:chOff x="511669" y="4430499"/>
              <a:chExt cx="554929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FD639EA2-A1EB-5B73-3E64-912D0B93300C}"/>
                      </a:ext>
                    </a:extLst>
                  </p:cNvPr>
                  <p:cNvSpPr txBox="1"/>
                  <p:nvPr/>
                </p:nvSpPr>
                <p:spPr>
                  <a:xfrm>
                    <a:off x="511669" y="4431988"/>
                    <a:ext cx="253474" cy="331589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93" name="TextBox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669" y="4431988"/>
                    <a:ext cx="253474" cy="331589"/>
                  </a:xfrm>
                  <a:prstGeom prst="roundRect">
                    <a:avLst/>
                  </a:prstGeom>
                  <a:blipFill>
                    <a:blip r:embed="rId36"/>
                    <a:stretch>
                      <a:fillRect l="-13636" r="-13636" b="-178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194499AB-2184-36CE-48A4-118D1CD31E6B}"/>
                      </a:ext>
                    </a:extLst>
                  </p:cNvPr>
                  <p:cNvSpPr txBox="1"/>
                  <p:nvPr/>
                </p:nvSpPr>
                <p:spPr>
                  <a:xfrm>
                    <a:off x="770777" y="4430499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94" name="TextBox 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777" y="4430499"/>
                    <a:ext cx="295821" cy="334566"/>
                  </a:xfrm>
                  <a:prstGeom prst="roundRect">
                    <a:avLst/>
                  </a:prstGeom>
                  <a:blipFill>
                    <a:blip r:embed="rId37"/>
                    <a:stretch>
                      <a:fillRect r="-3400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3" name="be_F">
            <a:extLst>
              <a:ext uri="{FF2B5EF4-FFF2-40B4-BE49-F238E27FC236}">
                <a16:creationId xmlns:a16="http://schemas.microsoft.com/office/drawing/2014/main" id="{C4778D47-BCB7-9F89-B300-23154D8733AF}"/>
              </a:ext>
            </a:extLst>
          </p:cNvPr>
          <p:cNvGrpSpPr/>
          <p:nvPr/>
        </p:nvGrpSpPr>
        <p:grpSpPr>
          <a:xfrm>
            <a:off x="5941299" y="3135396"/>
            <a:ext cx="1015534" cy="1025649"/>
            <a:chOff x="509059" y="3206016"/>
            <a:chExt cx="1015534" cy="1025649"/>
          </a:xfrm>
        </p:grpSpPr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730F9381-8F20-0722-F6B0-EE069DF38128}"/>
                </a:ext>
              </a:extLst>
            </p:cNvPr>
            <p:cNvCxnSpPr/>
            <p:nvPr/>
          </p:nvCxnSpPr>
          <p:spPr>
            <a:xfrm flipH="1">
              <a:off x="952761" y="3546535"/>
              <a:ext cx="13243" cy="6457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D596E4E9-33ED-DD9D-BB78-E146E687776D}"/>
                </a:ext>
              </a:extLst>
            </p:cNvPr>
            <p:cNvGrpSpPr/>
            <p:nvPr/>
          </p:nvGrpSpPr>
          <p:grpSpPr>
            <a:xfrm>
              <a:off x="509059" y="3206016"/>
              <a:ext cx="1015534" cy="340519"/>
              <a:chOff x="509059" y="3206016"/>
              <a:chExt cx="1015534" cy="34051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65883B28-6313-2DE5-C748-250ACC4C6651}"/>
                      </a:ext>
                    </a:extLst>
                  </p:cNvPr>
                  <p:cNvSpPr txBox="1"/>
                  <p:nvPr/>
                </p:nvSpPr>
                <p:spPr>
                  <a:xfrm>
                    <a:off x="509059" y="3206016"/>
                    <a:ext cx="719153" cy="340519"/>
                  </a:xfrm>
                  <a:prstGeom prst="roundRect">
                    <a:avLst/>
                  </a:prstGeom>
                  <a:pattFill prst="pct80">
                    <a:fgClr>
                      <a:srgbClr val="E85E5E"/>
                    </a:fgClr>
                    <a:bgClr>
                      <a:schemeClr val="tx1"/>
                    </a:bgClr>
                  </a:patt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𝐛𝐞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3" name="TextBox 10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9059" y="3206016"/>
                    <a:ext cx="719153" cy="340519"/>
                  </a:xfrm>
                  <a:prstGeom prst="roundRect">
                    <a:avLst/>
                  </a:prstGeom>
                  <a:blipFill>
                    <a:blip r:embed="rId38"/>
                    <a:stretch>
                      <a:fillRect r="-4167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0F1F4003-3E90-B59A-EFF3-596CE4F59A33}"/>
                      </a:ext>
                    </a:extLst>
                  </p:cNvPr>
                  <p:cNvSpPr txBox="1"/>
                  <p:nvPr/>
                </p:nvSpPr>
                <p:spPr>
                  <a:xfrm>
                    <a:off x="1228772" y="3211969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04" name="TextBox 1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8772" y="3211969"/>
                    <a:ext cx="295821" cy="334566"/>
                  </a:xfrm>
                  <a:prstGeom prst="roundRect">
                    <a:avLst/>
                  </a:prstGeom>
                  <a:blipFill>
                    <a:blip r:embed="rId39"/>
                    <a:stretch>
                      <a:fillRect r="-31373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C7F9348A-F235-D457-1A94-B61EAE445543}"/>
                </a:ext>
              </a:extLst>
            </p:cNvPr>
            <p:cNvGrpSpPr/>
            <p:nvPr/>
          </p:nvGrpSpPr>
          <p:grpSpPr>
            <a:xfrm>
              <a:off x="681918" y="3897099"/>
              <a:ext cx="554929" cy="334566"/>
              <a:chOff x="511669" y="4430499"/>
              <a:chExt cx="554929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19BD736-E390-03B1-ABAB-DC46AC64AB00}"/>
                      </a:ext>
                    </a:extLst>
                  </p:cNvPr>
                  <p:cNvSpPr txBox="1"/>
                  <p:nvPr/>
                </p:nvSpPr>
                <p:spPr>
                  <a:xfrm>
                    <a:off x="511669" y="4431988"/>
                    <a:ext cx="253474" cy="331589"/>
                  </a:xfrm>
                  <a:prstGeom prst="roundRect">
                    <a:avLst/>
                  </a:prstGeom>
                  <a:pattFill prst="pct80">
                    <a:fgClr>
                      <a:srgbClr val="E85E5E"/>
                    </a:fgClr>
                    <a:bgClr>
                      <a:schemeClr val="tx1"/>
                    </a:bgClr>
                  </a:patt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01" name="TextBox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669" y="4431988"/>
                    <a:ext cx="253474" cy="331589"/>
                  </a:xfrm>
                  <a:prstGeom prst="roundRect">
                    <a:avLst/>
                  </a:prstGeom>
                  <a:blipFill>
                    <a:blip r:embed="rId40"/>
                    <a:stretch>
                      <a:fillRect l="-13636" r="-13636" b="-1786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3188A0C4-1F9B-B3CD-7C3F-B773729279BE}"/>
                      </a:ext>
                    </a:extLst>
                  </p:cNvPr>
                  <p:cNvSpPr txBox="1"/>
                  <p:nvPr/>
                </p:nvSpPr>
                <p:spPr>
                  <a:xfrm>
                    <a:off x="770777" y="4430499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02" name="TextBox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777" y="4430499"/>
                    <a:ext cx="295821" cy="334566"/>
                  </a:xfrm>
                  <a:prstGeom prst="roundRect">
                    <a:avLst/>
                  </a:prstGeom>
                  <a:blipFill>
                    <a:blip r:embed="rId41"/>
                    <a:stretch>
                      <a:fillRect r="-34000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1BAF4E0-DEFA-7B3F-2F89-2FF417CEA257}"/>
              </a:ext>
            </a:extLst>
          </p:cNvPr>
          <p:cNvCxnSpPr>
            <a:stCxn id="150" idx="2"/>
            <a:endCxn id="153" idx="0"/>
          </p:cNvCxnSpPr>
          <p:nvPr/>
        </p:nvCxnSpPr>
        <p:spPr>
          <a:xfrm flipH="1">
            <a:off x="955850" y="4573871"/>
            <a:ext cx="1263387" cy="3413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D7596B16-8DAE-42C2-B558-61E7009EB15F}"/>
              </a:ext>
            </a:extLst>
          </p:cNvPr>
          <p:cNvCxnSpPr>
            <a:stCxn id="156" idx="0"/>
            <a:endCxn id="150" idx="2"/>
          </p:cNvCxnSpPr>
          <p:nvPr/>
        </p:nvCxnSpPr>
        <p:spPr>
          <a:xfrm flipH="1" flipV="1">
            <a:off x="2219237" y="4573871"/>
            <a:ext cx="1307795" cy="3413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" name="Picture 2" descr="Image result for cross error">
            <a:extLst>
              <a:ext uri="{FF2B5EF4-FFF2-40B4-BE49-F238E27FC236}">
                <a16:creationId xmlns:a16="http://schemas.microsoft.com/office/drawing/2014/main" id="{C1FCDF87-19FA-5E7B-6EA1-F45331A205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2" cstate="print"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backgroundRemoval t="9434" b="91824" l="56604" r="99057">
                        <a14:foregroundMark x1="97170" y1="18868" x2="97170" y2="18868"/>
                        <a14:foregroundMark x1="96855" y1="18239" x2="96855" y2="18239"/>
                        <a14:foregroundMark x1="96855" y1="16352" x2="96855" y2="16352"/>
                        <a14:foregroundMark x1="97484" y1="87421" x2="97484" y2="87421"/>
                        <a14:foregroundMark x1="97484" y1="88679" x2="97484" y2="88679"/>
                        <a14:foregroundMark x1="96226" y1="90566" x2="96226" y2="90566"/>
                        <a14:foregroundMark x1="95912" y1="91824" x2="95912" y2="91824"/>
                        <a14:foregroundMark x1="99057" y1="86792" x2="99057" y2="86792"/>
                        <a14:foregroundMark x1="62579" y1="17610" x2="62579" y2="17610"/>
                        <a14:foregroundMark x1="61950" y1="17610" x2="61950" y2="17610"/>
                        <a14:foregroundMark x1="63522" y1="20755" x2="63522" y2="207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846"/>
          <a:stretch/>
        </p:blipFill>
        <p:spPr bwMode="auto">
          <a:xfrm>
            <a:off x="814342" y="5305564"/>
            <a:ext cx="375874" cy="39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Picture 2" descr="Image result for cross error">
            <a:extLst>
              <a:ext uri="{FF2B5EF4-FFF2-40B4-BE49-F238E27FC236}">
                <a16:creationId xmlns:a16="http://schemas.microsoft.com/office/drawing/2014/main" id="{6DC9D245-5809-414B-A5E3-4E30F69503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2" cstate="print"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backgroundRemoval t="9434" b="91824" l="56604" r="99057">
                        <a14:foregroundMark x1="97170" y1="18868" x2="97170" y2="18868"/>
                        <a14:foregroundMark x1="96855" y1="18239" x2="96855" y2="18239"/>
                        <a14:foregroundMark x1="96855" y1="16352" x2="96855" y2="16352"/>
                        <a14:foregroundMark x1="97484" y1="87421" x2="97484" y2="87421"/>
                        <a14:foregroundMark x1="97484" y1="88679" x2="97484" y2="88679"/>
                        <a14:foregroundMark x1="96226" y1="90566" x2="96226" y2="90566"/>
                        <a14:foregroundMark x1="95912" y1="91824" x2="95912" y2="91824"/>
                        <a14:foregroundMark x1="99057" y1="86792" x2="99057" y2="86792"/>
                        <a14:foregroundMark x1="62579" y1="17610" x2="62579" y2="17610"/>
                        <a14:foregroundMark x1="61950" y1="17610" x2="61950" y2="17610"/>
                        <a14:foregroundMark x1="63522" y1="20755" x2="63522" y2="207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846"/>
          <a:stretch/>
        </p:blipFill>
        <p:spPr bwMode="auto">
          <a:xfrm>
            <a:off x="3419223" y="6040883"/>
            <a:ext cx="375874" cy="39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5" name="cl_rule">
            <a:extLst>
              <a:ext uri="{FF2B5EF4-FFF2-40B4-BE49-F238E27FC236}">
                <a16:creationId xmlns:a16="http://schemas.microsoft.com/office/drawing/2014/main" id="{6B620FFF-0892-C846-22EC-8DAFB11734DE}"/>
              </a:ext>
            </a:extLst>
          </p:cNvPr>
          <p:cNvGrpSpPr/>
          <p:nvPr/>
        </p:nvGrpSpPr>
        <p:grpSpPr>
          <a:xfrm>
            <a:off x="8298132" y="4708088"/>
            <a:ext cx="1051442" cy="1573007"/>
            <a:chOff x="5930081" y="4450182"/>
            <a:chExt cx="1051442" cy="1573007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F1DC060B-7DBF-1EE3-A7BF-6767A0721A88}"/>
                </a:ext>
              </a:extLst>
            </p:cNvPr>
            <p:cNvGrpSpPr/>
            <p:nvPr/>
          </p:nvGrpSpPr>
          <p:grpSpPr>
            <a:xfrm>
              <a:off x="6182183" y="4450182"/>
              <a:ext cx="613702" cy="337542"/>
              <a:chOff x="910891" y="3207504"/>
              <a:chExt cx="613702" cy="3375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2" name="TextBox 221">
                    <a:extLst>
                      <a:ext uri="{FF2B5EF4-FFF2-40B4-BE49-F238E27FC236}">
                        <a16:creationId xmlns:a16="http://schemas.microsoft.com/office/drawing/2014/main" id="{9033888F-A1AC-13FA-632A-E311F875B8A6}"/>
                      </a:ext>
                    </a:extLst>
                  </p:cNvPr>
                  <p:cNvSpPr txBox="1"/>
                  <p:nvPr/>
                </p:nvSpPr>
                <p:spPr>
                  <a:xfrm>
                    <a:off x="910891" y="3207504"/>
                    <a:ext cx="317321" cy="337542"/>
                  </a:xfrm>
                  <a:prstGeom prst="round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:r>
                      <a:rPr lang="en-US" sz="2000" b="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a14:m>
                    <a:r>
                      <a:rPr lang="en-US" sz="20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3" name="TextBox 1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0891" y="3207504"/>
                    <a:ext cx="317321" cy="337542"/>
                  </a:xfrm>
                  <a:prstGeom prst="roundRect">
                    <a:avLst/>
                  </a:prstGeom>
                  <a:blipFill>
                    <a:blip r:embed="rId44"/>
                    <a:stretch>
                      <a:fillRect l="-3704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TextBox 222">
                    <a:extLst>
                      <a:ext uri="{FF2B5EF4-FFF2-40B4-BE49-F238E27FC236}">
                        <a16:creationId xmlns:a16="http://schemas.microsoft.com/office/drawing/2014/main" id="{A7F35C3D-08D1-4A16-40E8-5E85A1D67B95}"/>
                      </a:ext>
                    </a:extLst>
                  </p:cNvPr>
                  <p:cNvSpPr txBox="1"/>
                  <p:nvPr/>
                </p:nvSpPr>
                <p:spPr>
                  <a:xfrm>
                    <a:off x="1228772" y="3208992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24" name="TextBox 1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8772" y="3208992"/>
                    <a:ext cx="295821" cy="334566"/>
                  </a:xfrm>
                  <a:prstGeom prst="roundRect">
                    <a:avLst/>
                  </a:prstGeom>
                  <a:blipFill>
                    <a:blip r:embed="rId45"/>
                    <a:stretch>
                      <a:fillRect r="-31373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27827EC2-F124-CA0B-3EC3-52178A618ED4}"/>
                </a:ext>
              </a:extLst>
            </p:cNvPr>
            <p:cNvGrpSpPr/>
            <p:nvPr/>
          </p:nvGrpSpPr>
          <p:grpSpPr>
            <a:xfrm>
              <a:off x="6180249" y="4848623"/>
              <a:ext cx="604587" cy="334566"/>
              <a:chOff x="738708" y="4139345"/>
              <a:chExt cx="604587" cy="33456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D24CAEA1-216E-E5F0-48BF-3FF34D0C66B8}"/>
                      </a:ext>
                    </a:extLst>
                  </p:cNvPr>
                  <p:cNvSpPr txBox="1"/>
                  <p:nvPr/>
                </p:nvSpPr>
                <p:spPr>
                  <a:xfrm>
                    <a:off x="738708" y="4139345"/>
                    <a:ext cx="303132" cy="334566"/>
                  </a:xfrm>
                  <a:prstGeom prst="roundRect">
                    <a:avLst/>
                  </a:prstGeom>
                  <a:pattFill prst="pct80">
                    <a:fgClr>
                      <a:srgbClr val="E85E5E"/>
                    </a:fgClr>
                    <a:bgClr>
                      <a:schemeClr val="tx1"/>
                    </a:bgClr>
                  </a:pattFill>
                  <a:ln w="12700">
                    <a:solidFill>
                      <a:schemeClr val="tx1"/>
                    </a:solidFill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r"/>
                    <a14:m>
                      <m:oMath xmlns:m="http://schemas.openxmlformats.org/officeDocument/2006/math"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a14:m>
                    <a:r>
                      <a:rPr lang="en-US" sz="2000" i="1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1" name="TextBox 1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8708" y="4139345"/>
                    <a:ext cx="303132" cy="334566"/>
                  </a:xfrm>
                  <a:prstGeom prst="roundRect">
                    <a:avLst/>
                  </a:prstGeom>
                  <a:blipFill>
                    <a:blip r:embed="rId46"/>
                    <a:stretch>
                      <a:fillRect l="-1923" r="-1923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1" name="TextBox 220">
                    <a:extLst>
                      <a:ext uri="{FF2B5EF4-FFF2-40B4-BE49-F238E27FC236}">
                        <a16:creationId xmlns:a16="http://schemas.microsoft.com/office/drawing/2014/main" id="{3ECE75DA-B406-4185-A20D-7187BA18C02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7474" y="4139345"/>
                    <a:ext cx="295821" cy="334566"/>
                  </a:xfrm>
                  <a:prstGeom prst="roundRect">
                    <a:avLst/>
                  </a:prstGeom>
                  <a:solidFill>
                    <a:schemeClr val="bg2"/>
                  </a:solidFill>
                  <a:ln w="12700">
                    <a:solidFill>
                      <a:schemeClr val="tx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22" name="TextBox 1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7474" y="4139345"/>
                    <a:ext cx="295821" cy="334566"/>
                  </a:xfrm>
                  <a:prstGeom prst="roundRect">
                    <a:avLst/>
                  </a:prstGeom>
                  <a:blipFill>
                    <a:blip r:embed="rId47"/>
                    <a:stretch>
                      <a:fillRect r="-31373"/>
                    </a:stretch>
                  </a:blipFill>
                  <a:ln w="12700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18" name="Picture 2" descr="Image result for cross error">
              <a:extLst>
                <a:ext uri="{FF2B5EF4-FFF2-40B4-BE49-F238E27FC236}">
                  <a16:creationId xmlns:a16="http://schemas.microsoft.com/office/drawing/2014/main" id="{5A2C3F3E-C1A4-F38C-AC82-5922D1925C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2" cstate="print">
              <a:extLst>
                <a:ext uri="{BEBA8EAE-BF5A-486C-A8C5-ECC9F3942E4B}">
                  <a14:imgProps xmlns:a14="http://schemas.microsoft.com/office/drawing/2010/main">
                    <a14:imgLayer r:embed="rId43">
                      <a14:imgEffect>
                        <a14:backgroundRemoval t="9434" b="91824" l="56604" r="99057">
                          <a14:foregroundMark x1="97170" y1="18868" x2="97170" y2="18868"/>
                          <a14:foregroundMark x1="96855" y1="18239" x2="96855" y2="18239"/>
                          <a14:foregroundMark x1="96855" y1="16352" x2="96855" y2="16352"/>
                          <a14:foregroundMark x1="97484" y1="87421" x2="97484" y2="87421"/>
                          <a14:foregroundMark x1="97484" y1="88679" x2="97484" y2="88679"/>
                          <a14:foregroundMark x1="96226" y1="90566" x2="96226" y2="90566"/>
                          <a14:foregroundMark x1="95912" y1="91824" x2="95912" y2="91824"/>
                          <a14:foregroundMark x1="99057" y1="86792" x2="99057" y2="86792"/>
                          <a14:foregroundMark x1="62579" y1="17610" x2="62579" y2="17610"/>
                          <a14:foregroundMark x1="61950" y1="17610" x2="61950" y2="17610"/>
                          <a14:foregroundMark x1="63522" y1="20755" x2="63522" y2="2075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846"/>
            <a:stretch/>
          </p:blipFill>
          <p:spPr bwMode="auto">
            <a:xfrm>
              <a:off x="6244450" y="5269062"/>
              <a:ext cx="375874" cy="390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9CA3B882-FB05-E3BE-01E7-2D30794464FE}"/>
                    </a:ext>
                  </a:extLst>
                </p:cNvPr>
                <p:cNvSpPr txBox="1"/>
                <p:nvPr/>
              </p:nvSpPr>
              <p:spPr>
                <a:xfrm>
                  <a:off x="5930081" y="5623079"/>
                  <a:ext cx="105144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/>
                    <a:t>If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6" name="TextBox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0081" y="5623079"/>
                  <a:ext cx="1051442" cy="400110"/>
                </a:xfrm>
                <a:prstGeom prst="rect">
                  <a:avLst/>
                </a:prstGeom>
                <a:blipFill>
                  <a:blip r:embed="rId48"/>
                  <a:stretch>
                    <a:fillRect l="-6395"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4" name="Right Arrow 135">
            <a:extLst>
              <a:ext uri="{FF2B5EF4-FFF2-40B4-BE49-F238E27FC236}">
                <a16:creationId xmlns:a16="http://schemas.microsoft.com/office/drawing/2014/main" id="{7F4C3435-39AB-7FE1-26FA-8FE333639AB2}"/>
              </a:ext>
            </a:extLst>
          </p:cNvPr>
          <p:cNvSpPr/>
          <p:nvPr/>
        </p:nvSpPr>
        <p:spPr>
          <a:xfrm>
            <a:off x="7657350" y="1634977"/>
            <a:ext cx="1202744" cy="829021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Proved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25" name="WN">
            <a:extLst>
              <a:ext uri="{FF2B5EF4-FFF2-40B4-BE49-F238E27FC236}">
                <a16:creationId xmlns:a16="http://schemas.microsoft.com/office/drawing/2014/main" id="{59BA6AAF-135C-6EFC-F53A-434BD8D15DA0}"/>
              </a:ext>
            </a:extLst>
          </p:cNvPr>
          <p:cNvGrpSpPr/>
          <p:nvPr/>
        </p:nvGrpSpPr>
        <p:grpSpPr>
          <a:xfrm>
            <a:off x="4812033" y="4576107"/>
            <a:ext cx="1778070" cy="1908190"/>
            <a:chOff x="692874" y="695325"/>
            <a:chExt cx="1562325" cy="1908190"/>
          </a:xfrm>
        </p:grpSpPr>
        <p:sp>
          <p:nvSpPr>
            <p:cNvPr id="226" name="layer3">
              <a:extLst>
                <a:ext uri="{FF2B5EF4-FFF2-40B4-BE49-F238E27FC236}">
                  <a16:creationId xmlns:a16="http://schemas.microsoft.com/office/drawing/2014/main" id="{FEBEEA2E-F011-0F78-94E3-65988B883D67}"/>
                </a:ext>
              </a:extLst>
            </p:cNvPr>
            <p:cNvSpPr/>
            <p:nvPr/>
          </p:nvSpPr>
          <p:spPr>
            <a:xfrm>
              <a:off x="692874" y="1847515"/>
              <a:ext cx="1562325" cy="756000"/>
            </a:xfrm>
            <a:prstGeom prst="flowChartMagneticDisk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Down">
                <a:avLst/>
              </a:prstTxWarp>
            </a:bodyPr>
            <a:lstStyle/>
            <a:p>
              <a:pPr algn="ctr">
                <a:spcAft>
                  <a:spcPts val="900"/>
                </a:spcAft>
              </a:pPr>
              <a:r>
                <a:rPr lang="nl-NL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WordNet</a:t>
              </a:r>
            </a:p>
          </p:txBody>
        </p:sp>
        <p:sp>
          <p:nvSpPr>
            <p:cNvPr id="227" name="layer2">
              <a:extLst>
                <a:ext uri="{FF2B5EF4-FFF2-40B4-BE49-F238E27FC236}">
                  <a16:creationId xmlns:a16="http://schemas.microsoft.com/office/drawing/2014/main" id="{AACDE2AF-A3DA-A1B4-D7B1-0B13E3215AF7}"/>
                </a:ext>
              </a:extLst>
            </p:cNvPr>
            <p:cNvSpPr/>
            <p:nvPr/>
          </p:nvSpPr>
          <p:spPr>
            <a:xfrm>
              <a:off x="692874" y="1213997"/>
              <a:ext cx="1562325" cy="756000"/>
            </a:xfrm>
            <a:prstGeom prst="flowChartMagneticDisk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ArchDown">
                <a:avLst>
                  <a:gd name="adj" fmla="val 1903917"/>
                </a:avLst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nl-NL" sz="4000" b="1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KB</a:t>
              </a:r>
              <a:endParaRPr lang="nl-NL" b="1" spc="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layer1">
              <a:extLst>
                <a:ext uri="{FF2B5EF4-FFF2-40B4-BE49-F238E27FC236}">
                  <a16:creationId xmlns:a16="http://schemas.microsoft.com/office/drawing/2014/main" id="{CFD9EC93-1C38-1B11-63B4-9EF3BF00464A}"/>
                </a:ext>
              </a:extLst>
            </p:cNvPr>
            <p:cNvSpPr/>
            <p:nvPr/>
          </p:nvSpPr>
          <p:spPr>
            <a:xfrm>
              <a:off x="692874" y="695325"/>
              <a:ext cx="1562325" cy="648000"/>
            </a:xfrm>
            <a:prstGeom prst="flowChartMagneticDisk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bird -lark">
                <a:extLst>
                  <a:ext uri="{FF2B5EF4-FFF2-40B4-BE49-F238E27FC236}">
                    <a16:creationId xmlns:a16="http://schemas.microsoft.com/office/drawing/2014/main" id="{E0403545-7666-47CE-2EBA-F29A0DD3553D}"/>
                  </a:ext>
                </a:extLst>
              </p:cNvPr>
              <p:cNvSpPr/>
              <p:nvPr/>
            </p:nvSpPr>
            <p:spPr>
              <a:xfrm>
                <a:off x="6107489" y="4987721"/>
                <a:ext cx="1617886" cy="448017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0070C0"/>
                    </a:solidFill>
                  </a:rPr>
                  <a:t>lark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bird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9" name="bird -lark">
                <a:extLst>
                  <a:ext uri="{FF2B5EF4-FFF2-40B4-BE49-F238E27FC236}">
                    <a16:creationId xmlns:a16="http://schemas.microsoft.com/office/drawing/2014/main" id="{E0403545-7666-47CE-2EBA-F29A0DD35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489" y="4987721"/>
                <a:ext cx="1617886" cy="448017"/>
              </a:xfrm>
              <a:prstGeom prst="roundRect">
                <a:avLst/>
              </a:prstGeom>
              <a:blipFill>
                <a:blip r:embed="rId49"/>
                <a:stretch>
                  <a:fillRect l="-2985" t="-10390" r="-2239" b="-2727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fly -move">
                <a:extLst>
                  <a:ext uri="{FF2B5EF4-FFF2-40B4-BE49-F238E27FC236}">
                    <a16:creationId xmlns:a16="http://schemas.microsoft.com/office/drawing/2014/main" id="{155F88DB-24FC-BD52-7AF1-4695F58D6CAB}"/>
                  </a:ext>
                </a:extLst>
              </p:cNvPr>
              <p:cNvSpPr/>
              <p:nvPr/>
            </p:nvSpPr>
            <p:spPr>
              <a:xfrm>
                <a:off x="6116579" y="5512371"/>
                <a:ext cx="1690574" cy="449597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0070C0"/>
                    </a:solidFill>
                  </a:rPr>
                  <a:t>fly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⊑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move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0" name="fly -move">
                <a:extLst>
                  <a:ext uri="{FF2B5EF4-FFF2-40B4-BE49-F238E27FC236}">
                    <a16:creationId xmlns:a16="http://schemas.microsoft.com/office/drawing/2014/main" id="{155F88DB-24FC-BD52-7AF1-4695F58D6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579" y="5512371"/>
                <a:ext cx="1690574" cy="449597"/>
              </a:xfrm>
              <a:prstGeom prst="roundRect">
                <a:avLst/>
              </a:prstGeom>
              <a:blipFill>
                <a:blip r:embed="rId50"/>
                <a:stretch>
                  <a:fillRect l="-1779" t="-9091" r="-1068" b="-2857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19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9" grpId="0" animBg="1"/>
      <p:bldP spid="2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9050"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384C12F-31B0-4569-98FC-FD0470A14AD8}">
  <we:reference id="wa200010215" version="2.0.0.1" store="en-US" storeType="OMEX"/>
  <we:alternateReferences>
    <we:reference id="WA200010215" version="2.0.0.1" store="WA200010215" storeType="OMEX"/>
  </we:alternateReferences>
  <we:properties>
    <we:property name="bps.codex_control.document_id" value="&quot;d36bc941-8add-4023-9bd6-b5fb2e09aae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Microsoft Office PowerPoint</Application>
  <PresentationFormat>Widescreen</PresentationFormat>
  <Paragraphs>248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Arial-BoldMT</vt:lpstr>
      <vt:lpstr>Calibri</vt:lpstr>
      <vt:lpstr>Calibri Light</vt:lpstr>
      <vt:lpstr>Cambria Math</vt:lpstr>
      <vt:lpstr>Comic Sans MS</vt:lpstr>
      <vt:lpstr>Georgia</vt:lpstr>
      <vt:lpstr>Times New Roman</vt:lpstr>
      <vt:lpstr>Office Theme</vt:lpstr>
      <vt:lpstr>PowerPoint Presentation</vt:lpstr>
      <vt:lpstr>Reasoning &amp; explanation</vt:lpstr>
      <vt:lpstr>Variation: label &amp; explanation</vt:lpstr>
      <vt:lpstr>Structured explanations</vt:lpstr>
      <vt:lpstr>Our contributions</vt:lpstr>
      <vt:lpstr>Data curation</vt:lpstr>
      <vt:lpstr>Intrinsic evaluation</vt:lpstr>
      <vt:lpstr>Extrinsic Evaluation</vt:lpstr>
      <vt:lpstr>Limitations</vt:lpstr>
      <vt:lpstr>Natural Tableau in Action</vt:lpstr>
    </vt:vector>
  </TitlesOfParts>
  <Company>Universiteit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Abzianidze, L. (Lasha)</dc:creator>
  <cp:lastModifiedBy>Abzianidze, L. (Lasha)</cp:lastModifiedBy>
  <cp:revision>333</cp:revision>
  <dcterms:created xsi:type="dcterms:W3CDTF">2020-07-11T17:30:45Z</dcterms:created>
  <dcterms:modified xsi:type="dcterms:W3CDTF">2026-10-27T12:30:14Z</dcterms:modified>
</cp:coreProperties>
</file>